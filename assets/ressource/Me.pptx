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61" r:id="rId4"/>
    <p:sldId id="266" r:id="rId5"/>
    <p:sldId id="259" r:id="rId6"/>
    <p:sldId id="263" r:id="rId7"/>
    <p:sldId id="264" r:id="rId8"/>
    <p:sldId id="260" r:id="rId9"/>
    <p:sldId id="257" r:id="rId10"/>
    <p:sldId id="262" r:id="rId11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4C7E7"/>
    <a:srgbClr val="F2CFEE"/>
    <a:srgbClr val="6C747F"/>
    <a:srgbClr val="E8EE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92" d="100"/>
          <a:sy n="92" d="100"/>
        </p:scale>
        <p:origin x="46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B83952-2EC7-4BE1-9646-DA4AAC102A77}" type="datetimeFigureOut">
              <a:rPr lang="fr-FR" smtClean="0"/>
              <a:t>06/05/2026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376A38-28B8-41C8-A41A-41CB09BAF5F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09182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217150A-A8AC-446F-9006-4A33AA5FC1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FECDF50-E492-4E65-AEB1-F78C090300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9489710-93F8-416A-90FC-9ED6714D3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3910C-DE7F-4508-B6F3-EEE82D5CB1D4}" type="datetime1">
              <a:rPr lang="fr-FR" smtClean="0"/>
              <a:t>06/05/2026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8EEDFEA-0E44-4C83-8526-438E51D0B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E8C4AEB-5649-4F7E-AEB6-2FBB72E52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3E120-D10E-4965-94AF-FE28403C3DA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824880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11D0AAF-5552-428F-8265-8C8B10FB6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B97BFAA-73BC-499E-AF55-91BE9BB51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7A0C638-28F6-4089-A848-C623F8AD9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C3127-5EF9-4AA4-A7DF-AD079F7CE0BC}" type="datetime1">
              <a:rPr lang="fr-FR" smtClean="0"/>
              <a:t>06/05/2026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0188CA6-811D-41E8-AEF2-08FD15CBF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9D01D7C-54E6-4C47-AF45-15E221D45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3E120-D10E-4965-94AF-FE28403C3DA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147586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AB2CDB7-E95C-4817-85CD-FA214E26E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31DBCCB-BDD4-46A0-9AB2-B006B7D3FD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788E64F-343C-4877-B727-E7D685926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10E4E-C16D-4C78-B36E-272D9C6BE520}" type="datetime1">
              <a:rPr lang="fr-FR" smtClean="0"/>
              <a:t>06/05/2026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C31455B-CBA4-49CE-8E4F-7AAB08D6F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21DAFF1-E9AB-4632-B4DE-FE60B9C2E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3E120-D10E-4965-94AF-FE28403C3DA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832050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F3571A1-9EC5-4D33-9833-FD5BB3A93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8CB3097-30B8-41B0-93E2-5E91CAA2E2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A28DEC3-B5C6-4470-A1B1-BE327E3DFE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3B268FF-B314-4956-864E-D6D783168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3B92A-D372-4C06-B7E1-5CD405C44004}" type="datetime1">
              <a:rPr lang="fr-FR" smtClean="0"/>
              <a:t>06/05/2026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E34C76E-F20E-4F14-BB86-691E4FCD8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10117F0-F7CE-434A-86C6-0D64E9AB0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3E120-D10E-4965-94AF-FE28403C3DA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941516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9384E73-F606-4F94-8005-D57937C590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1241EF7-E668-45A1-92D0-436ADD7A84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7AECB87-4BFC-42BB-84CF-66493A30A5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42ADC1DA-43DB-475B-A48D-148500ED2F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2A014E32-0E43-4336-B36B-EFFF8538AA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78ACBF8C-7558-4358-8D6A-48C9D1361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1C5FF-5E87-49AB-98CF-B19B2AA2387A}" type="datetime1">
              <a:rPr lang="fr-FR" smtClean="0"/>
              <a:t>06/05/2026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2D962CCE-BF9F-4147-8125-67FC142E7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5E8593C-AD1B-452B-80BE-9C602DC95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3E120-D10E-4965-94AF-FE28403C3DA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503633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E71777B-8026-43F2-B496-EDF8E5881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7C36C27C-7456-4EF6-AD23-BAD2D174A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6DA5B-BEF2-4303-A441-F4BAE52971EC}" type="datetime1">
              <a:rPr lang="fr-FR" smtClean="0"/>
              <a:t>06/05/2026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8AA636B-9F30-46BF-9242-ABA4E09D1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8DD5777-3D9C-41EC-B87B-B5EAB18D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3E120-D10E-4965-94AF-FE28403C3DA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6699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A7CE573D-BB1F-4DC6-9C22-5D6EE86E2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F5DC3-F8BA-4484-B750-26CFD08243CA}" type="datetime1">
              <a:rPr lang="fr-FR" smtClean="0"/>
              <a:t>06/05/2026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EF507D3-D203-4197-BC8E-50D463BA4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F88BEE5-59B0-4B05-A99E-3007042A9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3E120-D10E-4965-94AF-FE28403C3DA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281450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4638CF2-5656-41F6-A5C2-0A08D4154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2DC6FD3-2B98-440E-9184-866B73622D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F747DD4-CAB9-451D-9F10-80FA7EF509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BCD2AD3-325D-4852-ADEB-823070009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9AEDA-B220-4ADA-931C-B55FA3224758}" type="datetime1">
              <a:rPr lang="fr-FR" smtClean="0"/>
              <a:t>06/05/2026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285A90E-A71B-4CDF-A162-E2CFB3077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ACA2FFE-F4D0-4C2E-BFAD-7980BB6AE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3E120-D10E-4965-94AF-FE28403C3DA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37941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8B41AF6-F1A7-4098-8EC5-F48AE0453E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9F2096BD-DD25-4CCF-9AAA-903EC661A4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5308F8F-B8CD-44C1-8218-806D2FC3BA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C644C1C-8777-42FD-8A22-010C6F05E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290AD-39CC-4797-AD41-C7B557F7B300}" type="datetime1">
              <a:rPr lang="fr-FR" smtClean="0"/>
              <a:t>06/05/2026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9786454-79F9-4B32-BE3F-2EC2AE793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B6B34C8-3B24-425F-BD6B-5FFBD89A0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3E120-D10E-4965-94AF-FE28403C3DA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4142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65BD98F-5FEB-46F3-A4AA-EB648B1A0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C1ABC4E-47F4-46C7-9F22-660850C255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7CA7599-9FD1-4D02-B741-80E028134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A094E-7FCD-40A2-AB78-E634F2194CC7}" type="datetime1">
              <a:rPr lang="fr-FR" smtClean="0"/>
              <a:t>06/05/2026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7E4D7C4-C8C4-4AC8-BDA4-98E324730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FAC9EE9-88DA-4F86-9B33-BDE61065A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3E120-D10E-4965-94AF-FE28403C3DA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92421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D2EF9639-0406-4C2C-925E-2BF3114F95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01987FC-919B-493E-9D72-FC206504E8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F28BB96-2413-45B7-A1F2-0197403F6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9BC3B-40E9-4412-8A08-1AE6B3950E4C}" type="datetime1">
              <a:rPr lang="fr-FR" smtClean="0"/>
              <a:t>06/05/2026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D33A4BF-AA3B-4891-B867-E5A051169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D7BA9BF-580F-47CC-9BBB-0117CA232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3E120-D10E-4965-94AF-FE28403C3DA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91097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24AB7C27-4660-4F63-B677-5ED3A82FE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206512B-A4FB-4A72-B69C-1303BCAEEB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35C97F1-AD53-495E-8268-CAD43F973F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B3DFD9-F3A7-4308-8FCF-7695F64CBA8B}" type="datetime1">
              <a:rPr lang="fr-FR" smtClean="0"/>
              <a:t>06/05/2026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6B2A0D2-92E6-44EF-9AF8-662C918D0C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2C547AD-DE40-4451-A4E3-505070F8AE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E3E120-D10E-4965-94AF-FE28403C3DA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42522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4.png"/><Relationship Id="rId7" Type="http://schemas.openxmlformats.org/officeDocument/2006/relationships/image" Target="../media/image1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7.png"/><Relationship Id="rId4" Type="http://schemas.openxmlformats.org/officeDocument/2006/relationships/image" Target="../media/image12.png"/><Relationship Id="rId9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JPEG"/><Relationship Id="rId3" Type="http://schemas.openxmlformats.org/officeDocument/2006/relationships/image" Target="../media/image31.JPEG"/><Relationship Id="rId7" Type="http://schemas.openxmlformats.org/officeDocument/2006/relationships/image" Target="../media/image35.JPE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JPEG"/><Relationship Id="rId11" Type="http://schemas.openxmlformats.org/officeDocument/2006/relationships/image" Target="../media/image39.jpg"/><Relationship Id="rId5" Type="http://schemas.openxmlformats.org/officeDocument/2006/relationships/image" Target="../media/image33.JPEG"/><Relationship Id="rId10" Type="http://schemas.openxmlformats.org/officeDocument/2006/relationships/image" Target="../media/image38.jpg"/><Relationship Id="rId4" Type="http://schemas.openxmlformats.org/officeDocument/2006/relationships/image" Target="../media/image32.JPEG"/><Relationship Id="rId9" Type="http://schemas.openxmlformats.org/officeDocument/2006/relationships/image" Target="../media/image37.JPEG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745D6528-BB25-487C-AE23-3FACCEDED655}"/>
              </a:ext>
            </a:extLst>
          </p:cNvPr>
          <p:cNvCxnSpPr/>
          <p:nvPr/>
        </p:nvCxnSpPr>
        <p:spPr>
          <a:xfrm>
            <a:off x="4289913" y="3379203"/>
            <a:ext cx="6629400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9AFEE6C8-11D4-448A-8F03-9BFB2D8B0D69}"/>
              </a:ext>
            </a:extLst>
          </p:cNvPr>
          <p:cNvCxnSpPr/>
          <p:nvPr/>
        </p:nvCxnSpPr>
        <p:spPr>
          <a:xfrm>
            <a:off x="4278190" y="3358689"/>
            <a:ext cx="6629400" cy="0"/>
          </a:xfrm>
          <a:prstGeom prst="line">
            <a:avLst/>
          </a:prstGeom>
          <a:ln w="38100">
            <a:solidFill>
              <a:schemeClr val="accent1">
                <a:lumMod val="40000"/>
                <a:lumOff val="60000"/>
              </a:schemeClr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ZoneTexte 6">
            <a:extLst>
              <a:ext uri="{FF2B5EF4-FFF2-40B4-BE49-F238E27FC236}">
                <a16:creationId xmlns:a16="http://schemas.microsoft.com/office/drawing/2014/main" id="{69BA5326-27B3-47D0-99DD-07C4A9FCCFB8}"/>
              </a:ext>
            </a:extLst>
          </p:cNvPr>
          <p:cNvSpPr txBox="1"/>
          <p:nvPr/>
        </p:nvSpPr>
        <p:spPr>
          <a:xfrm>
            <a:off x="3147829" y="3429000"/>
            <a:ext cx="860876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800" b="1" dirty="0">
                <a:solidFill>
                  <a:srgbClr val="6C747F"/>
                </a:solidFill>
                <a:effectLst/>
                <a:latin typeface="DM Sans"/>
              </a:rPr>
              <a:t>Apprentice </a:t>
            </a:r>
            <a:r>
              <a:rPr lang="fr-FR" sz="1800" b="1" dirty="0" err="1">
                <a:solidFill>
                  <a:srgbClr val="6C747F"/>
                </a:solidFill>
                <a:effectLst/>
                <a:latin typeface="DM Sans"/>
              </a:rPr>
              <a:t>Research</a:t>
            </a:r>
            <a:r>
              <a:rPr lang="fr-FR" sz="1800" b="1" dirty="0">
                <a:solidFill>
                  <a:srgbClr val="6C747F"/>
                </a:solidFill>
                <a:effectLst/>
                <a:latin typeface="DM Sans"/>
              </a:rPr>
              <a:t> </a:t>
            </a:r>
            <a:r>
              <a:rPr lang="fr-FR" sz="1800" b="1" dirty="0" err="1">
                <a:solidFill>
                  <a:srgbClr val="6C747F"/>
                </a:solidFill>
                <a:effectLst/>
                <a:latin typeface="DM Sans"/>
              </a:rPr>
              <a:t>Engineer</a:t>
            </a:r>
            <a:r>
              <a:rPr lang="fr-FR" b="1" dirty="0">
                <a:solidFill>
                  <a:srgbClr val="6C747F"/>
                </a:solidFill>
                <a:latin typeface="DM Sans"/>
              </a:rPr>
              <a:t> @ </a:t>
            </a:r>
            <a:r>
              <a:rPr lang="fr-FR" sz="1800" b="1" dirty="0">
                <a:solidFill>
                  <a:srgbClr val="6C747F"/>
                </a:solidFill>
                <a:effectLst/>
                <a:latin typeface="DM Sans"/>
              </a:rPr>
              <a:t>CEA</a:t>
            </a:r>
          </a:p>
          <a:p>
            <a:pPr algn="ctr"/>
            <a:r>
              <a:rPr lang="fr-FR" b="1" dirty="0" err="1">
                <a:solidFill>
                  <a:srgbClr val="6C747F"/>
                </a:solidFill>
                <a:latin typeface="DM Sans"/>
              </a:rPr>
              <a:t>Physics</a:t>
            </a:r>
            <a:r>
              <a:rPr lang="fr-FR" b="1" dirty="0">
                <a:solidFill>
                  <a:srgbClr val="6C747F"/>
                </a:solidFill>
                <a:latin typeface="DM Sans"/>
              </a:rPr>
              <a:t> &amp; </a:t>
            </a:r>
            <a:r>
              <a:rPr lang="fr-FR" b="1" dirty="0" err="1">
                <a:solidFill>
                  <a:srgbClr val="6C747F"/>
                </a:solidFill>
                <a:latin typeface="DM Sans"/>
              </a:rPr>
              <a:t>Microelectronic</a:t>
            </a:r>
            <a:r>
              <a:rPr lang="fr-FR" b="1" dirty="0">
                <a:solidFill>
                  <a:srgbClr val="6C747F"/>
                </a:solidFill>
                <a:latin typeface="DM Sans"/>
              </a:rPr>
              <a:t> </a:t>
            </a:r>
            <a:r>
              <a:rPr lang="fr-FR" b="1" dirty="0" err="1">
                <a:solidFill>
                  <a:srgbClr val="6C747F"/>
                </a:solidFill>
                <a:latin typeface="DM Sans"/>
              </a:rPr>
              <a:t>Systems</a:t>
            </a:r>
            <a:r>
              <a:rPr lang="fr-FR" b="1" dirty="0">
                <a:solidFill>
                  <a:srgbClr val="6C747F"/>
                </a:solidFill>
                <a:latin typeface="DM Sans"/>
              </a:rPr>
              <a:t> @ CPE Lyon</a:t>
            </a:r>
          </a:p>
          <a:p>
            <a:pPr algn="ctr"/>
            <a:endParaRPr lang="fr-FR" b="1" dirty="0">
              <a:solidFill>
                <a:srgbClr val="6C747F"/>
              </a:solidFill>
              <a:latin typeface="DM Sans"/>
            </a:endParaRPr>
          </a:p>
          <a:p>
            <a:pPr algn="ctr"/>
            <a:r>
              <a:rPr lang="fr-FR" sz="1800" b="1" dirty="0">
                <a:solidFill>
                  <a:srgbClr val="6C747F"/>
                </a:solidFill>
                <a:effectLst/>
                <a:latin typeface="DM Sans"/>
              </a:rPr>
              <a:t>Vincent Cauquil </a:t>
            </a:r>
          </a:p>
          <a:p>
            <a:pPr algn="ctr"/>
            <a:endParaRPr lang="fr-FR" dirty="0">
              <a:solidFill>
                <a:srgbClr val="6C747F"/>
              </a:solidFill>
            </a:endParaRPr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AEE695B7-E8E3-4E69-B103-3F507CD4A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3E120-D10E-4965-94AF-FE28403C3DAC}" type="slidenum">
              <a:rPr lang="fr-FR" b="1" smtClean="0">
                <a:solidFill>
                  <a:schemeClr val="accent1"/>
                </a:solidFill>
              </a:rPr>
              <a:t>1</a:t>
            </a:fld>
            <a:endParaRPr lang="fr-FR" b="1">
              <a:solidFill>
                <a:schemeClr val="accent1"/>
              </a:solidFill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ABACC9DD-1CD8-42EC-89B0-6075B539C64C}"/>
              </a:ext>
            </a:extLst>
          </p:cNvPr>
          <p:cNvSpPr txBox="1"/>
          <p:nvPr/>
        </p:nvSpPr>
        <p:spPr>
          <a:xfrm>
            <a:off x="4461363" y="2127509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3600" b="1" dirty="0">
                <a:solidFill>
                  <a:schemeClr val="accent1"/>
                </a:solidFill>
              </a:rPr>
              <a:t>Academic Background </a:t>
            </a:r>
          </a:p>
          <a:p>
            <a:pPr algn="ctr"/>
            <a:r>
              <a:rPr lang="fr-FR" sz="3600" b="1" dirty="0">
                <a:solidFill>
                  <a:schemeClr val="accent1"/>
                </a:solidFill>
              </a:rPr>
              <a:t>&amp; </a:t>
            </a:r>
            <a:r>
              <a:rPr lang="fr-FR" sz="3600" b="1" dirty="0" err="1">
                <a:solidFill>
                  <a:schemeClr val="accent1"/>
                </a:solidFill>
              </a:rPr>
              <a:t>Research</a:t>
            </a:r>
            <a:r>
              <a:rPr lang="fr-FR" sz="3600" b="1" dirty="0">
                <a:solidFill>
                  <a:schemeClr val="accent1"/>
                </a:solidFill>
              </a:rPr>
              <a:t> </a:t>
            </a:r>
            <a:r>
              <a:rPr lang="fr-FR" sz="3600" b="1" dirty="0" err="1">
                <a:solidFill>
                  <a:schemeClr val="accent1"/>
                </a:solidFill>
              </a:rPr>
              <a:t>Projects</a:t>
            </a:r>
            <a:endParaRPr lang="fr-FR" sz="3600" b="1" dirty="0">
              <a:solidFill>
                <a:schemeClr val="accent1"/>
              </a:solidFill>
            </a:endParaRPr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B72B6C47-34E8-49E7-98E4-AFA346E4B6E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84" r="11102" b="13910"/>
          <a:stretch/>
        </p:blipFill>
        <p:spPr>
          <a:xfrm rot="5400000">
            <a:off x="415811" y="2113399"/>
            <a:ext cx="3616549" cy="2428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874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Groupe 68">
            <a:extLst>
              <a:ext uri="{FF2B5EF4-FFF2-40B4-BE49-F238E27FC236}">
                <a16:creationId xmlns:a16="http://schemas.microsoft.com/office/drawing/2014/main" id="{9BA3933B-545E-4F5D-B5F1-F17B66D2ECE7}"/>
              </a:ext>
            </a:extLst>
          </p:cNvPr>
          <p:cNvGrpSpPr/>
          <p:nvPr/>
        </p:nvGrpSpPr>
        <p:grpSpPr>
          <a:xfrm>
            <a:off x="5923084" y="2220230"/>
            <a:ext cx="924660" cy="4532382"/>
            <a:chOff x="5923084" y="2220230"/>
            <a:chExt cx="924660" cy="4532382"/>
          </a:xfrm>
        </p:grpSpPr>
        <p:cxnSp>
          <p:nvCxnSpPr>
            <p:cNvPr id="60" name="Connecteur droit 59">
              <a:extLst>
                <a:ext uri="{FF2B5EF4-FFF2-40B4-BE49-F238E27FC236}">
                  <a16:creationId xmlns:a16="http://schemas.microsoft.com/office/drawing/2014/main" id="{117343A7-8AB5-4BE1-9020-E03CFE640D6B}"/>
                </a:ext>
              </a:extLst>
            </p:cNvPr>
            <p:cNvCxnSpPr>
              <a:cxnSpLocks/>
            </p:cNvCxnSpPr>
            <p:nvPr/>
          </p:nvCxnSpPr>
          <p:spPr>
            <a:xfrm>
              <a:off x="6385414" y="2220230"/>
              <a:ext cx="0" cy="3932582"/>
            </a:xfrm>
            <a:prstGeom prst="line">
              <a:avLst/>
            </a:prstGeom>
            <a:ln w="38100">
              <a:solidFill>
                <a:schemeClr val="bg2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ZoneTexte 60">
              <a:extLst>
                <a:ext uri="{FF2B5EF4-FFF2-40B4-BE49-F238E27FC236}">
                  <a16:creationId xmlns:a16="http://schemas.microsoft.com/office/drawing/2014/main" id="{DE646006-2E3B-4859-9154-1CB2770C6DA7}"/>
                </a:ext>
              </a:extLst>
            </p:cNvPr>
            <p:cNvSpPr txBox="1"/>
            <p:nvPr/>
          </p:nvSpPr>
          <p:spPr>
            <a:xfrm>
              <a:off x="5923084" y="6106281"/>
              <a:ext cx="92466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b="1" i="1" dirty="0">
                  <a:solidFill>
                    <a:schemeClr val="bg2">
                      <a:lumMod val="50000"/>
                    </a:schemeClr>
                  </a:solidFill>
                </a:rPr>
                <a:t>June</a:t>
              </a:r>
            </a:p>
            <a:p>
              <a:pPr algn="ctr"/>
              <a:r>
                <a:rPr lang="fr-FR" b="1" i="1" dirty="0">
                  <a:solidFill>
                    <a:schemeClr val="bg2">
                      <a:lumMod val="50000"/>
                    </a:schemeClr>
                  </a:solidFill>
                </a:rPr>
                <a:t>2025</a:t>
              </a:r>
            </a:p>
          </p:txBody>
        </p:sp>
      </p:grpSp>
      <p:grpSp>
        <p:nvGrpSpPr>
          <p:cNvPr id="71" name="Groupe 70">
            <a:extLst>
              <a:ext uri="{FF2B5EF4-FFF2-40B4-BE49-F238E27FC236}">
                <a16:creationId xmlns:a16="http://schemas.microsoft.com/office/drawing/2014/main" id="{ACA4C414-FA63-4084-84AB-47B9EB578E94}"/>
              </a:ext>
            </a:extLst>
          </p:cNvPr>
          <p:cNvGrpSpPr/>
          <p:nvPr/>
        </p:nvGrpSpPr>
        <p:grpSpPr>
          <a:xfrm>
            <a:off x="9454057" y="2220230"/>
            <a:ext cx="924660" cy="4532382"/>
            <a:chOff x="9454057" y="2220230"/>
            <a:chExt cx="924660" cy="4532382"/>
          </a:xfrm>
        </p:grpSpPr>
        <p:cxnSp>
          <p:nvCxnSpPr>
            <p:cNvPr id="64" name="Connecteur droit 63">
              <a:extLst>
                <a:ext uri="{FF2B5EF4-FFF2-40B4-BE49-F238E27FC236}">
                  <a16:creationId xmlns:a16="http://schemas.microsoft.com/office/drawing/2014/main" id="{B0074B28-0173-44DD-A5CF-D36FB6EA7C8C}"/>
                </a:ext>
              </a:extLst>
            </p:cNvPr>
            <p:cNvCxnSpPr>
              <a:cxnSpLocks/>
            </p:cNvCxnSpPr>
            <p:nvPr/>
          </p:nvCxnSpPr>
          <p:spPr>
            <a:xfrm>
              <a:off x="9937791" y="2220230"/>
              <a:ext cx="0" cy="3932582"/>
            </a:xfrm>
            <a:prstGeom prst="line">
              <a:avLst/>
            </a:prstGeom>
            <a:ln w="38100">
              <a:solidFill>
                <a:schemeClr val="bg2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ZoneTexte 64">
              <a:extLst>
                <a:ext uri="{FF2B5EF4-FFF2-40B4-BE49-F238E27FC236}">
                  <a16:creationId xmlns:a16="http://schemas.microsoft.com/office/drawing/2014/main" id="{C113D539-9FF0-4525-A0F6-2D077FFE5287}"/>
                </a:ext>
              </a:extLst>
            </p:cNvPr>
            <p:cNvSpPr txBox="1"/>
            <p:nvPr/>
          </p:nvSpPr>
          <p:spPr>
            <a:xfrm>
              <a:off x="9454057" y="6106281"/>
              <a:ext cx="92466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b="1" i="1" dirty="0">
                  <a:solidFill>
                    <a:schemeClr val="bg2">
                      <a:lumMod val="50000"/>
                    </a:schemeClr>
                  </a:solidFill>
                </a:rPr>
                <a:t>Sept 2025</a:t>
              </a:r>
            </a:p>
          </p:txBody>
        </p:sp>
      </p:grpSp>
      <p:sp>
        <p:nvSpPr>
          <p:cNvPr id="34" name="Flèche : droite 33">
            <a:extLst>
              <a:ext uri="{FF2B5EF4-FFF2-40B4-BE49-F238E27FC236}">
                <a16:creationId xmlns:a16="http://schemas.microsoft.com/office/drawing/2014/main" id="{B1781D33-4CC6-40E5-B4FA-E6FBD2363AEB}"/>
              </a:ext>
            </a:extLst>
          </p:cNvPr>
          <p:cNvSpPr/>
          <p:nvPr/>
        </p:nvSpPr>
        <p:spPr>
          <a:xfrm>
            <a:off x="1129809" y="1726034"/>
            <a:ext cx="10662141" cy="579323"/>
          </a:xfrm>
          <a:prstGeom prst="rightArrow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" name="Flèche : droite 30">
            <a:extLst>
              <a:ext uri="{FF2B5EF4-FFF2-40B4-BE49-F238E27FC236}">
                <a16:creationId xmlns:a16="http://schemas.microsoft.com/office/drawing/2014/main" id="{E54FB4F8-10C1-4C09-AE4F-4F4CEB786007}"/>
              </a:ext>
            </a:extLst>
          </p:cNvPr>
          <p:cNvSpPr/>
          <p:nvPr/>
        </p:nvSpPr>
        <p:spPr>
          <a:xfrm>
            <a:off x="1129809" y="1660295"/>
            <a:ext cx="10662141" cy="579323"/>
          </a:xfrm>
          <a:prstGeom prst="rightArrow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53A3354-D6B2-4B5E-A1BE-C95ADB1E6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3E120-D10E-4965-94AF-FE28403C3DAC}" type="slidenum">
              <a:rPr lang="fr-FR" smtClean="0"/>
              <a:t>2</a:t>
            </a:fld>
            <a:endParaRPr lang="fr-FR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5AB7E328-1CA7-44B7-86AE-5B80F682BCC3}"/>
              </a:ext>
            </a:extLst>
          </p:cNvPr>
          <p:cNvSpPr txBox="1"/>
          <p:nvPr/>
        </p:nvSpPr>
        <p:spPr>
          <a:xfrm>
            <a:off x="142875" y="289796"/>
            <a:ext cx="5098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i="1" dirty="0">
                <a:solidFill>
                  <a:srgbClr val="6C747F"/>
                </a:solidFill>
              </a:rPr>
              <a:t>Academic Background</a:t>
            </a:r>
          </a:p>
        </p:txBody>
      </p: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44D5BCD5-3E02-4CA4-BC06-81F5E21AEE9B}"/>
              </a:ext>
            </a:extLst>
          </p:cNvPr>
          <p:cNvGrpSpPr/>
          <p:nvPr/>
        </p:nvGrpSpPr>
        <p:grpSpPr>
          <a:xfrm>
            <a:off x="-677008" y="988705"/>
            <a:ext cx="5058508" cy="2074657"/>
            <a:chOff x="-677008" y="988705"/>
            <a:chExt cx="5058508" cy="2074657"/>
          </a:xfrm>
        </p:grpSpPr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8A1AE3BC-8B70-4832-ABD7-6721A13C50F5}"/>
                </a:ext>
              </a:extLst>
            </p:cNvPr>
            <p:cNvCxnSpPr>
              <a:cxnSpLocks/>
            </p:cNvCxnSpPr>
            <p:nvPr/>
          </p:nvCxnSpPr>
          <p:spPr>
            <a:xfrm>
              <a:off x="-677008" y="1009219"/>
              <a:ext cx="5058508" cy="0"/>
            </a:xfrm>
            <a:prstGeom prst="line">
              <a:avLst/>
            </a:prstGeom>
            <a:ln w="38100">
              <a:solidFill>
                <a:schemeClr val="accent1">
                  <a:lumMod val="50000"/>
                </a:schemeClr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orme libre : forme 18">
              <a:extLst>
                <a:ext uri="{FF2B5EF4-FFF2-40B4-BE49-F238E27FC236}">
                  <a16:creationId xmlns:a16="http://schemas.microsoft.com/office/drawing/2014/main" id="{59DCF7C9-D82B-410B-92D2-08EF79A8881B}"/>
                </a:ext>
              </a:extLst>
            </p:cNvPr>
            <p:cNvSpPr/>
            <p:nvPr/>
          </p:nvSpPr>
          <p:spPr>
            <a:xfrm>
              <a:off x="-155329" y="1014023"/>
              <a:ext cx="3501536" cy="2049339"/>
            </a:xfrm>
            <a:custGeom>
              <a:avLst/>
              <a:gdLst>
                <a:gd name="connsiteX0" fmla="*/ 19071 w 3043625"/>
                <a:gd name="connsiteY0" fmla="*/ 1972264 h 1972264"/>
                <a:gd name="connsiteX1" fmla="*/ 449894 w 3043625"/>
                <a:gd name="connsiteY1" fmla="*/ 292934 h 1972264"/>
                <a:gd name="connsiteX2" fmla="*/ 3043625 w 3043625"/>
                <a:gd name="connsiteY2" fmla="*/ 11580 h 1972264"/>
                <a:gd name="connsiteX0" fmla="*/ 5294 w 3214486"/>
                <a:gd name="connsiteY0" fmla="*/ 2033810 h 2033810"/>
                <a:gd name="connsiteX1" fmla="*/ 620755 w 3214486"/>
                <a:gd name="connsiteY1" fmla="*/ 292934 h 2033810"/>
                <a:gd name="connsiteX2" fmla="*/ 3214486 w 3214486"/>
                <a:gd name="connsiteY2" fmla="*/ 11580 h 2033810"/>
                <a:gd name="connsiteX0" fmla="*/ 0 w 3209192"/>
                <a:gd name="connsiteY0" fmla="*/ 2033810 h 2033810"/>
                <a:gd name="connsiteX1" fmla="*/ 615461 w 3209192"/>
                <a:gd name="connsiteY1" fmla="*/ 292934 h 2033810"/>
                <a:gd name="connsiteX2" fmla="*/ 3209192 w 3209192"/>
                <a:gd name="connsiteY2" fmla="*/ 11580 h 2033810"/>
                <a:gd name="connsiteX0" fmla="*/ 0 w 3209192"/>
                <a:gd name="connsiteY0" fmla="*/ 2037048 h 2037048"/>
                <a:gd name="connsiteX1" fmla="*/ 624253 w 3209192"/>
                <a:gd name="connsiteY1" fmla="*/ 278588 h 2037048"/>
                <a:gd name="connsiteX2" fmla="*/ 3209192 w 3209192"/>
                <a:gd name="connsiteY2" fmla="*/ 14818 h 2037048"/>
                <a:gd name="connsiteX0" fmla="*/ 0 w 3472961"/>
                <a:gd name="connsiteY0" fmla="*/ 2051394 h 2051394"/>
                <a:gd name="connsiteX1" fmla="*/ 624253 w 3472961"/>
                <a:gd name="connsiteY1" fmla="*/ 292934 h 2051394"/>
                <a:gd name="connsiteX2" fmla="*/ 3472961 w 3472961"/>
                <a:gd name="connsiteY2" fmla="*/ 11580 h 2051394"/>
                <a:gd name="connsiteX0" fmla="*/ 0 w 3472961"/>
                <a:gd name="connsiteY0" fmla="*/ 2047904 h 2047904"/>
                <a:gd name="connsiteX1" fmla="*/ 615461 w 3472961"/>
                <a:gd name="connsiteY1" fmla="*/ 315821 h 2047904"/>
                <a:gd name="connsiteX2" fmla="*/ 3472961 w 3472961"/>
                <a:gd name="connsiteY2" fmla="*/ 8090 h 2047904"/>
                <a:gd name="connsiteX0" fmla="*/ 0 w 3501536"/>
                <a:gd name="connsiteY0" fmla="*/ 2056500 h 2056500"/>
                <a:gd name="connsiteX1" fmla="*/ 615461 w 3501536"/>
                <a:gd name="connsiteY1" fmla="*/ 324417 h 2056500"/>
                <a:gd name="connsiteX2" fmla="*/ 3501536 w 3501536"/>
                <a:gd name="connsiteY2" fmla="*/ 7161 h 2056500"/>
                <a:gd name="connsiteX0" fmla="*/ 0 w 3501536"/>
                <a:gd name="connsiteY0" fmla="*/ 2049339 h 2049339"/>
                <a:gd name="connsiteX1" fmla="*/ 615461 w 3501536"/>
                <a:gd name="connsiteY1" fmla="*/ 317256 h 2049339"/>
                <a:gd name="connsiteX2" fmla="*/ 3501536 w 3501536"/>
                <a:gd name="connsiteY2" fmla="*/ 0 h 2049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01536" h="2049339">
                  <a:moveTo>
                    <a:pt x="0" y="2049339"/>
                  </a:moveTo>
                  <a:cubicBezTo>
                    <a:pt x="42496" y="1311517"/>
                    <a:pt x="111369" y="644037"/>
                    <a:pt x="615461" y="317256"/>
                  </a:cubicBezTo>
                  <a:cubicBezTo>
                    <a:pt x="1119553" y="-9525"/>
                    <a:pt x="2447191" y="15386"/>
                    <a:pt x="3501536" y="0"/>
                  </a:cubicBezTo>
                </a:path>
              </a:pathLst>
            </a:custGeom>
            <a:noFill/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13" name="Forme libre : forme 12">
              <a:extLst>
                <a:ext uri="{FF2B5EF4-FFF2-40B4-BE49-F238E27FC236}">
                  <a16:creationId xmlns:a16="http://schemas.microsoft.com/office/drawing/2014/main" id="{E84B1851-5A65-4996-9239-68F944A5866B}"/>
                </a:ext>
              </a:extLst>
            </p:cNvPr>
            <p:cNvSpPr/>
            <p:nvPr/>
          </p:nvSpPr>
          <p:spPr>
            <a:xfrm>
              <a:off x="-193429" y="994973"/>
              <a:ext cx="3501536" cy="2049339"/>
            </a:xfrm>
            <a:custGeom>
              <a:avLst/>
              <a:gdLst>
                <a:gd name="connsiteX0" fmla="*/ 19071 w 3043625"/>
                <a:gd name="connsiteY0" fmla="*/ 1972264 h 1972264"/>
                <a:gd name="connsiteX1" fmla="*/ 449894 w 3043625"/>
                <a:gd name="connsiteY1" fmla="*/ 292934 h 1972264"/>
                <a:gd name="connsiteX2" fmla="*/ 3043625 w 3043625"/>
                <a:gd name="connsiteY2" fmla="*/ 11580 h 1972264"/>
                <a:gd name="connsiteX0" fmla="*/ 5294 w 3214486"/>
                <a:gd name="connsiteY0" fmla="*/ 2033810 h 2033810"/>
                <a:gd name="connsiteX1" fmla="*/ 620755 w 3214486"/>
                <a:gd name="connsiteY1" fmla="*/ 292934 h 2033810"/>
                <a:gd name="connsiteX2" fmla="*/ 3214486 w 3214486"/>
                <a:gd name="connsiteY2" fmla="*/ 11580 h 2033810"/>
                <a:gd name="connsiteX0" fmla="*/ 0 w 3209192"/>
                <a:gd name="connsiteY0" fmla="*/ 2033810 h 2033810"/>
                <a:gd name="connsiteX1" fmla="*/ 615461 w 3209192"/>
                <a:gd name="connsiteY1" fmla="*/ 292934 h 2033810"/>
                <a:gd name="connsiteX2" fmla="*/ 3209192 w 3209192"/>
                <a:gd name="connsiteY2" fmla="*/ 11580 h 2033810"/>
                <a:gd name="connsiteX0" fmla="*/ 0 w 3209192"/>
                <a:gd name="connsiteY0" fmla="*/ 2037048 h 2037048"/>
                <a:gd name="connsiteX1" fmla="*/ 624253 w 3209192"/>
                <a:gd name="connsiteY1" fmla="*/ 278588 h 2037048"/>
                <a:gd name="connsiteX2" fmla="*/ 3209192 w 3209192"/>
                <a:gd name="connsiteY2" fmla="*/ 14818 h 2037048"/>
                <a:gd name="connsiteX0" fmla="*/ 0 w 3472961"/>
                <a:gd name="connsiteY0" fmla="*/ 2051394 h 2051394"/>
                <a:gd name="connsiteX1" fmla="*/ 624253 w 3472961"/>
                <a:gd name="connsiteY1" fmla="*/ 292934 h 2051394"/>
                <a:gd name="connsiteX2" fmla="*/ 3472961 w 3472961"/>
                <a:gd name="connsiteY2" fmla="*/ 11580 h 2051394"/>
                <a:gd name="connsiteX0" fmla="*/ 0 w 3472961"/>
                <a:gd name="connsiteY0" fmla="*/ 2047904 h 2047904"/>
                <a:gd name="connsiteX1" fmla="*/ 615461 w 3472961"/>
                <a:gd name="connsiteY1" fmla="*/ 315821 h 2047904"/>
                <a:gd name="connsiteX2" fmla="*/ 3472961 w 3472961"/>
                <a:gd name="connsiteY2" fmla="*/ 8090 h 2047904"/>
                <a:gd name="connsiteX0" fmla="*/ 0 w 3501536"/>
                <a:gd name="connsiteY0" fmla="*/ 2056500 h 2056500"/>
                <a:gd name="connsiteX1" fmla="*/ 615461 w 3501536"/>
                <a:gd name="connsiteY1" fmla="*/ 324417 h 2056500"/>
                <a:gd name="connsiteX2" fmla="*/ 3501536 w 3501536"/>
                <a:gd name="connsiteY2" fmla="*/ 7161 h 2056500"/>
                <a:gd name="connsiteX0" fmla="*/ 0 w 3501536"/>
                <a:gd name="connsiteY0" fmla="*/ 2049339 h 2049339"/>
                <a:gd name="connsiteX1" fmla="*/ 615461 w 3501536"/>
                <a:gd name="connsiteY1" fmla="*/ 317256 h 2049339"/>
                <a:gd name="connsiteX2" fmla="*/ 3501536 w 3501536"/>
                <a:gd name="connsiteY2" fmla="*/ 0 h 2049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01536" h="2049339">
                  <a:moveTo>
                    <a:pt x="0" y="2049339"/>
                  </a:moveTo>
                  <a:cubicBezTo>
                    <a:pt x="42496" y="1311517"/>
                    <a:pt x="111369" y="644037"/>
                    <a:pt x="615461" y="317256"/>
                  </a:cubicBezTo>
                  <a:cubicBezTo>
                    <a:pt x="1119553" y="-9525"/>
                    <a:pt x="2447191" y="15386"/>
                    <a:pt x="3501536" y="0"/>
                  </a:cubicBezTo>
                </a:path>
              </a:pathLst>
            </a:custGeom>
            <a:noFill/>
            <a:ln w="38100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12" name="Connecteur droit 11">
              <a:extLst>
                <a:ext uri="{FF2B5EF4-FFF2-40B4-BE49-F238E27FC236}">
                  <a16:creationId xmlns:a16="http://schemas.microsoft.com/office/drawing/2014/main" id="{E1F4C541-8988-48A8-AEAD-E087D53C9EE8}"/>
                </a:ext>
              </a:extLst>
            </p:cNvPr>
            <p:cNvCxnSpPr>
              <a:cxnSpLocks/>
            </p:cNvCxnSpPr>
            <p:nvPr/>
          </p:nvCxnSpPr>
          <p:spPr>
            <a:xfrm>
              <a:off x="-163595" y="988705"/>
              <a:ext cx="4545095" cy="0"/>
            </a:xfrm>
            <a:prstGeom prst="line">
              <a:avLst/>
            </a:prstGeom>
            <a:ln w="38100">
              <a:solidFill>
                <a:schemeClr val="accent1">
                  <a:lumMod val="40000"/>
                  <a:lumOff val="60000"/>
                </a:schemeClr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8" name="Groupe 67">
            <a:extLst>
              <a:ext uri="{FF2B5EF4-FFF2-40B4-BE49-F238E27FC236}">
                <a16:creationId xmlns:a16="http://schemas.microsoft.com/office/drawing/2014/main" id="{3C2CAAEE-DB69-4E12-A83E-72C40FF58876}"/>
              </a:ext>
            </a:extLst>
          </p:cNvPr>
          <p:cNvGrpSpPr/>
          <p:nvPr/>
        </p:nvGrpSpPr>
        <p:grpSpPr>
          <a:xfrm>
            <a:off x="1621444" y="2428876"/>
            <a:ext cx="2645756" cy="1981200"/>
            <a:chOff x="1621444" y="2428876"/>
            <a:chExt cx="2645756" cy="1981200"/>
          </a:xfrm>
        </p:grpSpPr>
        <p:sp>
          <p:nvSpPr>
            <p:cNvPr id="22" name="Rectangle : coins arrondis 21">
              <a:extLst>
                <a:ext uri="{FF2B5EF4-FFF2-40B4-BE49-F238E27FC236}">
                  <a16:creationId xmlns:a16="http://schemas.microsoft.com/office/drawing/2014/main" id="{833C5A96-657B-40F0-9D5B-F3E58F73D6ED}"/>
                </a:ext>
              </a:extLst>
            </p:cNvPr>
            <p:cNvSpPr/>
            <p:nvPr/>
          </p:nvSpPr>
          <p:spPr>
            <a:xfrm>
              <a:off x="1621444" y="2439864"/>
              <a:ext cx="1074131" cy="1956483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1" name="Rectangle : coins arrondis 20">
              <a:extLst>
                <a:ext uri="{FF2B5EF4-FFF2-40B4-BE49-F238E27FC236}">
                  <a16:creationId xmlns:a16="http://schemas.microsoft.com/office/drawing/2014/main" id="{81DE2BBA-44B9-4AD4-8D0C-774F89B98E9C}"/>
                </a:ext>
              </a:extLst>
            </p:cNvPr>
            <p:cNvSpPr/>
            <p:nvPr/>
          </p:nvSpPr>
          <p:spPr>
            <a:xfrm>
              <a:off x="1666875" y="2428876"/>
              <a:ext cx="2600325" cy="1981200"/>
            </a:xfrm>
            <a:prstGeom prst="roundRect">
              <a:avLst>
                <a:gd name="adj" fmla="val 9267"/>
              </a:avLst>
            </a:prstGeom>
            <a:solidFill>
              <a:srgbClr val="E8EEF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5" name="ZoneTexte 34">
              <a:extLst>
                <a:ext uri="{FF2B5EF4-FFF2-40B4-BE49-F238E27FC236}">
                  <a16:creationId xmlns:a16="http://schemas.microsoft.com/office/drawing/2014/main" id="{1BD4BA03-C9EA-4E56-9B8F-71748426E65F}"/>
                </a:ext>
              </a:extLst>
            </p:cNvPr>
            <p:cNvSpPr txBox="1"/>
            <p:nvPr/>
          </p:nvSpPr>
          <p:spPr>
            <a:xfrm>
              <a:off x="1852246" y="2508798"/>
              <a:ext cx="210648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b="1" dirty="0" err="1">
                  <a:solidFill>
                    <a:schemeClr val="accent1"/>
                  </a:solidFill>
                </a:rPr>
                <a:t>Preparatory</a:t>
              </a:r>
              <a:r>
                <a:rPr lang="fr-FR" b="1" dirty="0">
                  <a:solidFill>
                    <a:schemeClr val="accent1"/>
                  </a:solidFill>
                </a:rPr>
                <a:t> Classes</a:t>
              </a:r>
            </a:p>
          </p:txBody>
        </p:sp>
        <p:pic>
          <p:nvPicPr>
            <p:cNvPr id="43" name="Image 42">
              <a:extLst>
                <a:ext uri="{FF2B5EF4-FFF2-40B4-BE49-F238E27FC236}">
                  <a16:creationId xmlns:a16="http://schemas.microsoft.com/office/drawing/2014/main" id="{5B284E61-36D1-40B5-84CE-7DE464D2465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25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47228" y="3608129"/>
              <a:ext cx="874014" cy="578392"/>
            </a:xfrm>
            <a:prstGeom prst="snipRoundRect">
              <a:avLst>
                <a:gd name="adj1" fmla="val 27807"/>
                <a:gd name="adj2" fmla="val 34172"/>
              </a:avLst>
            </a:prstGeom>
          </p:spPr>
        </p:pic>
        <p:sp>
          <p:nvSpPr>
            <p:cNvPr id="45" name="ZoneTexte 44">
              <a:extLst>
                <a:ext uri="{FF2B5EF4-FFF2-40B4-BE49-F238E27FC236}">
                  <a16:creationId xmlns:a16="http://schemas.microsoft.com/office/drawing/2014/main" id="{B1A566AA-1BAE-4E8A-A87F-CF6DCACB1562}"/>
                </a:ext>
              </a:extLst>
            </p:cNvPr>
            <p:cNvSpPr txBox="1"/>
            <p:nvPr/>
          </p:nvSpPr>
          <p:spPr>
            <a:xfrm>
              <a:off x="1873822" y="3498926"/>
              <a:ext cx="1617810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b="0" i="1" dirty="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DM Sans"/>
                </a:rPr>
                <a:t>Intensive </a:t>
              </a:r>
              <a:r>
                <a:rPr lang="en-US" sz="1200" b="0" i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DM Sans"/>
                </a:rPr>
                <a:t>Maths</a:t>
              </a:r>
              <a:r>
                <a:rPr lang="en-US" sz="1200" b="0" i="1" dirty="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DM Sans"/>
                </a:rPr>
                <a:t> &amp; Physics training. Analytical rigor</a:t>
              </a:r>
              <a:endParaRPr lang="fr-FR" sz="1200" i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47" name="ZoneTexte 46">
              <a:extLst>
                <a:ext uri="{FF2B5EF4-FFF2-40B4-BE49-F238E27FC236}">
                  <a16:creationId xmlns:a16="http://schemas.microsoft.com/office/drawing/2014/main" id="{72A9C4F7-44BD-4F58-A98C-D634B9A8E4FA}"/>
                </a:ext>
              </a:extLst>
            </p:cNvPr>
            <p:cNvSpPr txBox="1"/>
            <p:nvPr/>
          </p:nvSpPr>
          <p:spPr>
            <a:xfrm>
              <a:off x="1876754" y="3110469"/>
              <a:ext cx="208198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1800" b="1" i="1" dirty="0">
                  <a:solidFill>
                    <a:schemeClr val="bg2">
                      <a:lumMod val="50000"/>
                    </a:schemeClr>
                  </a:solidFill>
                </a:rPr>
                <a:t>CPGE MPSI PSI</a:t>
              </a:r>
            </a:p>
          </p:txBody>
        </p:sp>
      </p:grpSp>
      <p:grpSp>
        <p:nvGrpSpPr>
          <p:cNvPr id="67" name="Groupe 66">
            <a:extLst>
              <a:ext uri="{FF2B5EF4-FFF2-40B4-BE49-F238E27FC236}">
                <a16:creationId xmlns:a16="http://schemas.microsoft.com/office/drawing/2014/main" id="{49BF1CCD-82FF-474E-8D70-42A8A2D21019}"/>
              </a:ext>
            </a:extLst>
          </p:cNvPr>
          <p:cNvGrpSpPr/>
          <p:nvPr/>
        </p:nvGrpSpPr>
        <p:grpSpPr>
          <a:xfrm>
            <a:off x="4818853" y="2415147"/>
            <a:ext cx="5817036" cy="1981200"/>
            <a:chOff x="5241679" y="2415147"/>
            <a:chExt cx="5098072" cy="1981200"/>
          </a:xfrm>
        </p:grpSpPr>
        <p:sp>
          <p:nvSpPr>
            <p:cNvPr id="23" name="Rectangle : coins arrondis 22">
              <a:extLst>
                <a:ext uri="{FF2B5EF4-FFF2-40B4-BE49-F238E27FC236}">
                  <a16:creationId xmlns:a16="http://schemas.microsoft.com/office/drawing/2014/main" id="{498F106B-1A73-489C-91CD-04759FB8EE91}"/>
                </a:ext>
              </a:extLst>
            </p:cNvPr>
            <p:cNvSpPr/>
            <p:nvPr/>
          </p:nvSpPr>
          <p:spPr>
            <a:xfrm>
              <a:off x="5241679" y="2426135"/>
              <a:ext cx="1074131" cy="1956483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4" name="Rectangle : coins arrondis 23">
              <a:extLst>
                <a:ext uri="{FF2B5EF4-FFF2-40B4-BE49-F238E27FC236}">
                  <a16:creationId xmlns:a16="http://schemas.microsoft.com/office/drawing/2014/main" id="{0F6FD23E-A407-482E-A7AA-B00A2E543EB4}"/>
                </a:ext>
              </a:extLst>
            </p:cNvPr>
            <p:cNvSpPr/>
            <p:nvPr/>
          </p:nvSpPr>
          <p:spPr>
            <a:xfrm>
              <a:off x="5299564" y="2415147"/>
              <a:ext cx="5040187" cy="1981200"/>
            </a:xfrm>
            <a:prstGeom prst="roundRect">
              <a:avLst>
                <a:gd name="adj" fmla="val 9267"/>
              </a:avLst>
            </a:prstGeom>
            <a:solidFill>
              <a:srgbClr val="E8EEF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39" name="Image 38">
              <a:extLst>
                <a:ext uri="{FF2B5EF4-FFF2-40B4-BE49-F238E27FC236}">
                  <a16:creationId xmlns:a16="http://schemas.microsoft.com/office/drawing/2014/main" id="{6C4D7B3A-7868-49E8-A2B0-F19298424BF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28584" y="3654737"/>
              <a:ext cx="1074131" cy="490520"/>
            </a:xfrm>
            <a:prstGeom prst="rect">
              <a:avLst/>
            </a:prstGeom>
          </p:spPr>
        </p:pic>
        <p:pic>
          <p:nvPicPr>
            <p:cNvPr id="41" name="Image 40">
              <a:extLst>
                <a:ext uri="{FF2B5EF4-FFF2-40B4-BE49-F238E27FC236}">
                  <a16:creationId xmlns:a16="http://schemas.microsoft.com/office/drawing/2014/main" id="{33D92754-299B-4E3C-B0A6-EC69F072D7A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09022" y="3631310"/>
              <a:ext cx="1074131" cy="532030"/>
            </a:xfrm>
            <a:prstGeom prst="rect">
              <a:avLst/>
            </a:prstGeom>
          </p:spPr>
        </p:pic>
        <p:sp>
          <p:nvSpPr>
            <p:cNvPr id="48" name="ZoneTexte 47">
              <a:extLst>
                <a:ext uri="{FF2B5EF4-FFF2-40B4-BE49-F238E27FC236}">
                  <a16:creationId xmlns:a16="http://schemas.microsoft.com/office/drawing/2014/main" id="{8FE24E11-4E5F-4732-9917-C05821AE79D1}"/>
                </a:ext>
              </a:extLst>
            </p:cNvPr>
            <p:cNvSpPr txBox="1"/>
            <p:nvPr/>
          </p:nvSpPr>
          <p:spPr>
            <a:xfrm>
              <a:off x="5455876" y="2508798"/>
              <a:ext cx="433903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b="1" dirty="0">
                  <a:solidFill>
                    <a:schemeClr val="accent1"/>
                  </a:solidFill>
                </a:rPr>
                <a:t>Apprentice </a:t>
              </a:r>
              <a:r>
                <a:rPr lang="fr-FR" b="1" dirty="0" err="1">
                  <a:solidFill>
                    <a:schemeClr val="accent1"/>
                  </a:solidFill>
                </a:rPr>
                <a:t>Research</a:t>
              </a:r>
              <a:r>
                <a:rPr lang="fr-FR" b="1" dirty="0">
                  <a:solidFill>
                    <a:schemeClr val="accent1"/>
                  </a:solidFill>
                </a:rPr>
                <a:t> </a:t>
              </a:r>
              <a:r>
                <a:rPr lang="fr-FR" b="1" dirty="0" err="1">
                  <a:solidFill>
                    <a:schemeClr val="accent1"/>
                  </a:solidFill>
                </a:rPr>
                <a:t>Engineer</a:t>
              </a:r>
              <a:r>
                <a:rPr lang="fr-FR" b="1" dirty="0">
                  <a:solidFill>
                    <a:schemeClr val="accent1"/>
                  </a:solidFill>
                </a:rPr>
                <a:t> @CEA</a:t>
              </a:r>
            </a:p>
            <a:p>
              <a:r>
                <a:rPr lang="fr-FR" b="1" dirty="0">
                  <a:solidFill>
                    <a:schemeClr val="accent1"/>
                  </a:solidFill>
                </a:rPr>
                <a:t>&amp; Engineering </a:t>
              </a:r>
              <a:r>
                <a:rPr lang="fr-FR" b="1" dirty="0" err="1">
                  <a:solidFill>
                    <a:schemeClr val="accent1"/>
                  </a:solidFill>
                </a:rPr>
                <a:t>Diploma</a:t>
              </a:r>
              <a:r>
                <a:rPr lang="fr-FR" b="1" dirty="0">
                  <a:solidFill>
                    <a:schemeClr val="accent1"/>
                  </a:solidFill>
                </a:rPr>
                <a:t> @CPE</a:t>
              </a:r>
            </a:p>
          </p:txBody>
        </p:sp>
        <p:sp>
          <p:nvSpPr>
            <p:cNvPr id="49" name="ZoneTexte 48">
              <a:extLst>
                <a:ext uri="{FF2B5EF4-FFF2-40B4-BE49-F238E27FC236}">
                  <a16:creationId xmlns:a16="http://schemas.microsoft.com/office/drawing/2014/main" id="{572ECD58-6B02-4A85-A9CD-1A75DDF5C6E0}"/>
                </a:ext>
              </a:extLst>
            </p:cNvPr>
            <p:cNvSpPr txBox="1"/>
            <p:nvPr/>
          </p:nvSpPr>
          <p:spPr>
            <a:xfrm>
              <a:off x="5477452" y="3498926"/>
              <a:ext cx="1790119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b="0" i="1" dirty="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DM Sans"/>
                </a:rPr>
                <a:t>Electronics &amp; IC Design, Digital &amp; Computing, Physics &amp; Signal, Research Initiation</a:t>
              </a:r>
              <a:endParaRPr lang="fr-FR" sz="1200" i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50" name="ZoneTexte 49">
              <a:extLst>
                <a:ext uri="{FF2B5EF4-FFF2-40B4-BE49-F238E27FC236}">
                  <a16:creationId xmlns:a16="http://schemas.microsoft.com/office/drawing/2014/main" id="{2D0D5D75-89F1-48EB-AB8C-00EED66EA6E2}"/>
                </a:ext>
              </a:extLst>
            </p:cNvPr>
            <p:cNvSpPr txBox="1"/>
            <p:nvPr/>
          </p:nvSpPr>
          <p:spPr>
            <a:xfrm>
              <a:off x="5480385" y="3110469"/>
              <a:ext cx="358334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sz="1800" b="1" i="1" dirty="0" err="1">
                  <a:solidFill>
                    <a:schemeClr val="bg2">
                      <a:lumMod val="50000"/>
                    </a:schemeClr>
                  </a:solidFill>
                </a:rPr>
                <a:t>Physics</a:t>
              </a:r>
              <a:r>
                <a:rPr lang="fr-FR" sz="1800" b="1" i="1" dirty="0">
                  <a:solidFill>
                    <a:schemeClr val="bg2">
                      <a:lumMod val="50000"/>
                    </a:schemeClr>
                  </a:solidFill>
                </a:rPr>
                <a:t> &amp; </a:t>
              </a:r>
              <a:r>
                <a:rPr lang="fr-FR" sz="1800" b="1" i="1" dirty="0" err="1">
                  <a:solidFill>
                    <a:schemeClr val="bg2">
                      <a:lumMod val="50000"/>
                    </a:schemeClr>
                  </a:solidFill>
                </a:rPr>
                <a:t>Microelectronic</a:t>
              </a:r>
              <a:r>
                <a:rPr lang="fr-FR" sz="1800" b="1" i="1" dirty="0">
                  <a:solidFill>
                    <a:schemeClr val="bg2">
                      <a:lumMod val="50000"/>
                    </a:schemeClr>
                  </a:solidFill>
                </a:rPr>
                <a:t> </a:t>
              </a:r>
              <a:r>
                <a:rPr lang="fr-FR" sz="1800" b="1" i="1" dirty="0" err="1">
                  <a:solidFill>
                    <a:schemeClr val="bg2">
                      <a:lumMod val="50000"/>
                    </a:schemeClr>
                  </a:solidFill>
                </a:rPr>
                <a:t>Systems</a:t>
              </a:r>
              <a:r>
                <a:rPr lang="fr-FR" sz="1800" b="1" i="1" dirty="0">
                  <a:solidFill>
                    <a:schemeClr val="bg2">
                      <a:lumMod val="50000"/>
                    </a:schemeClr>
                  </a:solidFill>
                </a:rPr>
                <a:t> </a:t>
              </a:r>
            </a:p>
          </p:txBody>
        </p:sp>
      </p:grpSp>
      <p:grpSp>
        <p:nvGrpSpPr>
          <p:cNvPr id="66" name="Groupe 65">
            <a:extLst>
              <a:ext uri="{FF2B5EF4-FFF2-40B4-BE49-F238E27FC236}">
                <a16:creationId xmlns:a16="http://schemas.microsoft.com/office/drawing/2014/main" id="{B410C0C7-554A-4DCE-868F-54D893318F98}"/>
              </a:ext>
            </a:extLst>
          </p:cNvPr>
          <p:cNvGrpSpPr/>
          <p:nvPr/>
        </p:nvGrpSpPr>
        <p:grpSpPr>
          <a:xfrm>
            <a:off x="6557879" y="4596372"/>
            <a:ext cx="3216521" cy="1156729"/>
            <a:chOff x="6557879" y="4596372"/>
            <a:chExt cx="3216521" cy="1156729"/>
          </a:xfrm>
        </p:grpSpPr>
        <p:sp>
          <p:nvSpPr>
            <p:cNvPr id="27" name="Rectangle : coins arrondis 26">
              <a:extLst>
                <a:ext uri="{FF2B5EF4-FFF2-40B4-BE49-F238E27FC236}">
                  <a16:creationId xmlns:a16="http://schemas.microsoft.com/office/drawing/2014/main" id="{499AFC1F-28AD-46A7-AAC9-5A886CA5E5BF}"/>
                </a:ext>
              </a:extLst>
            </p:cNvPr>
            <p:cNvSpPr/>
            <p:nvPr/>
          </p:nvSpPr>
          <p:spPr>
            <a:xfrm>
              <a:off x="6557879" y="4607361"/>
              <a:ext cx="1074131" cy="1145740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8" name="Rectangle : coins arrondis 27">
              <a:extLst>
                <a:ext uri="{FF2B5EF4-FFF2-40B4-BE49-F238E27FC236}">
                  <a16:creationId xmlns:a16="http://schemas.microsoft.com/office/drawing/2014/main" id="{97FF76E6-FF94-4A98-A9C6-E46F806FD8CD}"/>
                </a:ext>
              </a:extLst>
            </p:cNvPr>
            <p:cNvSpPr/>
            <p:nvPr/>
          </p:nvSpPr>
          <p:spPr>
            <a:xfrm>
              <a:off x="6603310" y="4596372"/>
              <a:ext cx="3171090" cy="1156728"/>
            </a:xfrm>
            <a:prstGeom prst="roundRect">
              <a:avLst>
                <a:gd name="adj" fmla="val 9267"/>
              </a:avLst>
            </a:prstGeom>
            <a:solidFill>
              <a:srgbClr val="E8EEF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37" name="Image 36">
              <a:extLst>
                <a:ext uri="{FF2B5EF4-FFF2-40B4-BE49-F238E27FC236}">
                  <a16:creationId xmlns:a16="http://schemas.microsoft.com/office/drawing/2014/main" id="{AC5679BA-F943-4533-80BE-160ABDC624F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78241" y="4860525"/>
              <a:ext cx="1173899" cy="626080"/>
            </a:xfrm>
            <a:prstGeom prst="rect">
              <a:avLst/>
            </a:prstGeom>
          </p:spPr>
        </p:pic>
        <p:sp>
          <p:nvSpPr>
            <p:cNvPr id="53" name="ZoneTexte 52">
              <a:extLst>
                <a:ext uri="{FF2B5EF4-FFF2-40B4-BE49-F238E27FC236}">
                  <a16:creationId xmlns:a16="http://schemas.microsoft.com/office/drawing/2014/main" id="{7ECE755B-725D-4A2D-91AD-329C82AFE42C}"/>
                </a:ext>
              </a:extLst>
            </p:cNvPr>
            <p:cNvSpPr txBox="1"/>
            <p:nvPr/>
          </p:nvSpPr>
          <p:spPr>
            <a:xfrm>
              <a:off x="6637268" y="4673197"/>
              <a:ext cx="184364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b="1" dirty="0" err="1">
                  <a:solidFill>
                    <a:schemeClr val="accent1"/>
                  </a:solidFill>
                </a:rPr>
                <a:t>Research</a:t>
              </a:r>
              <a:r>
                <a:rPr lang="fr-FR" b="1" dirty="0">
                  <a:solidFill>
                    <a:schemeClr val="accent1"/>
                  </a:solidFill>
                </a:rPr>
                <a:t> </a:t>
              </a:r>
              <a:r>
                <a:rPr lang="fr-FR" b="1" dirty="0" err="1">
                  <a:solidFill>
                    <a:schemeClr val="accent1"/>
                  </a:solidFill>
                </a:rPr>
                <a:t>Intern</a:t>
              </a:r>
              <a:endParaRPr lang="fr-FR" b="1" dirty="0">
                <a:solidFill>
                  <a:schemeClr val="accent1"/>
                </a:solidFill>
              </a:endParaRPr>
            </a:p>
            <a:p>
              <a:endParaRPr lang="fr-FR" b="1" dirty="0">
                <a:solidFill>
                  <a:schemeClr val="accent1"/>
                </a:solidFill>
              </a:endParaRPr>
            </a:p>
          </p:txBody>
        </p:sp>
        <p:sp>
          <p:nvSpPr>
            <p:cNvPr id="56" name="ZoneTexte 55">
              <a:extLst>
                <a:ext uri="{FF2B5EF4-FFF2-40B4-BE49-F238E27FC236}">
                  <a16:creationId xmlns:a16="http://schemas.microsoft.com/office/drawing/2014/main" id="{E506714C-2182-45C7-AABE-743C0C87172E}"/>
                </a:ext>
              </a:extLst>
            </p:cNvPr>
            <p:cNvSpPr txBox="1"/>
            <p:nvPr/>
          </p:nvSpPr>
          <p:spPr>
            <a:xfrm>
              <a:off x="6690795" y="5007351"/>
              <a:ext cx="1790119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b="0" i="1" dirty="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DM Sans"/>
                </a:rPr>
                <a:t>Cryogenic electronic and </a:t>
              </a:r>
              <a:r>
                <a:rPr lang="en-US" sz="1200" i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DM Sans"/>
                </a:rPr>
                <a:t>design of a </a:t>
              </a:r>
              <a:r>
                <a:rPr lang="en-US" sz="1200" b="0" i="1" dirty="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DM Sans"/>
                </a:rPr>
                <a:t>high-density interconnects </a:t>
              </a:r>
              <a:r>
                <a:rPr lang="en-US" sz="1200" i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DM Sans"/>
                </a:rPr>
                <a:t>PCB</a:t>
              </a:r>
              <a:endParaRPr lang="fr-FR" sz="1200" i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70" name="Groupe 69">
            <a:extLst>
              <a:ext uri="{FF2B5EF4-FFF2-40B4-BE49-F238E27FC236}">
                <a16:creationId xmlns:a16="http://schemas.microsoft.com/office/drawing/2014/main" id="{D7CF5D15-D663-4E8F-8236-74E9B1BEE2CC}"/>
              </a:ext>
            </a:extLst>
          </p:cNvPr>
          <p:cNvGrpSpPr/>
          <p:nvPr/>
        </p:nvGrpSpPr>
        <p:grpSpPr>
          <a:xfrm>
            <a:off x="4251079" y="2220230"/>
            <a:ext cx="924660" cy="4255383"/>
            <a:chOff x="4251079" y="2220230"/>
            <a:chExt cx="924660" cy="4255383"/>
          </a:xfrm>
        </p:grpSpPr>
        <p:cxnSp>
          <p:nvCxnSpPr>
            <p:cNvPr id="33" name="Connecteur droit 32">
              <a:extLst>
                <a:ext uri="{FF2B5EF4-FFF2-40B4-BE49-F238E27FC236}">
                  <a16:creationId xmlns:a16="http://schemas.microsoft.com/office/drawing/2014/main" id="{83F031ED-5F99-440C-B974-9BB1C3ACCC7D}"/>
                </a:ext>
              </a:extLst>
            </p:cNvPr>
            <p:cNvCxnSpPr>
              <a:cxnSpLocks/>
            </p:cNvCxnSpPr>
            <p:nvPr/>
          </p:nvCxnSpPr>
          <p:spPr>
            <a:xfrm>
              <a:off x="4724400" y="2220230"/>
              <a:ext cx="0" cy="3932582"/>
            </a:xfrm>
            <a:prstGeom prst="line">
              <a:avLst/>
            </a:prstGeom>
            <a:ln w="38100">
              <a:solidFill>
                <a:schemeClr val="bg2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ZoneTexte 56">
              <a:extLst>
                <a:ext uri="{FF2B5EF4-FFF2-40B4-BE49-F238E27FC236}">
                  <a16:creationId xmlns:a16="http://schemas.microsoft.com/office/drawing/2014/main" id="{3455C50B-7296-4839-831A-51C030EB616D}"/>
                </a:ext>
              </a:extLst>
            </p:cNvPr>
            <p:cNvSpPr txBox="1"/>
            <p:nvPr/>
          </p:nvSpPr>
          <p:spPr>
            <a:xfrm>
              <a:off x="4251079" y="6106281"/>
              <a:ext cx="9246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b="1" i="1" dirty="0">
                  <a:solidFill>
                    <a:schemeClr val="bg2">
                      <a:lumMod val="50000"/>
                    </a:schemeClr>
                  </a:solidFill>
                </a:rPr>
                <a:t>2023</a:t>
              </a:r>
            </a:p>
          </p:txBody>
        </p:sp>
      </p:grpSp>
      <p:cxnSp>
        <p:nvCxnSpPr>
          <p:cNvPr id="58" name="Connecteur droit 57">
            <a:extLst>
              <a:ext uri="{FF2B5EF4-FFF2-40B4-BE49-F238E27FC236}">
                <a16:creationId xmlns:a16="http://schemas.microsoft.com/office/drawing/2014/main" id="{F8FE687B-EDD3-4A05-B07F-2266965EFA4E}"/>
              </a:ext>
            </a:extLst>
          </p:cNvPr>
          <p:cNvCxnSpPr>
            <a:cxnSpLocks/>
          </p:cNvCxnSpPr>
          <p:nvPr/>
        </p:nvCxnSpPr>
        <p:spPr>
          <a:xfrm>
            <a:off x="1215536" y="2220230"/>
            <a:ext cx="0" cy="3932582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ZoneTexte 58">
            <a:extLst>
              <a:ext uri="{FF2B5EF4-FFF2-40B4-BE49-F238E27FC236}">
                <a16:creationId xmlns:a16="http://schemas.microsoft.com/office/drawing/2014/main" id="{0CAE2B40-D27E-4070-BB73-928CEF960759}"/>
              </a:ext>
            </a:extLst>
          </p:cNvPr>
          <p:cNvSpPr txBox="1"/>
          <p:nvPr/>
        </p:nvSpPr>
        <p:spPr>
          <a:xfrm>
            <a:off x="742215" y="6106281"/>
            <a:ext cx="924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i="1" dirty="0">
                <a:solidFill>
                  <a:schemeClr val="bg2">
                    <a:lumMod val="50000"/>
                  </a:schemeClr>
                </a:solidFill>
              </a:rPr>
              <a:t>2023</a:t>
            </a:r>
          </a:p>
        </p:txBody>
      </p:sp>
      <p:grpSp>
        <p:nvGrpSpPr>
          <p:cNvPr id="72" name="Groupe 71">
            <a:extLst>
              <a:ext uri="{FF2B5EF4-FFF2-40B4-BE49-F238E27FC236}">
                <a16:creationId xmlns:a16="http://schemas.microsoft.com/office/drawing/2014/main" id="{0F7CB2AF-EE32-454A-B3E4-84CD9EEE85E1}"/>
              </a:ext>
            </a:extLst>
          </p:cNvPr>
          <p:cNvGrpSpPr/>
          <p:nvPr/>
        </p:nvGrpSpPr>
        <p:grpSpPr>
          <a:xfrm>
            <a:off x="10167125" y="2220230"/>
            <a:ext cx="924660" cy="4532382"/>
            <a:chOff x="10167125" y="2220230"/>
            <a:chExt cx="924660" cy="4532382"/>
          </a:xfrm>
        </p:grpSpPr>
        <p:cxnSp>
          <p:nvCxnSpPr>
            <p:cNvPr id="62" name="Connecteur droit 61">
              <a:extLst>
                <a:ext uri="{FF2B5EF4-FFF2-40B4-BE49-F238E27FC236}">
                  <a16:creationId xmlns:a16="http://schemas.microsoft.com/office/drawing/2014/main" id="{A56E832E-B288-460B-B3B5-437B655218BB}"/>
                </a:ext>
              </a:extLst>
            </p:cNvPr>
            <p:cNvCxnSpPr>
              <a:cxnSpLocks/>
            </p:cNvCxnSpPr>
            <p:nvPr/>
          </p:nvCxnSpPr>
          <p:spPr>
            <a:xfrm>
              <a:off x="10635892" y="2220230"/>
              <a:ext cx="0" cy="3932582"/>
            </a:xfrm>
            <a:prstGeom prst="line">
              <a:avLst/>
            </a:prstGeom>
            <a:ln w="38100">
              <a:solidFill>
                <a:schemeClr val="bg2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ZoneTexte 62">
              <a:extLst>
                <a:ext uri="{FF2B5EF4-FFF2-40B4-BE49-F238E27FC236}">
                  <a16:creationId xmlns:a16="http://schemas.microsoft.com/office/drawing/2014/main" id="{DD3E5788-D963-4A5D-997D-DFD1DAA6ED69}"/>
                </a:ext>
              </a:extLst>
            </p:cNvPr>
            <p:cNvSpPr txBox="1"/>
            <p:nvPr/>
          </p:nvSpPr>
          <p:spPr>
            <a:xfrm>
              <a:off x="10167125" y="6106281"/>
              <a:ext cx="92466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b="1" i="1" dirty="0">
                  <a:solidFill>
                    <a:schemeClr val="bg2">
                      <a:lumMod val="50000"/>
                    </a:schemeClr>
                  </a:solidFill>
                </a:rPr>
                <a:t>Sept 2026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683997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roupe 75">
            <a:extLst>
              <a:ext uri="{FF2B5EF4-FFF2-40B4-BE49-F238E27FC236}">
                <a16:creationId xmlns:a16="http://schemas.microsoft.com/office/drawing/2014/main" id="{A863511B-041A-4A69-91D8-BDDA12F30CE8}"/>
              </a:ext>
            </a:extLst>
          </p:cNvPr>
          <p:cNvGrpSpPr/>
          <p:nvPr/>
        </p:nvGrpSpPr>
        <p:grpSpPr>
          <a:xfrm>
            <a:off x="1535383" y="2892181"/>
            <a:ext cx="9935549" cy="3266736"/>
            <a:chOff x="919478" y="3284125"/>
            <a:chExt cx="9935549" cy="3266736"/>
          </a:xfrm>
        </p:grpSpPr>
        <p:grpSp>
          <p:nvGrpSpPr>
            <p:cNvPr id="9" name="Groupe 8">
              <a:extLst>
                <a:ext uri="{FF2B5EF4-FFF2-40B4-BE49-F238E27FC236}">
                  <a16:creationId xmlns:a16="http://schemas.microsoft.com/office/drawing/2014/main" id="{911F9E8F-B10A-4806-91BB-986657A001DE}"/>
                </a:ext>
              </a:extLst>
            </p:cNvPr>
            <p:cNvGrpSpPr/>
            <p:nvPr/>
          </p:nvGrpSpPr>
          <p:grpSpPr>
            <a:xfrm>
              <a:off x="4523534" y="3284125"/>
              <a:ext cx="6331493" cy="3092034"/>
              <a:chOff x="5591175" y="2520733"/>
              <a:chExt cx="6331493" cy="3092034"/>
            </a:xfrm>
          </p:grpSpPr>
          <p:grpSp>
            <p:nvGrpSpPr>
              <p:cNvPr id="5" name="Groupe 4">
                <a:extLst>
                  <a:ext uri="{FF2B5EF4-FFF2-40B4-BE49-F238E27FC236}">
                    <a16:creationId xmlns:a16="http://schemas.microsoft.com/office/drawing/2014/main" id="{EC4E9C52-3DA2-4067-873F-5144BA617D54}"/>
                  </a:ext>
                </a:extLst>
              </p:cNvPr>
              <p:cNvGrpSpPr/>
              <p:nvPr/>
            </p:nvGrpSpPr>
            <p:grpSpPr>
              <a:xfrm>
                <a:off x="5591175" y="2574292"/>
                <a:ext cx="6331493" cy="3038475"/>
                <a:chOff x="1809459" y="762000"/>
                <a:chExt cx="10356120" cy="4969888"/>
              </a:xfrm>
            </p:grpSpPr>
            <p:grpSp>
              <p:nvGrpSpPr>
                <p:cNvPr id="18" name="Groupe 17">
                  <a:extLst>
                    <a:ext uri="{FF2B5EF4-FFF2-40B4-BE49-F238E27FC236}">
                      <a16:creationId xmlns:a16="http://schemas.microsoft.com/office/drawing/2014/main" id="{D7C3CB9F-79F4-462F-A55E-B66CDCDC8C3F}"/>
                    </a:ext>
                  </a:extLst>
                </p:cNvPr>
                <p:cNvGrpSpPr/>
                <p:nvPr/>
              </p:nvGrpSpPr>
              <p:grpSpPr>
                <a:xfrm>
                  <a:off x="1809459" y="762000"/>
                  <a:ext cx="10219440" cy="2466204"/>
                  <a:chOff x="1809459" y="762000"/>
                  <a:chExt cx="10219440" cy="2466204"/>
                </a:xfrm>
              </p:grpSpPr>
              <p:sp>
                <p:nvSpPr>
                  <p:cNvPr id="21" name="ZoneTexte 20">
                    <a:extLst>
                      <a:ext uri="{FF2B5EF4-FFF2-40B4-BE49-F238E27FC236}">
                        <a16:creationId xmlns:a16="http://schemas.microsoft.com/office/drawing/2014/main" id="{24A1A73D-DCED-486B-B2B8-07DD2235847E}"/>
                      </a:ext>
                    </a:extLst>
                  </p:cNvPr>
                  <p:cNvSpPr txBox="1"/>
                  <p:nvPr/>
                </p:nvSpPr>
                <p:spPr>
                  <a:xfrm>
                    <a:off x="1809459" y="2283590"/>
                    <a:ext cx="1598039" cy="453074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fr-FR" sz="1200" b="1" dirty="0" err="1"/>
                      <a:t>Before</a:t>
                    </a:r>
                    <a:endParaRPr lang="fr-FR" sz="1200" b="1" dirty="0"/>
                  </a:p>
                </p:txBody>
              </p:sp>
              <p:sp>
                <p:nvSpPr>
                  <p:cNvPr id="22" name="ZoneTexte 21">
                    <a:extLst>
                      <a:ext uri="{FF2B5EF4-FFF2-40B4-BE49-F238E27FC236}">
                        <a16:creationId xmlns:a16="http://schemas.microsoft.com/office/drawing/2014/main" id="{F7BE92C9-DEC6-4AE6-AD29-769841CDC626}"/>
                      </a:ext>
                    </a:extLst>
                  </p:cNvPr>
                  <p:cNvSpPr txBox="1"/>
                  <p:nvPr/>
                </p:nvSpPr>
                <p:spPr>
                  <a:xfrm>
                    <a:off x="1809459" y="2714302"/>
                    <a:ext cx="1578787" cy="453074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fr-FR" sz="1200" b="1" dirty="0" err="1"/>
                      <a:t>After</a:t>
                    </a:r>
                    <a:endParaRPr lang="fr-FR" sz="1200" b="1" dirty="0"/>
                  </a:p>
                </p:txBody>
              </p:sp>
              <p:pic>
                <p:nvPicPr>
                  <p:cNvPr id="23" name="Image 22">
                    <a:extLst>
                      <a:ext uri="{FF2B5EF4-FFF2-40B4-BE49-F238E27FC236}">
                        <a16:creationId xmlns:a16="http://schemas.microsoft.com/office/drawing/2014/main" id="{9F690298-BE43-485C-88B2-5025F5319A4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90621" t="50374" r="637"/>
                  <a:stretch/>
                </p:blipFill>
                <p:spPr>
                  <a:xfrm>
                    <a:off x="2592522" y="1224476"/>
                    <a:ext cx="731837" cy="985838"/>
                  </a:xfrm>
                  <a:prstGeom prst="rect">
                    <a:avLst/>
                  </a:prstGeom>
                </p:spPr>
              </p:pic>
              <p:pic>
                <p:nvPicPr>
                  <p:cNvPr id="24" name="Image 23">
                    <a:extLst>
                      <a:ext uri="{FF2B5EF4-FFF2-40B4-BE49-F238E27FC236}">
                        <a16:creationId xmlns:a16="http://schemas.microsoft.com/office/drawing/2014/main" id="{A6FFF966-4EFB-4569-838B-18EEE96E429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11975" t="6657" r="9622"/>
                  <a:stretch/>
                </p:blipFill>
                <p:spPr>
                  <a:xfrm>
                    <a:off x="3298972" y="762000"/>
                    <a:ext cx="8729927" cy="246620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28" name="Groupe 27">
                  <a:extLst>
                    <a:ext uri="{FF2B5EF4-FFF2-40B4-BE49-F238E27FC236}">
                      <a16:creationId xmlns:a16="http://schemas.microsoft.com/office/drawing/2014/main" id="{1C133AE5-A01A-4570-BF20-4D5806D2D756}"/>
                    </a:ext>
                  </a:extLst>
                </p:cNvPr>
                <p:cNvGrpSpPr/>
                <p:nvPr/>
              </p:nvGrpSpPr>
              <p:grpSpPr>
                <a:xfrm>
                  <a:off x="2889733" y="3344189"/>
                  <a:ext cx="9089620" cy="2315466"/>
                  <a:chOff x="2889733" y="3344189"/>
                  <a:chExt cx="9089620" cy="2315466"/>
                </a:xfrm>
              </p:grpSpPr>
              <p:pic>
                <p:nvPicPr>
                  <p:cNvPr id="29" name="Image 28">
                    <a:extLst>
                      <a:ext uri="{FF2B5EF4-FFF2-40B4-BE49-F238E27FC236}">
                        <a16:creationId xmlns:a16="http://schemas.microsoft.com/office/drawing/2014/main" id="{E8995905-C784-4D73-9337-E97A415358E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1" b="20533"/>
                  <a:stretch/>
                </p:blipFill>
                <p:spPr>
                  <a:xfrm>
                    <a:off x="2939279" y="3344189"/>
                    <a:ext cx="9040074" cy="2142211"/>
                  </a:xfrm>
                  <a:prstGeom prst="rect">
                    <a:avLst/>
                  </a:prstGeom>
                </p:spPr>
              </p:pic>
              <p:pic>
                <p:nvPicPr>
                  <p:cNvPr id="30" name="Image 29">
                    <a:extLst>
                      <a:ext uri="{FF2B5EF4-FFF2-40B4-BE49-F238E27FC236}">
                        <a16:creationId xmlns:a16="http://schemas.microsoft.com/office/drawing/2014/main" id="{0809F8FB-D3C6-49A1-BBFB-4C0E030645C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436" t="18861" r="97601" b="44804"/>
                  <a:stretch/>
                </p:blipFill>
                <p:spPr>
                  <a:xfrm>
                    <a:off x="2889733" y="3573734"/>
                    <a:ext cx="272567" cy="1504390"/>
                  </a:xfrm>
                  <a:prstGeom prst="rect">
                    <a:avLst/>
                  </a:prstGeom>
                </p:spPr>
              </p:pic>
              <p:sp>
                <p:nvSpPr>
                  <p:cNvPr id="31" name="Rectangle 30">
                    <a:extLst>
                      <a:ext uri="{FF2B5EF4-FFF2-40B4-BE49-F238E27FC236}">
                        <a16:creationId xmlns:a16="http://schemas.microsoft.com/office/drawing/2014/main" id="{25F43F49-58D2-463F-9AFC-4E51DD79ACC1}"/>
                      </a:ext>
                    </a:extLst>
                  </p:cNvPr>
                  <p:cNvSpPr/>
                  <p:nvPr/>
                </p:nvSpPr>
                <p:spPr>
                  <a:xfrm>
                    <a:off x="3407496" y="5290323"/>
                    <a:ext cx="8402702" cy="369332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144000" tIns="108000" rIns="144000" bIns="144000" rtlCol="0" anchor="ctr">
                    <a:spAutoFit/>
                  </a:bodyPr>
                  <a:lstStyle/>
                  <a:p>
                    <a:pPr algn="ctr"/>
                    <a:endParaRPr lang="fr-FR" dirty="0"/>
                  </a:p>
                </p:txBody>
              </p:sp>
            </p:grpSp>
            <p:grpSp>
              <p:nvGrpSpPr>
                <p:cNvPr id="32" name="Groupe 31">
                  <a:extLst>
                    <a:ext uri="{FF2B5EF4-FFF2-40B4-BE49-F238E27FC236}">
                      <a16:creationId xmlns:a16="http://schemas.microsoft.com/office/drawing/2014/main" id="{36B802F3-FA25-46D6-A682-4C94FD102A7A}"/>
                    </a:ext>
                  </a:extLst>
                </p:cNvPr>
                <p:cNvGrpSpPr/>
                <p:nvPr/>
              </p:nvGrpSpPr>
              <p:grpSpPr>
                <a:xfrm>
                  <a:off x="3136210" y="5346549"/>
                  <a:ext cx="9029369" cy="297735"/>
                  <a:chOff x="3136210" y="5346549"/>
                  <a:chExt cx="9029369" cy="297735"/>
                </a:xfrm>
              </p:grpSpPr>
              <p:sp>
                <p:nvSpPr>
                  <p:cNvPr id="33" name="ZoneTexte 32">
                    <a:extLst>
                      <a:ext uri="{FF2B5EF4-FFF2-40B4-BE49-F238E27FC236}">
                        <a16:creationId xmlns:a16="http://schemas.microsoft.com/office/drawing/2014/main" id="{526B8B63-AE31-4DFE-8E25-A8490AA24841}"/>
                      </a:ext>
                    </a:extLst>
                  </p:cNvPr>
                  <p:cNvSpPr txBox="1"/>
                  <p:nvPr/>
                </p:nvSpPr>
                <p:spPr>
                  <a:xfrm>
                    <a:off x="3136210" y="5367285"/>
                    <a:ext cx="1209675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fr-FR" sz="1200" i="1" dirty="0"/>
                      <a:t>220.1</a:t>
                    </a:r>
                  </a:p>
                </p:txBody>
              </p:sp>
              <p:sp>
                <p:nvSpPr>
                  <p:cNvPr id="34" name="ZoneTexte 33">
                    <a:extLst>
                      <a:ext uri="{FF2B5EF4-FFF2-40B4-BE49-F238E27FC236}">
                        <a16:creationId xmlns:a16="http://schemas.microsoft.com/office/drawing/2014/main" id="{C8E3B4B3-FB97-4D25-84D9-BFB95B80BBC6}"/>
                      </a:ext>
                    </a:extLst>
                  </p:cNvPr>
                  <p:cNvSpPr txBox="1"/>
                  <p:nvPr/>
                </p:nvSpPr>
                <p:spPr>
                  <a:xfrm>
                    <a:off x="3847497" y="5366206"/>
                    <a:ext cx="1209675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fr-FR" sz="1200" i="1" dirty="0"/>
                      <a:t>310.4</a:t>
                    </a:r>
                  </a:p>
                </p:txBody>
              </p:sp>
              <p:sp>
                <p:nvSpPr>
                  <p:cNvPr id="35" name="ZoneTexte 34">
                    <a:extLst>
                      <a:ext uri="{FF2B5EF4-FFF2-40B4-BE49-F238E27FC236}">
                        <a16:creationId xmlns:a16="http://schemas.microsoft.com/office/drawing/2014/main" id="{22F81E0F-3FF2-485F-AFEA-81AE593FCCFD}"/>
                      </a:ext>
                    </a:extLst>
                  </p:cNvPr>
                  <p:cNvSpPr txBox="1"/>
                  <p:nvPr/>
                </p:nvSpPr>
                <p:spPr>
                  <a:xfrm>
                    <a:off x="4555801" y="5360462"/>
                    <a:ext cx="1209675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fr-FR" sz="1200" i="1" dirty="0"/>
                      <a:t>210.3</a:t>
                    </a:r>
                  </a:p>
                </p:txBody>
              </p:sp>
              <p:sp>
                <p:nvSpPr>
                  <p:cNvPr id="36" name="ZoneTexte 35">
                    <a:extLst>
                      <a:ext uri="{FF2B5EF4-FFF2-40B4-BE49-F238E27FC236}">
                        <a16:creationId xmlns:a16="http://schemas.microsoft.com/office/drawing/2014/main" id="{FEAFF823-A3AF-42F7-B7B2-EB3A55137D65}"/>
                      </a:ext>
                    </a:extLst>
                  </p:cNvPr>
                  <p:cNvSpPr txBox="1"/>
                  <p:nvPr/>
                </p:nvSpPr>
                <p:spPr>
                  <a:xfrm>
                    <a:off x="5267088" y="5355536"/>
                    <a:ext cx="1209675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fr-FR" sz="1200" i="1" dirty="0"/>
                      <a:t>212.4</a:t>
                    </a:r>
                  </a:p>
                </p:txBody>
              </p:sp>
              <p:sp>
                <p:nvSpPr>
                  <p:cNvPr id="37" name="ZoneTexte 36">
                    <a:extLst>
                      <a:ext uri="{FF2B5EF4-FFF2-40B4-BE49-F238E27FC236}">
                        <a16:creationId xmlns:a16="http://schemas.microsoft.com/office/drawing/2014/main" id="{6F384821-11CC-4A55-8DAC-C05E6DA059AF}"/>
                      </a:ext>
                    </a:extLst>
                  </p:cNvPr>
                  <p:cNvSpPr txBox="1"/>
                  <p:nvPr/>
                </p:nvSpPr>
                <p:spPr>
                  <a:xfrm>
                    <a:off x="6000550" y="5351312"/>
                    <a:ext cx="1209675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fr-FR" sz="1200" i="1" dirty="0"/>
                      <a:t>146.4</a:t>
                    </a:r>
                  </a:p>
                </p:txBody>
              </p:sp>
              <p:sp>
                <p:nvSpPr>
                  <p:cNvPr id="38" name="ZoneTexte 37">
                    <a:extLst>
                      <a:ext uri="{FF2B5EF4-FFF2-40B4-BE49-F238E27FC236}">
                        <a16:creationId xmlns:a16="http://schemas.microsoft.com/office/drawing/2014/main" id="{2A49BC6A-2EED-40E6-8C2B-586ADBA98D6A}"/>
                      </a:ext>
                    </a:extLst>
                  </p:cNvPr>
                  <p:cNvSpPr txBox="1"/>
                  <p:nvPr/>
                </p:nvSpPr>
                <p:spPr>
                  <a:xfrm>
                    <a:off x="6711837" y="5350233"/>
                    <a:ext cx="1209675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fr-FR" sz="1200" i="1" dirty="0"/>
                      <a:t>348.5</a:t>
                    </a:r>
                  </a:p>
                </p:txBody>
              </p:sp>
              <p:sp>
                <p:nvSpPr>
                  <p:cNvPr id="39" name="ZoneTexte 38">
                    <a:extLst>
                      <a:ext uri="{FF2B5EF4-FFF2-40B4-BE49-F238E27FC236}">
                        <a16:creationId xmlns:a16="http://schemas.microsoft.com/office/drawing/2014/main" id="{8DB12052-E5A8-4E85-B439-31C677FB7BD9}"/>
                      </a:ext>
                    </a:extLst>
                  </p:cNvPr>
                  <p:cNvSpPr txBox="1"/>
                  <p:nvPr/>
                </p:nvSpPr>
                <p:spPr>
                  <a:xfrm>
                    <a:off x="7406128" y="5354996"/>
                    <a:ext cx="1209675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fr-FR" sz="1200" i="1" dirty="0"/>
                      <a:t>212.2</a:t>
                    </a:r>
                  </a:p>
                </p:txBody>
              </p:sp>
              <p:sp>
                <p:nvSpPr>
                  <p:cNvPr id="40" name="ZoneTexte 39">
                    <a:extLst>
                      <a:ext uri="{FF2B5EF4-FFF2-40B4-BE49-F238E27FC236}">
                        <a16:creationId xmlns:a16="http://schemas.microsoft.com/office/drawing/2014/main" id="{C47CA1F6-72B4-4644-8A2F-B2FCDAB692B7}"/>
                      </a:ext>
                    </a:extLst>
                  </p:cNvPr>
                  <p:cNvSpPr txBox="1"/>
                  <p:nvPr/>
                </p:nvSpPr>
                <p:spPr>
                  <a:xfrm>
                    <a:off x="8117415" y="5353917"/>
                    <a:ext cx="1209675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fr-FR" sz="1200" i="1" dirty="0"/>
                      <a:t>96.64</a:t>
                    </a:r>
                  </a:p>
                </p:txBody>
              </p:sp>
              <p:sp>
                <p:nvSpPr>
                  <p:cNvPr id="41" name="ZoneTexte 40">
                    <a:extLst>
                      <a:ext uri="{FF2B5EF4-FFF2-40B4-BE49-F238E27FC236}">
                        <a16:creationId xmlns:a16="http://schemas.microsoft.com/office/drawing/2014/main" id="{80F4E73B-DFC6-4CEA-B193-1358FE6949F4}"/>
                      </a:ext>
                    </a:extLst>
                  </p:cNvPr>
                  <p:cNvSpPr txBox="1"/>
                  <p:nvPr/>
                </p:nvSpPr>
                <p:spPr>
                  <a:xfrm>
                    <a:off x="8839039" y="5347628"/>
                    <a:ext cx="1209675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fr-FR" sz="1200" i="1" dirty="0"/>
                      <a:t>113.9</a:t>
                    </a:r>
                  </a:p>
                </p:txBody>
              </p:sp>
              <p:sp>
                <p:nvSpPr>
                  <p:cNvPr id="42" name="ZoneTexte 41">
                    <a:extLst>
                      <a:ext uri="{FF2B5EF4-FFF2-40B4-BE49-F238E27FC236}">
                        <a16:creationId xmlns:a16="http://schemas.microsoft.com/office/drawing/2014/main" id="{9D6456BF-8E67-4442-B967-357F8801FAF2}"/>
                      </a:ext>
                    </a:extLst>
                  </p:cNvPr>
                  <p:cNvSpPr txBox="1"/>
                  <p:nvPr/>
                </p:nvSpPr>
                <p:spPr>
                  <a:xfrm>
                    <a:off x="9550326" y="5346549"/>
                    <a:ext cx="1209675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fr-FR" sz="1200" i="1" dirty="0"/>
                      <a:t>52.61</a:t>
                    </a:r>
                  </a:p>
                </p:txBody>
              </p:sp>
              <p:sp>
                <p:nvSpPr>
                  <p:cNvPr id="43" name="ZoneTexte 42">
                    <a:extLst>
                      <a:ext uri="{FF2B5EF4-FFF2-40B4-BE49-F238E27FC236}">
                        <a16:creationId xmlns:a16="http://schemas.microsoft.com/office/drawing/2014/main" id="{A3060DFB-AEE8-4D5D-B0DD-EB82A59B2CB7}"/>
                      </a:ext>
                    </a:extLst>
                  </p:cNvPr>
                  <p:cNvSpPr txBox="1"/>
                  <p:nvPr/>
                </p:nvSpPr>
                <p:spPr>
                  <a:xfrm>
                    <a:off x="10244617" y="5351312"/>
                    <a:ext cx="1209675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fr-FR" sz="1200" i="1" dirty="0"/>
                      <a:t>99.93</a:t>
                    </a:r>
                  </a:p>
                </p:txBody>
              </p:sp>
              <p:sp>
                <p:nvSpPr>
                  <p:cNvPr id="44" name="ZoneTexte 43">
                    <a:extLst>
                      <a:ext uri="{FF2B5EF4-FFF2-40B4-BE49-F238E27FC236}">
                        <a16:creationId xmlns:a16="http://schemas.microsoft.com/office/drawing/2014/main" id="{01796121-08D1-45FE-A465-70634D6436BC}"/>
                      </a:ext>
                    </a:extLst>
                  </p:cNvPr>
                  <p:cNvSpPr txBox="1"/>
                  <p:nvPr/>
                </p:nvSpPr>
                <p:spPr>
                  <a:xfrm>
                    <a:off x="10955904" y="5350233"/>
                    <a:ext cx="1209675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fr-FR" sz="1200" i="1" dirty="0"/>
                      <a:t>155.9</a:t>
                    </a:r>
                  </a:p>
                </p:txBody>
              </p:sp>
            </p:grpSp>
            <p:grpSp>
              <p:nvGrpSpPr>
                <p:cNvPr id="46" name="Groupe 45">
                  <a:extLst>
                    <a:ext uri="{FF2B5EF4-FFF2-40B4-BE49-F238E27FC236}">
                      <a16:creationId xmlns:a16="http://schemas.microsoft.com/office/drawing/2014/main" id="{5AE2679B-651D-4C56-AAA8-6B42CA2175D6}"/>
                    </a:ext>
                  </a:extLst>
                </p:cNvPr>
                <p:cNvGrpSpPr/>
                <p:nvPr/>
              </p:nvGrpSpPr>
              <p:grpSpPr>
                <a:xfrm>
                  <a:off x="3388246" y="2949631"/>
                  <a:ext cx="8526679" cy="2782257"/>
                  <a:chOff x="3388246" y="3063932"/>
                  <a:chExt cx="8526680" cy="2226391"/>
                </a:xfrm>
              </p:grpSpPr>
              <p:cxnSp>
                <p:nvCxnSpPr>
                  <p:cNvPr id="48" name="Connecteur droit 47">
                    <a:extLst>
                      <a:ext uri="{FF2B5EF4-FFF2-40B4-BE49-F238E27FC236}">
                        <a16:creationId xmlns:a16="http://schemas.microsoft.com/office/drawing/2014/main" id="{7C3BF9ED-A07E-4578-AD97-C165327514A0}"/>
                      </a:ext>
                    </a:extLst>
                  </p:cNvPr>
                  <p:cNvCxnSpPr/>
                  <p:nvPr/>
                </p:nvCxnSpPr>
                <p:spPr>
                  <a:xfrm>
                    <a:off x="3388246" y="3083633"/>
                    <a:ext cx="0" cy="2206690"/>
                  </a:xfrm>
                  <a:prstGeom prst="line">
                    <a:avLst/>
                  </a:prstGeom>
                  <a:ln w="28575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9" name="Connecteur droit 48">
                    <a:extLst>
                      <a:ext uri="{FF2B5EF4-FFF2-40B4-BE49-F238E27FC236}">
                        <a16:creationId xmlns:a16="http://schemas.microsoft.com/office/drawing/2014/main" id="{C27D4B9A-1E68-45B8-9D35-FD7CFA411DD2}"/>
                      </a:ext>
                    </a:extLst>
                  </p:cNvPr>
                  <p:cNvCxnSpPr/>
                  <p:nvPr/>
                </p:nvCxnSpPr>
                <p:spPr>
                  <a:xfrm>
                    <a:off x="4079660" y="3082426"/>
                    <a:ext cx="0" cy="2206690"/>
                  </a:xfrm>
                  <a:prstGeom prst="line">
                    <a:avLst/>
                  </a:prstGeom>
                  <a:ln w="28575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0" name="Connecteur droit 49">
                    <a:extLst>
                      <a:ext uri="{FF2B5EF4-FFF2-40B4-BE49-F238E27FC236}">
                        <a16:creationId xmlns:a16="http://schemas.microsoft.com/office/drawing/2014/main" id="{2C32C859-C7D0-4735-B48A-47395157834A}"/>
                      </a:ext>
                    </a:extLst>
                  </p:cNvPr>
                  <p:cNvCxnSpPr/>
                  <p:nvPr/>
                </p:nvCxnSpPr>
                <p:spPr>
                  <a:xfrm>
                    <a:off x="4799951" y="3080624"/>
                    <a:ext cx="0" cy="2206690"/>
                  </a:xfrm>
                  <a:prstGeom prst="line">
                    <a:avLst/>
                  </a:prstGeom>
                  <a:ln w="28575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3" name="Connecteur droit 52">
                    <a:extLst>
                      <a:ext uri="{FF2B5EF4-FFF2-40B4-BE49-F238E27FC236}">
                        <a16:creationId xmlns:a16="http://schemas.microsoft.com/office/drawing/2014/main" id="{BFA4A90D-B9AC-4B7A-9932-2183DD71A597}"/>
                      </a:ext>
                    </a:extLst>
                  </p:cNvPr>
                  <p:cNvCxnSpPr/>
                  <p:nvPr/>
                </p:nvCxnSpPr>
                <p:spPr>
                  <a:xfrm>
                    <a:off x="5527460" y="3076088"/>
                    <a:ext cx="0" cy="2206690"/>
                  </a:xfrm>
                  <a:prstGeom prst="line">
                    <a:avLst/>
                  </a:prstGeom>
                  <a:ln w="28575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6" name="Connecteur droit 55">
                    <a:extLst>
                      <a:ext uri="{FF2B5EF4-FFF2-40B4-BE49-F238E27FC236}">
                        <a16:creationId xmlns:a16="http://schemas.microsoft.com/office/drawing/2014/main" id="{9A5BFF06-1D25-45CF-B4DF-DD7AF16DE3E2}"/>
                      </a:ext>
                    </a:extLst>
                  </p:cNvPr>
                  <p:cNvCxnSpPr/>
                  <p:nvPr/>
                </p:nvCxnSpPr>
                <p:spPr>
                  <a:xfrm>
                    <a:off x="6222785" y="3076088"/>
                    <a:ext cx="0" cy="2206690"/>
                  </a:xfrm>
                  <a:prstGeom prst="line">
                    <a:avLst/>
                  </a:prstGeom>
                  <a:ln w="28575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7" name="Connecteur droit 56">
                    <a:extLst>
                      <a:ext uri="{FF2B5EF4-FFF2-40B4-BE49-F238E27FC236}">
                        <a16:creationId xmlns:a16="http://schemas.microsoft.com/office/drawing/2014/main" id="{34C7869F-DC2A-4304-8E89-D9E14C4F779D}"/>
                      </a:ext>
                    </a:extLst>
                  </p:cNvPr>
                  <p:cNvCxnSpPr/>
                  <p:nvPr/>
                </p:nvCxnSpPr>
                <p:spPr>
                  <a:xfrm>
                    <a:off x="6941072" y="3079097"/>
                    <a:ext cx="0" cy="2206690"/>
                  </a:xfrm>
                  <a:prstGeom prst="line">
                    <a:avLst/>
                  </a:prstGeom>
                  <a:ln w="28575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8" name="Connecteur droit 57">
                    <a:extLst>
                      <a:ext uri="{FF2B5EF4-FFF2-40B4-BE49-F238E27FC236}">
                        <a16:creationId xmlns:a16="http://schemas.microsoft.com/office/drawing/2014/main" id="{25CF8488-FA82-4518-9636-7E8B442252C4}"/>
                      </a:ext>
                    </a:extLst>
                  </p:cNvPr>
                  <p:cNvCxnSpPr/>
                  <p:nvPr/>
                </p:nvCxnSpPr>
                <p:spPr>
                  <a:xfrm>
                    <a:off x="7632486" y="3077890"/>
                    <a:ext cx="0" cy="2206690"/>
                  </a:xfrm>
                  <a:prstGeom prst="line">
                    <a:avLst/>
                  </a:prstGeom>
                  <a:ln w="28575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9" name="Connecteur droit 58">
                    <a:extLst>
                      <a:ext uri="{FF2B5EF4-FFF2-40B4-BE49-F238E27FC236}">
                        <a16:creationId xmlns:a16="http://schemas.microsoft.com/office/drawing/2014/main" id="{B62ACFED-F731-4CCA-9F45-BE3DB030C67C}"/>
                      </a:ext>
                    </a:extLst>
                  </p:cNvPr>
                  <p:cNvCxnSpPr/>
                  <p:nvPr/>
                </p:nvCxnSpPr>
                <p:spPr>
                  <a:xfrm>
                    <a:off x="8352777" y="3076088"/>
                    <a:ext cx="0" cy="2206690"/>
                  </a:xfrm>
                  <a:prstGeom prst="line">
                    <a:avLst/>
                  </a:prstGeom>
                  <a:ln w="28575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0" name="Connecteur droit 59">
                    <a:extLst>
                      <a:ext uri="{FF2B5EF4-FFF2-40B4-BE49-F238E27FC236}">
                        <a16:creationId xmlns:a16="http://schemas.microsoft.com/office/drawing/2014/main" id="{E1083197-032B-472F-A117-041CD6DDDC75}"/>
                      </a:ext>
                    </a:extLst>
                  </p:cNvPr>
                  <p:cNvCxnSpPr/>
                  <p:nvPr/>
                </p:nvCxnSpPr>
                <p:spPr>
                  <a:xfrm>
                    <a:off x="9080286" y="3071552"/>
                    <a:ext cx="0" cy="2206690"/>
                  </a:xfrm>
                  <a:prstGeom prst="line">
                    <a:avLst/>
                  </a:prstGeom>
                  <a:ln w="28575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" name="Connecteur droit 60">
                    <a:extLst>
                      <a:ext uri="{FF2B5EF4-FFF2-40B4-BE49-F238E27FC236}">
                        <a16:creationId xmlns:a16="http://schemas.microsoft.com/office/drawing/2014/main" id="{AB0B0FBA-8684-467F-AF5D-2D360BE74223}"/>
                      </a:ext>
                    </a:extLst>
                  </p:cNvPr>
                  <p:cNvCxnSpPr/>
                  <p:nvPr/>
                </p:nvCxnSpPr>
                <p:spPr>
                  <a:xfrm>
                    <a:off x="9775712" y="3071477"/>
                    <a:ext cx="0" cy="2206690"/>
                  </a:xfrm>
                  <a:prstGeom prst="line">
                    <a:avLst/>
                  </a:prstGeom>
                  <a:ln w="28575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2" name="Connecteur droit 61">
                    <a:extLst>
                      <a:ext uri="{FF2B5EF4-FFF2-40B4-BE49-F238E27FC236}">
                        <a16:creationId xmlns:a16="http://schemas.microsoft.com/office/drawing/2014/main" id="{8DB9C12C-5CC2-44E6-87CF-A91CBC3A7166}"/>
                      </a:ext>
                    </a:extLst>
                  </p:cNvPr>
                  <p:cNvCxnSpPr/>
                  <p:nvPr/>
                </p:nvCxnSpPr>
                <p:spPr>
                  <a:xfrm>
                    <a:off x="10467126" y="3070270"/>
                    <a:ext cx="0" cy="2206690"/>
                  </a:xfrm>
                  <a:prstGeom prst="line">
                    <a:avLst/>
                  </a:prstGeom>
                  <a:ln w="28575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3" name="Connecteur droit 62">
                    <a:extLst>
                      <a:ext uri="{FF2B5EF4-FFF2-40B4-BE49-F238E27FC236}">
                        <a16:creationId xmlns:a16="http://schemas.microsoft.com/office/drawing/2014/main" id="{E7B5267B-31C4-4B70-888F-FF62D5F9780A}"/>
                      </a:ext>
                    </a:extLst>
                  </p:cNvPr>
                  <p:cNvCxnSpPr/>
                  <p:nvPr/>
                </p:nvCxnSpPr>
                <p:spPr>
                  <a:xfrm>
                    <a:off x="11187417" y="3068468"/>
                    <a:ext cx="0" cy="2206690"/>
                  </a:xfrm>
                  <a:prstGeom prst="line">
                    <a:avLst/>
                  </a:prstGeom>
                  <a:ln w="28575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4" name="Connecteur droit 63">
                    <a:extLst>
                      <a:ext uri="{FF2B5EF4-FFF2-40B4-BE49-F238E27FC236}">
                        <a16:creationId xmlns:a16="http://schemas.microsoft.com/office/drawing/2014/main" id="{6DB6C65C-96C6-44C1-95F3-5D3F656CD7AF}"/>
                      </a:ext>
                    </a:extLst>
                  </p:cNvPr>
                  <p:cNvCxnSpPr/>
                  <p:nvPr/>
                </p:nvCxnSpPr>
                <p:spPr>
                  <a:xfrm>
                    <a:off x="11914926" y="3063932"/>
                    <a:ext cx="0" cy="2206690"/>
                  </a:xfrm>
                  <a:prstGeom prst="line">
                    <a:avLst/>
                  </a:prstGeom>
                  <a:ln w="28575">
                    <a:solidFill>
                      <a:schemeClr val="tx1">
                        <a:lumMod val="50000"/>
                        <a:lumOff val="50000"/>
                      </a:schemeClr>
                    </a:solidFill>
                    <a:prstDash val="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65" name="ZoneTexte 64">
                <a:extLst>
                  <a:ext uri="{FF2B5EF4-FFF2-40B4-BE49-F238E27FC236}">
                    <a16:creationId xmlns:a16="http://schemas.microsoft.com/office/drawing/2014/main" id="{A5037999-B0D1-43EF-853A-A4AA114786B0}"/>
                  </a:ext>
                </a:extLst>
              </p:cNvPr>
              <p:cNvSpPr txBox="1"/>
              <p:nvPr/>
            </p:nvSpPr>
            <p:spPr>
              <a:xfrm>
                <a:off x="6486585" y="2520733"/>
                <a:ext cx="5388547" cy="925878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 anchor="b">
                <a:noAutofit/>
              </a:bodyPr>
              <a:lstStyle/>
              <a:p>
                <a:pPr algn="ctr"/>
                <a:r>
                  <a:rPr lang="fr-FR" sz="1200" b="1" dirty="0"/>
                  <a:t>Transistor Structure Variation </a:t>
                </a:r>
                <a:r>
                  <a:rPr lang="fr-FR" sz="1200" b="1" dirty="0" err="1"/>
                  <a:t>Yield</a:t>
                </a:r>
                <a:endParaRPr lang="fr-FR" sz="1200" b="1" dirty="0"/>
              </a:p>
            </p:txBody>
          </p:sp>
          <p:grpSp>
            <p:nvGrpSpPr>
              <p:cNvPr id="8" name="Groupe 7">
                <a:extLst>
                  <a:ext uri="{FF2B5EF4-FFF2-40B4-BE49-F238E27FC236}">
                    <a16:creationId xmlns:a16="http://schemas.microsoft.com/office/drawing/2014/main" id="{02AB9EDE-E3C6-4EB1-88BE-EE4A802864B5}"/>
                  </a:ext>
                </a:extLst>
              </p:cNvPr>
              <p:cNvGrpSpPr/>
              <p:nvPr/>
            </p:nvGrpSpPr>
            <p:grpSpPr>
              <a:xfrm>
                <a:off x="5591175" y="4274011"/>
                <a:ext cx="580862" cy="707446"/>
                <a:chOff x="5051697" y="3710091"/>
                <a:chExt cx="1120340" cy="707446"/>
              </a:xfrm>
            </p:grpSpPr>
            <p:sp>
              <p:nvSpPr>
                <p:cNvPr id="66" name="Flèche : droite 65">
                  <a:extLst>
                    <a:ext uri="{FF2B5EF4-FFF2-40B4-BE49-F238E27FC236}">
                      <a16:creationId xmlns:a16="http://schemas.microsoft.com/office/drawing/2014/main" id="{26E876BF-A6E6-422C-8C22-1CEFA47444DD}"/>
                    </a:ext>
                  </a:extLst>
                </p:cNvPr>
                <p:cNvSpPr/>
                <p:nvPr/>
              </p:nvSpPr>
              <p:spPr>
                <a:xfrm>
                  <a:off x="5071184" y="3763702"/>
                  <a:ext cx="1100853" cy="653835"/>
                </a:xfrm>
                <a:prstGeom prst="rightArrow">
                  <a:avLst/>
                </a:prstGeom>
                <a:solidFill>
                  <a:schemeClr val="accent1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" name="Flèche : droite 1">
                  <a:extLst>
                    <a:ext uri="{FF2B5EF4-FFF2-40B4-BE49-F238E27FC236}">
                      <a16:creationId xmlns:a16="http://schemas.microsoft.com/office/drawing/2014/main" id="{CA51EE5B-3BDB-4A1A-B054-D659D821C133}"/>
                    </a:ext>
                  </a:extLst>
                </p:cNvPr>
                <p:cNvSpPr/>
                <p:nvPr/>
              </p:nvSpPr>
              <p:spPr>
                <a:xfrm>
                  <a:off x="5051697" y="3710091"/>
                  <a:ext cx="1100853" cy="653835"/>
                </a:xfrm>
                <a:prstGeom prst="rightArrow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</p:grpSp>
        <p:pic>
          <p:nvPicPr>
            <p:cNvPr id="72" name="Image 71">
              <a:extLst>
                <a:ext uri="{FF2B5EF4-FFF2-40B4-BE49-F238E27FC236}">
                  <a16:creationId xmlns:a16="http://schemas.microsoft.com/office/drawing/2014/main" id="{E9243175-84D6-48C4-BDB4-4C01B3DB1DC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8500" t="4364" r="27141" b="73709"/>
            <a:stretch/>
          </p:blipFill>
          <p:spPr>
            <a:xfrm>
              <a:off x="1852246" y="4223150"/>
              <a:ext cx="2585872" cy="2327711"/>
            </a:xfrm>
            <a:prstGeom prst="rect">
              <a:avLst/>
            </a:prstGeom>
          </p:spPr>
        </p:pic>
        <p:sp>
          <p:nvSpPr>
            <p:cNvPr id="75" name="ZoneTexte 74">
              <a:extLst>
                <a:ext uri="{FF2B5EF4-FFF2-40B4-BE49-F238E27FC236}">
                  <a16:creationId xmlns:a16="http://schemas.microsoft.com/office/drawing/2014/main" id="{1937D5F4-4961-4A60-B3C5-10786B64B6AE}"/>
                </a:ext>
              </a:extLst>
            </p:cNvPr>
            <p:cNvSpPr txBox="1"/>
            <p:nvPr/>
          </p:nvSpPr>
          <p:spPr>
            <a:xfrm>
              <a:off x="919478" y="3468076"/>
              <a:ext cx="79518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dirty="0">
                <a:solidFill>
                  <a:srgbClr val="6C747F"/>
                </a:solidFill>
                <a:effectLst/>
              </a:endParaRPr>
            </a:p>
          </p:txBody>
        </p:sp>
      </p:grpSp>
      <p:sp>
        <p:nvSpPr>
          <p:cNvPr id="77" name="Rectangle : coins arrondis 76">
            <a:extLst>
              <a:ext uri="{FF2B5EF4-FFF2-40B4-BE49-F238E27FC236}">
                <a16:creationId xmlns:a16="http://schemas.microsoft.com/office/drawing/2014/main" id="{3F1D9364-FB17-423E-885F-F35FA533E885}"/>
              </a:ext>
            </a:extLst>
          </p:cNvPr>
          <p:cNvSpPr/>
          <p:nvPr/>
        </p:nvSpPr>
        <p:spPr>
          <a:xfrm>
            <a:off x="816422" y="1366668"/>
            <a:ext cx="4074745" cy="1487539"/>
          </a:xfrm>
          <a:prstGeom prst="roundRect">
            <a:avLst>
              <a:gd name="adj" fmla="val 5108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53A3354-D6B2-4B5E-A1BE-C95ADB1E6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3E120-D10E-4965-94AF-FE28403C3DAC}" type="slidenum">
              <a:rPr lang="fr-FR" smtClean="0"/>
              <a:t>3</a:t>
            </a:fld>
            <a:endParaRPr lang="fr-FR" dirty="0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5AB7E328-1CA7-44B7-86AE-5B80F682BCC3}"/>
              </a:ext>
            </a:extLst>
          </p:cNvPr>
          <p:cNvSpPr txBox="1"/>
          <p:nvPr/>
        </p:nvSpPr>
        <p:spPr>
          <a:xfrm>
            <a:off x="142875" y="289796"/>
            <a:ext cx="5098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i="1" dirty="0" err="1">
                <a:solidFill>
                  <a:srgbClr val="6C747F"/>
                </a:solidFill>
              </a:rPr>
              <a:t>Lab</a:t>
            </a:r>
            <a:r>
              <a:rPr lang="fr-FR" sz="3600" b="1" i="1" dirty="0">
                <a:solidFill>
                  <a:srgbClr val="6C747F"/>
                </a:solidFill>
              </a:rPr>
              <a:t> </a:t>
            </a:r>
            <a:r>
              <a:rPr lang="fr-FR" sz="3600" b="1" i="1" dirty="0" err="1">
                <a:solidFill>
                  <a:srgbClr val="6C747F"/>
                </a:solidFill>
              </a:rPr>
              <a:t>Experience</a:t>
            </a:r>
            <a:r>
              <a:rPr lang="fr-FR" sz="3600" b="1" i="1" dirty="0">
                <a:solidFill>
                  <a:srgbClr val="6C747F"/>
                </a:solidFill>
              </a:rPr>
              <a:t> @CEA</a:t>
            </a:r>
          </a:p>
        </p:txBody>
      </p: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44D5BCD5-3E02-4CA4-BC06-81F5E21AEE9B}"/>
              </a:ext>
            </a:extLst>
          </p:cNvPr>
          <p:cNvGrpSpPr/>
          <p:nvPr/>
        </p:nvGrpSpPr>
        <p:grpSpPr>
          <a:xfrm>
            <a:off x="-677008" y="988705"/>
            <a:ext cx="5058508" cy="2074657"/>
            <a:chOff x="-677008" y="988705"/>
            <a:chExt cx="5058508" cy="2074657"/>
          </a:xfrm>
        </p:grpSpPr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8A1AE3BC-8B70-4832-ABD7-6721A13C50F5}"/>
                </a:ext>
              </a:extLst>
            </p:cNvPr>
            <p:cNvCxnSpPr>
              <a:cxnSpLocks/>
            </p:cNvCxnSpPr>
            <p:nvPr/>
          </p:nvCxnSpPr>
          <p:spPr>
            <a:xfrm>
              <a:off x="-677008" y="1009219"/>
              <a:ext cx="5058508" cy="0"/>
            </a:xfrm>
            <a:prstGeom prst="line">
              <a:avLst/>
            </a:prstGeom>
            <a:ln w="38100">
              <a:solidFill>
                <a:schemeClr val="accent1">
                  <a:lumMod val="50000"/>
                </a:schemeClr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orme libre : forme 18">
              <a:extLst>
                <a:ext uri="{FF2B5EF4-FFF2-40B4-BE49-F238E27FC236}">
                  <a16:creationId xmlns:a16="http://schemas.microsoft.com/office/drawing/2014/main" id="{59DCF7C9-D82B-410B-92D2-08EF79A8881B}"/>
                </a:ext>
              </a:extLst>
            </p:cNvPr>
            <p:cNvSpPr/>
            <p:nvPr/>
          </p:nvSpPr>
          <p:spPr>
            <a:xfrm>
              <a:off x="-155329" y="1014023"/>
              <a:ext cx="3501536" cy="2049339"/>
            </a:xfrm>
            <a:custGeom>
              <a:avLst/>
              <a:gdLst>
                <a:gd name="connsiteX0" fmla="*/ 19071 w 3043625"/>
                <a:gd name="connsiteY0" fmla="*/ 1972264 h 1972264"/>
                <a:gd name="connsiteX1" fmla="*/ 449894 w 3043625"/>
                <a:gd name="connsiteY1" fmla="*/ 292934 h 1972264"/>
                <a:gd name="connsiteX2" fmla="*/ 3043625 w 3043625"/>
                <a:gd name="connsiteY2" fmla="*/ 11580 h 1972264"/>
                <a:gd name="connsiteX0" fmla="*/ 5294 w 3214486"/>
                <a:gd name="connsiteY0" fmla="*/ 2033810 h 2033810"/>
                <a:gd name="connsiteX1" fmla="*/ 620755 w 3214486"/>
                <a:gd name="connsiteY1" fmla="*/ 292934 h 2033810"/>
                <a:gd name="connsiteX2" fmla="*/ 3214486 w 3214486"/>
                <a:gd name="connsiteY2" fmla="*/ 11580 h 2033810"/>
                <a:gd name="connsiteX0" fmla="*/ 0 w 3209192"/>
                <a:gd name="connsiteY0" fmla="*/ 2033810 h 2033810"/>
                <a:gd name="connsiteX1" fmla="*/ 615461 w 3209192"/>
                <a:gd name="connsiteY1" fmla="*/ 292934 h 2033810"/>
                <a:gd name="connsiteX2" fmla="*/ 3209192 w 3209192"/>
                <a:gd name="connsiteY2" fmla="*/ 11580 h 2033810"/>
                <a:gd name="connsiteX0" fmla="*/ 0 w 3209192"/>
                <a:gd name="connsiteY0" fmla="*/ 2037048 h 2037048"/>
                <a:gd name="connsiteX1" fmla="*/ 624253 w 3209192"/>
                <a:gd name="connsiteY1" fmla="*/ 278588 h 2037048"/>
                <a:gd name="connsiteX2" fmla="*/ 3209192 w 3209192"/>
                <a:gd name="connsiteY2" fmla="*/ 14818 h 2037048"/>
                <a:gd name="connsiteX0" fmla="*/ 0 w 3472961"/>
                <a:gd name="connsiteY0" fmla="*/ 2051394 h 2051394"/>
                <a:gd name="connsiteX1" fmla="*/ 624253 w 3472961"/>
                <a:gd name="connsiteY1" fmla="*/ 292934 h 2051394"/>
                <a:gd name="connsiteX2" fmla="*/ 3472961 w 3472961"/>
                <a:gd name="connsiteY2" fmla="*/ 11580 h 2051394"/>
                <a:gd name="connsiteX0" fmla="*/ 0 w 3472961"/>
                <a:gd name="connsiteY0" fmla="*/ 2047904 h 2047904"/>
                <a:gd name="connsiteX1" fmla="*/ 615461 w 3472961"/>
                <a:gd name="connsiteY1" fmla="*/ 315821 h 2047904"/>
                <a:gd name="connsiteX2" fmla="*/ 3472961 w 3472961"/>
                <a:gd name="connsiteY2" fmla="*/ 8090 h 2047904"/>
                <a:gd name="connsiteX0" fmla="*/ 0 w 3501536"/>
                <a:gd name="connsiteY0" fmla="*/ 2056500 h 2056500"/>
                <a:gd name="connsiteX1" fmla="*/ 615461 w 3501536"/>
                <a:gd name="connsiteY1" fmla="*/ 324417 h 2056500"/>
                <a:gd name="connsiteX2" fmla="*/ 3501536 w 3501536"/>
                <a:gd name="connsiteY2" fmla="*/ 7161 h 2056500"/>
                <a:gd name="connsiteX0" fmla="*/ 0 w 3501536"/>
                <a:gd name="connsiteY0" fmla="*/ 2049339 h 2049339"/>
                <a:gd name="connsiteX1" fmla="*/ 615461 w 3501536"/>
                <a:gd name="connsiteY1" fmla="*/ 317256 h 2049339"/>
                <a:gd name="connsiteX2" fmla="*/ 3501536 w 3501536"/>
                <a:gd name="connsiteY2" fmla="*/ 0 h 2049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01536" h="2049339">
                  <a:moveTo>
                    <a:pt x="0" y="2049339"/>
                  </a:moveTo>
                  <a:cubicBezTo>
                    <a:pt x="42496" y="1311517"/>
                    <a:pt x="111369" y="644037"/>
                    <a:pt x="615461" y="317256"/>
                  </a:cubicBezTo>
                  <a:cubicBezTo>
                    <a:pt x="1119553" y="-9525"/>
                    <a:pt x="2447191" y="15386"/>
                    <a:pt x="3501536" y="0"/>
                  </a:cubicBezTo>
                </a:path>
              </a:pathLst>
            </a:custGeom>
            <a:noFill/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13" name="Forme libre : forme 12">
              <a:extLst>
                <a:ext uri="{FF2B5EF4-FFF2-40B4-BE49-F238E27FC236}">
                  <a16:creationId xmlns:a16="http://schemas.microsoft.com/office/drawing/2014/main" id="{E84B1851-5A65-4996-9239-68F944A5866B}"/>
                </a:ext>
              </a:extLst>
            </p:cNvPr>
            <p:cNvSpPr/>
            <p:nvPr/>
          </p:nvSpPr>
          <p:spPr>
            <a:xfrm>
              <a:off x="-193429" y="994973"/>
              <a:ext cx="3501536" cy="2049339"/>
            </a:xfrm>
            <a:custGeom>
              <a:avLst/>
              <a:gdLst>
                <a:gd name="connsiteX0" fmla="*/ 19071 w 3043625"/>
                <a:gd name="connsiteY0" fmla="*/ 1972264 h 1972264"/>
                <a:gd name="connsiteX1" fmla="*/ 449894 w 3043625"/>
                <a:gd name="connsiteY1" fmla="*/ 292934 h 1972264"/>
                <a:gd name="connsiteX2" fmla="*/ 3043625 w 3043625"/>
                <a:gd name="connsiteY2" fmla="*/ 11580 h 1972264"/>
                <a:gd name="connsiteX0" fmla="*/ 5294 w 3214486"/>
                <a:gd name="connsiteY0" fmla="*/ 2033810 h 2033810"/>
                <a:gd name="connsiteX1" fmla="*/ 620755 w 3214486"/>
                <a:gd name="connsiteY1" fmla="*/ 292934 h 2033810"/>
                <a:gd name="connsiteX2" fmla="*/ 3214486 w 3214486"/>
                <a:gd name="connsiteY2" fmla="*/ 11580 h 2033810"/>
                <a:gd name="connsiteX0" fmla="*/ 0 w 3209192"/>
                <a:gd name="connsiteY0" fmla="*/ 2033810 h 2033810"/>
                <a:gd name="connsiteX1" fmla="*/ 615461 w 3209192"/>
                <a:gd name="connsiteY1" fmla="*/ 292934 h 2033810"/>
                <a:gd name="connsiteX2" fmla="*/ 3209192 w 3209192"/>
                <a:gd name="connsiteY2" fmla="*/ 11580 h 2033810"/>
                <a:gd name="connsiteX0" fmla="*/ 0 w 3209192"/>
                <a:gd name="connsiteY0" fmla="*/ 2037048 h 2037048"/>
                <a:gd name="connsiteX1" fmla="*/ 624253 w 3209192"/>
                <a:gd name="connsiteY1" fmla="*/ 278588 h 2037048"/>
                <a:gd name="connsiteX2" fmla="*/ 3209192 w 3209192"/>
                <a:gd name="connsiteY2" fmla="*/ 14818 h 2037048"/>
                <a:gd name="connsiteX0" fmla="*/ 0 w 3472961"/>
                <a:gd name="connsiteY0" fmla="*/ 2051394 h 2051394"/>
                <a:gd name="connsiteX1" fmla="*/ 624253 w 3472961"/>
                <a:gd name="connsiteY1" fmla="*/ 292934 h 2051394"/>
                <a:gd name="connsiteX2" fmla="*/ 3472961 w 3472961"/>
                <a:gd name="connsiteY2" fmla="*/ 11580 h 2051394"/>
                <a:gd name="connsiteX0" fmla="*/ 0 w 3472961"/>
                <a:gd name="connsiteY0" fmla="*/ 2047904 h 2047904"/>
                <a:gd name="connsiteX1" fmla="*/ 615461 w 3472961"/>
                <a:gd name="connsiteY1" fmla="*/ 315821 h 2047904"/>
                <a:gd name="connsiteX2" fmla="*/ 3472961 w 3472961"/>
                <a:gd name="connsiteY2" fmla="*/ 8090 h 2047904"/>
                <a:gd name="connsiteX0" fmla="*/ 0 w 3501536"/>
                <a:gd name="connsiteY0" fmla="*/ 2056500 h 2056500"/>
                <a:gd name="connsiteX1" fmla="*/ 615461 w 3501536"/>
                <a:gd name="connsiteY1" fmla="*/ 324417 h 2056500"/>
                <a:gd name="connsiteX2" fmla="*/ 3501536 w 3501536"/>
                <a:gd name="connsiteY2" fmla="*/ 7161 h 2056500"/>
                <a:gd name="connsiteX0" fmla="*/ 0 w 3501536"/>
                <a:gd name="connsiteY0" fmla="*/ 2049339 h 2049339"/>
                <a:gd name="connsiteX1" fmla="*/ 615461 w 3501536"/>
                <a:gd name="connsiteY1" fmla="*/ 317256 h 2049339"/>
                <a:gd name="connsiteX2" fmla="*/ 3501536 w 3501536"/>
                <a:gd name="connsiteY2" fmla="*/ 0 h 2049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01536" h="2049339">
                  <a:moveTo>
                    <a:pt x="0" y="2049339"/>
                  </a:moveTo>
                  <a:cubicBezTo>
                    <a:pt x="42496" y="1311517"/>
                    <a:pt x="111369" y="644037"/>
                    <a:pt x="615461" y="317256"/>
                  </a:cubicBezTo>
                  <a:cubicBezTo>
                    <a:pt x="1119553" y="-9525"/>
                    <a:pt x="2447191" y="15386"/>
                    <a:pt x="3501536" y="0"/>
                  </a:cubicBezTo>
                </a:path>
              </a:pathLst>
            </a:custGeom>
            <a:noFill/>
            <a:ln w="38100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12" name="Connecteur droit 11">
              <a:extLst>
                <a:ext uri="{FF2B5EF4-FFF2-40B4-BE49-F238E27FC236}">
                  <a16:creationId xmlns:a16="http://schemas.microsoft.com/office/drawing/2014/main" id="{E1F4C541-8988-48A8-AEAD-E087D53C9EE8}"/>
                </a:ext>
              </a:extLst>
            </p:cNvPr>
            <p:cNvCxnSpPr>
              <a:cxnSpLocks/>
            </p:cNvCxnSpPr>
            <p:nvPr/>
          </p:nvCxnSpPr>
          <p:spPr>
            <a:xfrm>
              <a:off x="-163595" y="988705"/>
              <a:ext cx="4545095" cy="0"/>
            </a:xfrm>
            <a:prstGeom prst="line">
              <a:avLst/>
            </a:prstGeom>
            <a:ln w="38100">
              <a:solidFill>
                <a:schemeClr val="accent1">
                  <a:lumMod val="40000"/>
                  <a:lumOff val="60000"/>
                </a:schemeClr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Image 2">
            <a:extLst>
              <a:ext uri="{FF2B5EF4-FFF2-40B4-BE49-F238E27FC236}">
                <a16:creationId xmlns:a16="http://schemas.microsoft.com/office/drawing/2014/main" id="{DB0D777B-1F37-47D1-94C2-281026E4A0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8732" y="-3598"/>
            <a:ext cx="1943268" cy="548688"/>
          </a:xfrm>
          <a:prstGeom prst="rect">
            <a:avLst/>
          </a:prstGeom>
        </p:spPr>
      </p:pic>
      <p:pic>
        <p:nvPicPr>
          <p:cNvPr id="51" name="Image 50">
            <a:extLst>
              <a:ext uri="{FF2B5EF4-FFF2-40B4-BE49-F238E27FC236}">
                <a16:creationId xmlns:a16="http://schemas.microsoft.com/office/drawing/2014/main" id="{0D3C8F89-BD45-43ED-9B7E-DC91B96910F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134" y="6006882"/>
            <a:ext cx="1074131" cy="532030"/>
          </a:xfrm>
          <a:prstGeom prst="rect">
            <a:avLst/>
          </a:prstGeom>
        </p:spPr>
      </p:pic>
      <p:sp>
        <p:nvSpPr>
          <p:cNvPr id="52" name="ZoneTexte 51">
            <a:extLst>
              <a:ext uri="{FF2B5EF4-FFF2-40B4-BE49-F238E27FC236}">
                <a16:creationId xmlns:a16="http://schemas.microsoft.com/office/drawing/2014/main" id="{E5C577EA-CDAF-47EB-84F9-C3851CC5446D}"/>
              </a:ext>
            </a:extLst>
          </p:cNvPr>
          <p:cNvSpPr txBox="1"/>
          <p:nvPr/>
        </p:nvSpPr>
        <p:spPr>
          <a:xfrm>
            <a:off x="924958" y="1482697"/>
            <a:ext cx="396620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solidFill>
                  <a:srgbClr val="6C747F"/>
                </a:solidFill>
                <a:effectLst/>
                <a:latin typeface="DM Sans"/>
              </a:rPr>
              <a:t>FDSOI Characterization : </a:t>
            </a:r>
            <a:r>
              <a:rPr lang="en-US" i="0" dirty="0">
                <a:solidFill>
                  <a:srgbClr val="6C747F"/>
                </a:solidFill>
                <a:effectLst/>
                <a:latin typeface="DM Sans"/>
              </a:rPr>
              <a:t>Before any device is dipped into cryogenic equipment, rigorous characterization is essential to optimize lab throughput.</a:t>
            </a:r>
            <a:endParaRPr lang="fr-FR" i="0" dirty="0">
              <a:solidFill>
                <a:srgbClr val="6C747F"/>
              </a:solidFill>
              <a:effectLst/>
              <a:latin typeface="DM Sans"/>
            </a:endParaRPr>
          </a:p>
        </p:txBody>
      </p:sp>
      <p:grpSp>
        <p:nvGrpSpPr>
          <p:cNvPr id="10" name="Groupe 9">
            <a:extLst>
              <a:ext uri="{FF2B5EF4-FFF2-40B4-BE49-F238E27FC236}">
                <a16:creationId xmlns:a16="http://schemas.microsoft.com/office/drawing/2014/main" id="{114E5A48-15E5-4FE8-A8C7-D8EF1D38EE50}"/>
              </a:ext>
            </a:extLst>
          </p:cNvPr>
          <p:cNvGrpSpPr/>
          <p:nvPr/>
        </p:nvGrpSpPr>
        <p:grpSpPr>
          <a:xfrm>
            <a:off x="4982775" y="714548"/>
            <a:ext cx="2660501" cy="2583164"/>
            <a:chOff x="4897555" y="733928"/>
            <a:chExt cx="2660501" cy="2583164"/>
          </a:xfrm>
        </p:grpSpPr>
        <p:pic>
          <p:nvPicPr>
            <p:cNvPr id="14" name="Image 13">
              <a:extLst>
                <a:ext uri="{FF2B5EF4-FFF2-40B4-BE49-F238E27FC236}">
                  <a16:creationId xmlns:a16="http://schemas.microsoft.com/office/drawing/2014/main" id="{A4911247-F161-48AB-AEC4-0473E99CCCA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897555" y="1143026"/>
              <a:ext cx="2660501" cy="2174066"/>
            </a:xfrm>
            <a:prstGeom prst="rect">
              <a:avLst/>
            </a:prstGeom>
          </p:spPr>
        </p:pic>
        <p:sp>
          <p:nvSpPr>
            <p:cNvPr id="15" name="ZoneTexte 14">
              <a:extLst>
                <a:ext uri="{FF2B5EF4-FFF2-40B4-BE49-F238E27FC236}">
                  <a16:creationId xmlns:a16="http://schemas.microsoft.com/office/drawing/2014/main" id="{F5327CF3-DA9A-42AC-8064-2E670DDA81F5}"/>
                </a:ext>
              </a:extLst>
            </p:cNvPr>
            <p:cNvSpPr txBox="1"/>
            <p:nvPr/>
          </p:nvSpPr>
          <p:spPr>
            <a:xfrm>
              <a:off x="5423974" y="733928"/>
              <a:ext cx="18990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b="1" dirty="0">
                  <a:solidFill>
                    <a:srgbClr val="6C747F"/>
                  </a:solidFill>
                </a:rPr>
                <a:t>Noise </a:t>
              </a:r>
              <a:r>
                <a:rPr lang="fr-FR" b="1" dirty="0" err="1">
                  <a:solidFill>
                    <a:srgbClr val="6C747F"/>
                  </a:solidFill>
                </a:rPr>
                <a:t>analysis</a:t>
              </a:r>
              <a:endParaRPr lang="fr-FR" b="1" dirty="0">
                <a:solidFill>
                  <a:srgbClr val="6C747F"/>
                </a:solidFill>
              </a:endParaRPr>
            </a:p>
          </p:txBody>
        </p:sp>
      </p:grpSp>
      <p:grpSp>
        <p:nvGrpSpPr>
          <p:cNvPr id="17" name="Groupe 16">
            <a:extLst>
              <a:ext uri="{FF2B5EF4-FFF2-40B4-BE49-F238E27FC236}">
                <a16:creationId xmlns:a16="http://schemas.microsoft.com/office/drawing/2014/main" id="{23DE19E7-D3E3-40FB-AAF9-333F810A8653}"/>
              </a:ext>
            </a:extLst>
          </p:cNvPr>
          <p:cNvGrpSpPr/>
          <p:nvPr/>
        </p:nvGrpSpPr>
        <p:grpSpPr>
          <a:xfrm>
            <a:off x="7650898" y="733928"/>
            <a:ext cx="3967448" cy="2493625"/>
            <a:chOff x="7576145" y="733928"/>
            <a:chExt cx="3967448" cy="2493625"/>
          </a:xfrm>
        </p:grpSpPr>
        <p:grpSp>
          <p:nvGrpSpPr>
            <p:cNvPr id="6" name="Groupe 5">
              <a:extLst>
                <a:ext uri="{FF2B5EF4-FFF2-40B4-BE49-F238E27FC236}">
                  <a16:creationId xmlns:a16="http://schemas.microsoft.com/office/drawing/2014/main" id="{CE64A616-1658-4351-9DD8-219332097048}"/>
                </a:ext>
              </a:extLst>
            </p:cNvPr>
            <p:cNvGrpSpPr/>
            <p:nvPr/>
          </p:nvGrpSpPr>
          <p:grpSpPr>
            <a:xfrm>
              <a:off x="7576145" y="1178215"/>
              <a:ext cx="3967448" cy="2049338"/>
              <a:chOff x="1682377" y="1592959"/>
              <a:chExt cx="8016501" cy="4140828"/>
            </a:xfrm>
          </p:grpSpPr>
          <p:pic>
            <p:nvPicPr>
              <p:cNvPr id="67" name="Picture 2">
                <a:extLst>
                  <a:ext uri="{FF2B5EF4-FFF2-40B4-BE49-F238E27FC236}">
                    <a16:creationId xmlns:a16="http://schemas.microsoft.com/office/drawing/2014/main" id="{AD7C7A6E-8544-4F3A-86C4-D2D2DAB1933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682377" y="1592959"/>
                <a:ext cx="8016501" cy="41408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cxnSp>
            <p:nvCxnSpPr>
              <p:cNvPr id="68" name="Connecteur droit avec flèche 67">
                <a:extLst>
                  <a:ext uri="{FF2B5EF4-FFF2-40B4-BE49-F238E27FC236}">
                    <a16:creationId xmlns:a16="http://schemas.microsoft.com/office/drawing/2014/main" id="{48F642A1-CB7C-4529-9E9F-B636F646FED4}"/>
                  </a:ext>
                </a:extLst>
              </p:cNvPr>
              <p:cNvCxnSpPr/>
              <p:nvPr/>
            </p:nvCxnSpPr>
            <p:spPr>
              <a:xfrm>
                <a:off x="3401961" y="4536189"/>
                <a:ext cx="4758813" cy="0"/>
              </a:xfrm>
              <a:prstGeom prst="straightConnector1">
                <a:avLst/>
              </a:prstGeom>
              <a:ln w="111125">
                <a:gradFill flip="none" rotWithShape="1">
                  <a:gsLst>
                    <a:gs pos="0">
                      <a:srgbClr val="F8CB72"/>
                    </a:gs>
                    <a:gs pos="51000">
                      <a:srgbClr val="FF0092"/>
                    </a:gs>
                    <a:gs pos="100000">
                      <a:srgbClr val="5F27FD"/>
                    </a:gs>
                  </a:gsLst>
                  <a:lin ang="0" scaled="1"/>
                  <a:tileRect/>
                </a:gra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9" name="ZoneTexte 68">
                <a:extLst>
                  <a:ext uri="{FF2B5EF4-FFF2-40B4-BE49-F238E27FC236}">
                    <a16:creationId xmlns:a16="http://schemas.microsoft.com/office/drawing/2014/main" id="{5C96E7E0-9EBF-4088-9384-2A2A0B80500B}"/>
                  </a:ext>
                </a:extLst>
              </p:cNvPr>
              <p:cNvSpPr txBox="1"/>
              <p:nvPr/>
            </p:nvSpPr>
            <p:spPr>
              <a:xfrm>
                <a:off x="3153383" y="3702560"/>
                <a:ext cx="1522715" cy="7462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b="1" dirty="0"/>
                  <a:t>+20V</a:t>
                </a:r>
                <a:endParaRPr lang="en-US" b="1" dirty="0"/>
              </a:p>
            </p:txBody>
          </p:sp>
          <p:sp>
            <p:nvSpPr>
              <p:cNvPr id="70" name="ZoneTexte 69">
                <a:extLst>
                  <a:ext uri="{FF2B5EF4-FFF2-40B4-BE49-F238E27FC236}">
                    <a16:creationId xmlns:a16="http://schemas.microsoft.com/office/drawing/2014/main" id="{AFF8312F-5EFF-45C9-84F9-9BBFDD627ABC}"/>
                  </a:ext>
                </a:extLst>
              </p:cNvPr>
              <p:cNvSpPr txBox="1"/>
              <p:nvPr/>
            </p:nvSpPr>
            <p:spPr>
              <a:xfrm>
                <a:off x="7687166" y="3688885"/>
                <a:ext cx="1432060" cy="6667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b="1" dirty="0"/>
                  <a:t>-20V</a:t>
                </a:r>
                <a:endParaRPr lang="en-US" b="1" dirty="0"/>
              </a:p>
            </p:txBody>
          </p:sp>
          <p:sp>
            <p:nvSpPr>
              <p:cNvPr id="71" name="ZoneTexte 70">
                <a:extLst>
                  <a:ext uri="{FF2B5EF4-FFF2-40B4-BE49-F238E27FC236}">
                    <a16:creationId xmlns:a16="http://schemas.microsoft.com/office/drawing/2014/main" id="{21378AB7-E168-4FB7-AB32-D1CD2A773A4D}"/>
                  </a:ext>
                </a:extLst>
              </p:cNvPr>
              <p:cNvSpPr txBox="1"/>
              <p:nvPr/>
            </p:nvSpPr>
            <p:spPr>
              <a:xfrm>
                <a:off x="2231206" y="4232824"/>
                <a:ext cx="1258693" cy="7462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b="1" dirty="0"/>
                  <a:t>VB</a:t>
                </a:r>
                <a:endParaRPr lang="en-US" b="1" dirty="0"/>
              </a:p>
            </p:txBody>
          </p:sp>
        </p:grpSp>
        <p:sp>
          <p:nvSpPr>
            <p:cNvPr id="74" name="ZoneTexte 73">
              <a:extLst>
                <a:ext uri="{FF2B5EF4-FFF2-40B4-BE49-F238E27FC236}">
                  <a16:creationId xmlns:a16="http://schemas.microsoft.com/office/drawing/2014/main" id="{BF68897F-A58E-4ED2-8A96-89EBDAB13645}"/>
                </a:ext>
              </a:extLst>
            </p:cNvPr>
            <p:cNvSpPr txBox="1"/>
            <p:nvPr/>
          </p:nvSpPr>
          <p:spPr>
            <a:xfrm>
              <a:off x="8505607" y="733928"/>
              <a:ext cx="25285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b="1" dirty="0">
                  <a:solidFill>
                    <a:srgbClr val="6C747F"/>
                  </a:solidFill>
                </a:rPr>
                <a:t>Substrat </a:t>
              </a:r>
              <a:r>
                <a:rPr lang="fr-FR" b="1" dirty="0" err="1">
                  <a:solidFill>
                    <a:srgbClr val="6C747F"/>
                  </a:solidFill>
                </a:rPr>
                <a:t>effect</a:t>
              </a:r>
              <a:r>
                <a:rPr lang="fr-FR" b="1" dirty="0">
                  <a:solidFill>
                    <a:srgbClr val="6C747F"/>
                  </a:solidFill>
                </a:rPr>
                <a:t> </a:t>
              </a:r>
              <a:r>
                <a:rPr lang="fr-FR" b="1" dirty="0" err="1">
                  <a:solidFill>
                    <a:srgbClr val="6C747F"/>
                  </a:solidFill>
                </a:rPr>
                <a:t>study</a:t>
              </a:r>
              <a:endParaRPr lang="fr-FR" b="1" dirty="0">
                <a:solidFill>
                  <a:srgbClr val="6C747F"/>
                </a:solidFill>
              </a:endParaRPr>
            </a:p>
          </p:txBody>
        </p:sp>
      </p:grpSp>
      <p:sp>
        <p:nvSpPr>
          <p:cNvPr id="79" name="Rectangle : coins arrondis 78">
            <a:extLst>
              <a:ext uri="{FF2B5EF4-FFF2-40B4-BE49-F238E27FC236}">
                <a16:creationId xmlns:a16="http://schemas.microsoft.com/office/drawing/2014/main" id="{747C4A85-4EB5-4AFA-B693-D9D5CD433446}"/>
              </a:ext>
            </a:extLst>
          </p:cNvPr>
          <p:cNvSpPr/>
          <p:nvPr/>
        </p:nvSpPr>
        <p:spPr>
          <a:xfrm>
            <a:off x="770771" y="3530581"/>
            <a:ext cx="1480771" cy="2267146"/>
          </a:xfrm>
          <a:prstGeom prst="roundRect">
            <a:avLst>
              <a:gd name="adj" fmla="val 5108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6C747F"/>
                </a:solidFill>
                <a:effectLst/>
              </a:rPr>
              <a:t>Dicing Yield optimization </a:t>
            </a:r>
            <a:r>
              <a:rPr lang="en-US" dirty="0">
                <a:solidFill>
                  <a:srgbClr val="6C747F"/>
                </a:solidFill>
                <a:effectLst/>
              </a:rPr>
              <a:t>by testing multiple process techniques</a:t>
            </a:r>
          </a:p>
        </p:txBody>
      </p:sp>
    </p:spTree>
    <p:extLst>
      <p:ext uri="{BB962C8B-B14F-4D97-AF65-F5344CB8AC3E}">
        <p14:creationId xmlns:p14="http://schemas.microsoft.com/office/powerpoint/2010/main" val="1234631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53A3354-D6B2-4B5E-A1BE-C95ADB1E6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3E120-D10E-4965-94AF-FE28403C3DAC}" type="slidenum">
              <a:rPr lang="fr-FR" smtClean="0"/>
              <a:t>4</a:t>
            </a:fld>
            <a:endParaRPr lang="fr-FR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5AB7E328-1CA7-44B7-86AE-5B80F682BCC3}"/>
              </a:ext>
            </a:extLst>
          </p:cNvPr>
          <p:cNvSpPr txBox="1"/>
          <p:nvPr/>
        </p:nvSpPr>
        <p:spPr>
          <a:xfrm>
            <a:off x="142875" y="289796"/>
            <a:ext cx="54483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i="1" dirty="0" err="1">
                <a:solidFill>
                  <a:srgbClr val="6C747F"/>
                </a:solidFill>
              </a:rPr>
              <a:t>Lab</a:t>
            </a:r>
            <a:r>
              <a:rPr lang="fr-FR" sz="3600" b="1" i="1" dirty="0">
                <a:solidFill>
                  <a:srgbClr val="6C747F"/>
                </a:solidFill>
              </a:rPr>
              <a:t> </a:t>
            </a:r>
            <a:r>
              <a:rPr lang="fr-FR" sz="3600" b="1" i="1" dirty="0" err="1">
                <a:solidFill>
                  <a:srgbClr val="6C747F"/>
                </a:solidFill>
              </a:rPr>
              <a:t>Experience</a:t>
            </a:r>
            <a:r>
              <a:rPr lang="fr-FR" sz="3600" b="1" i="1" dirty="0">
                <a:solidFill>
                  <a:srgbClr val="6C747F"/>
                </a:solidFill>
              </a:rPr>
              <a:t> @CEAxISCT</a:t>
            </a:r>
          </a:p>
        </p:txBody>
      </p: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44D5BCD5-3E02-4CA4-BC06-81F5E21AEE9B}"/>
              </a:ext>
            </a:extLst>
          </p:cNvPr>
          <p:cNvGrpSpPr/>
          <p:nvPr/>
        </p:nvGrpSpPr>
        <p:grpSpPr>
          <a:xfrm>
            <a:off x="-677008" y="988705"/>
            <a:ext cx="5058508" cy="2074657"/>
            <a:chOff x="-677008" y="988705"/>
            <a:chExt cx="5058508" cy="2074657"/>
          </a:xfrm>
        </p:grpSpPr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8A1AE3BC-8B70-4832-ABD7-6721A13C50F5}"/>
                </a:ext>
              </a:extLst>
            </p:cNvPr>
            <p:cNvCxnSpPr>
              <a:cxnSpLocks/>
            </p:cNvCxnSpPr>
            <p:nvPr/>
          </p:nvCxnSpPr>
          <p:spPr>
            <a:xfrm>
              <a:off x="-677008" y="1009219"/>
              <a:ext cx="5058508" cy="0"/>
            </a:xfrm>
            <a:prstGeom prst="line">
              <a:avLst/>
            </a:prstGeom>
            <a:ln w="38100">
              <a:solidFill>
                <a:schemeClr val="accent1">
                  <a:lumMod val="50000"/>
                </a:schemeClr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orme libre : forme 18">
              <a:extLst>
                <a:ext uri="{FF2B5EF4-FFF2-40B4-BE49-F238E27FC236}">
                  <a16:creationId xmlns:a16="http://schemas.microsoft.com/office/drawing/2014/main" id="{59DCF7C9-D82B-410B-92D2-08EF79A8881B}"/>
                </a:ext>
              </a:extLst>
            </p:cNvPr>
            <p:cNvSpPr/>
            <p:nvPr/>
          </p:nvSpPr>
          <p:spPr>
            <a:xfrm>
              <a:off x="-155329" y="1014023"/>
              <a:ext cx="3501536" cy="2049339"/>
            </a:xfrm>
            <a:custGeom>
              <a:avLst/>
              <a:gdLst>
                <a:gd name="connsiteX0" fmla="*/ 19071 w 3043625"/>
                <a:gd name="connsiteY0" fmla="*/ 1972264 h 1972264"/>
                <a:gd name="connsiteX1" fmla="*/ 449894 w 3043625"/>
                <a:gd name="connsiteY1" fmla="*/ 292934 h 1972264"/>
                <a:gd name="connsiteX2" fmla="*/ 3043625 w 3043625"/>
                <a:gd name="connsiteY2" fmla="*/ 11580 h 1972264"/>
                <a:gd name="connsiteX0" fmla="*/ 5294 w 3214486"/>
                <a:gd name="connsiteY0" fmla="*/ 2033810 h 2033810"/>
                <a:gd name="connsiteX1" fmla="*/ 620755 w 3214486"/>
                <a:gd name="connsiteY1" fmla="*/ 292934 h 2033810"/>
                <a:gd name="connsiteX2" fmla="*/ 3214486 w 3214486"/>
                <a:gd name="connsiteY2" fmla="*/ 11580 h 2033810"/>
                <a:gd name="connsiteX0" fmla="*/ 0 w 3209192"/>
                <a:gd name="connsiteY0" fmla="*/ 2033810 h 2033810"/>
                <a:gd name="connsiteX1" fmla="*/ 615461 w 3209192"/>
                <a:gd name="connsiteY1" fmla="*/ 292934 h 2033810"/>
                <a:gd name="connsiteX2" fmla="*/ 3209192 w 3209192"/>
                <a:gd name="connsiteY2" fmla="*/ 11580 h 2033810"/>
                <a:gd name="connsiteX0" fmla="*/ 0 w 3209192"/>
                <a:gd name="connsiteY0" fmla="*/ 2037048 h 2037048"/>
                <a:gd name="connsiteX1" fmla="*/ 624253 w 3209192"/>
                <a:gd name="connsiteY1" fmla="*/ 278588 h 2037048"/>
                <a:gd name="connsiteX2" fmla="*/ 3209192 w 3209192"/>
                <a:gd name="connsiteY2" fmla="*/ 14818 h 2037048"/>
                <a:gd name="connsiteX0" fmla="*/ 0 w 3472961"/>
                <a:gd name="connsiteY0" fmla="*/ 2051394 h 2051394"/>
                <a:gd name="connsiteX1" fmla="*/ 624253 w 3472961"/>
                <a:gd name="connsiteY1" fmla="*/ 292934 h 2051394"/>
                <a:gd name="connsiteX2" fmla="*/ 3472961 w 3472961"/>
                <a:gd name="connsiteY2" fmla="*/ 11580 h 2051394"/>
                <a:gd name="connsiteX0" fmla="*/ 0 w 3472961"/>
                <a:gd name="connsiteY0" fmla="*/ 2047904 h 2047904"/>
                <a:gd name="connsiteX1" fmla="*/ 615461 w 3472961"/>
                <a:gd name="connsiteY1" fmla="*/ 315821 h 2047904"/>
                <a:gd name="connsiteX2" fmla="*/ 3472961 w 3472961"/>
                <a:gd name="connsiteY2" fmla="*/ 8090 h 2047904"/>
                <a:gd name="connsiteX0" fmla="*/ 0 w 3501536"/>
                <a:gd name="connsiteY0" fmla="*/ 2056500 h 2056500"/>
                <a:gd name="connsiteX1" fmla="*/ 615461 w 3501536"/>
                <a:gd name="connsiteY1" fmla="*/ 324417 h 2056500"/>
                <a:gd name="connsiteX2" fmla="*/ 3501536 w 3501536"/>
                <a:gd name="connsiteY2" fmla="*/ 7161 h 2056500"/>
                <a:gd name="connsiteX0" fmla="*/ 0 w 3501536"/>
                <a:gd name="connsiteY0" fmla="*/ 2049339 h 2049339"/>
                <a:gd name="connsiteX1" fmla="*/ 615461 w 3501536"/>
                <a:gd name="connsiteY1" fmla="*/ 317256 h 2049339"/>
                <a:gd name="connsiteX2" fmla="*/ 3501536 w 3501536"/>
                <a:gd name="connsiteY2" fmla="*/ 0 h 2049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01536" h="2049339">
                  <a:moveTo>
                    <a:pt x="0" y="2049339"/>
                  </a:moveTo>
                  <a:cubicBezTo>
                    <a:pt x="42496" y="1311517"/>
                    <a:pt x="111369" y="644037"/>
                    <a:pt x="615461" y="317256"/>
                  </a:cubicBezTo>
                  <a:cubicBezTo>
                    <a:pt x="1119553" y="-9525"/>
                    <a:pt x="2447191" y="15386"/>
                    <a:pt x="3501536" y="0"/>
                  </a:cubicBezTo>
                </a:path>
              </a:pathLst>
            </a:custGeom>
            <a:noFill/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13" name="Forme libre : forme 12">
              <a:extLst>
                <a:ext uri="{FF2B5EF4-FFF2-40B4-BE49-F238E27FC236}">
                  <a16:creationId xmlns:a16="http://schemas.microsoft.com/office/drawing/2014/main" id="{E84B1851-5A65-4996-9239-68F944A5866B}"/>
                </a:ext>
              </a:extLst>
            </p:cNvPr>
            <p:cNvSpPr/>
            <p:nvPr/>
          </p:nvSpPr>
          <p:spPr>
            <a:xfrm>
              <a:off x="-193429" y="994973"/>
              <a:ext cx="3501536" cy="2049339"/>
            </a:xfrm>
            <a:custGeom>
              <a:avLst/>
              <a:gdLst>
                <a:gd name="connsiteX0" fmla="*/ 19071 w 3043625"/>
                <a:gd name="connsiteY0" fmla="*/ 1972264 h 1972264"/>
                <a:gd name="connsiteX1" fmla="*/ 449894 w 3043625"/>
                <a:gd name="connsiteY1" fmla="*/ 292934 h 1972264"/>
                <a:gd name="connsiteX2" fmla="*/ 3043625 w 3043625"/>
                <a:gd name="connsiteY2" fmla="*/ 11580 h 1972264"/>
                <a:gd name="connsiteX0" fmla="*/ 5294 w 3214486"/>
                <a:gd name="connsiteY0" fmla="*/ 2033810 h 2033810"/>
                <a:gd name="connsiteX1" fmla="*/ 620755 w 3214486"/>
                <a:gd name="connsiteY1" fmla="*/ 292934 h 2033810"/>
                <a:gd name="connsiteX2" fmla="*/ 3214486 w 3214486"/>
                <a:gd name="connsiteY2" fmla="*/ 11580 h 2033810"/>
                <a:gd name="connsiteX0" fmla="*/ 0 w 3209192"/>
                <a:gd name="connsiteY0" fmla="*/ 2033810 h 2033810"/>
                <a:gd name="connsiteX1" fmla="*/ 615461 w 3209192"/>
                <a:gd name="connsiteY1" fmla="*/ 292934 h 2033810"/>
                <a:gd name="connsiteX2" fmla="*/ 3209192 w 3209192"/>
                <a:gd name="connsiteY2" fmla="*/ 11580 h 2033810"/>
                <a:gd name="connsiteX0" fmla="*/ 0 w 3209192"/>
                <a:gd name="connsiteY0" fmla="*/ 2037048 h 2037048"/>
                <a:gd name="connsiteX1" fmla="*/ 624253 w 3209192"/>
                <a:gd name="connsiteY1" fmla="*/ 278588 h 2037048"/>
                <a:gd name="connsiteX2" fmla="*/ 3209192 w 3209192"/>
                <a:gd name="connsiteY2" fmla="*/ 14818 h 2037048"/>
                <a:gd name="connsiteX0" fmla="*/ 0 w 3472961"/>
                <a:gd name="connsiteY0" fmla="*/ 2051394 h 2051394"/>
                <a:gd name="connsiteX1" fmla="*/ 624253 w 3472961"/>
                <a:gd name="connsiteY1" fmla="*/ 292934 h 2051394"/>
                <a:gd name="connsiteX2" fmla="*/ 3472961 w 3472961"/>
                <a:gd name="connsiteY2" fmla="*/ 11580 h 2051394"/>
                <a:gd name="connsiteX0" fmla="*/ 0 w 3472961"/>
                <a:gd name="connsiteY0" fmla="*/ 2047904 h 2047904"/>
                <a:gd name="connsiteX1" fmla="*/ 615461 w 3472961"/>
                <a:gd name="connsiteY1" fmla="*/ 315821 h 2047904"/>
                <a:gd name="connsiteX2" fmla="*/ 3472961 w 3472961"/>
                <a:gd name="connsiteY2" fmla="*/ 8090 h 2047904"/>
                <a:gd name="connsiteX0" fmla="*/ 0 w 3501536"/>
                <a:gd name="connsiteY0" fmla="*/ 2056500 h 2056500"/>
                <a:gd name="connsiteX1" fmla="*/ 615461 w 3501536"/>
                <a:gd name="connsiteY1" fmla="*/ 324417 h 2056500"/>
                <a:gd name="connsiteX2" fmla="*/ 3501536 w 3501536"/>
                <a:gd name="connsiteY2" fmla="*/ 7161 h 2056500"/>
                <a:gd name="connsiteX0" fmla="*/ 0 w 3501536"/>
                <a:gd name="connsiteY0" fmla="*/ 2049339 h 2049339"/>
                <a:gd name="connsiteX1" fmla="*/ 615461 w 3501536"/>
                <a:gd name="connsiteY1" fmla="*/ 317256 h 2049339"/>
                <a:gd name="connsiteX2" fmla="*/ 3501536 w 3501536"/>
                <a:gd name="connsiteY2" fmla="*/ 0 h 2049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01536" h="2049339">
                  <a:moveTo>
                    <a:pt x="0" y="2049339"/>
                  </a:moveTo>
                  <a:cubicBezTo>
                    <a:pt x="42496" y="1311517"/>
                    <a:pt x="111369" y="644037"/>
                    <a:pt x="615461" y="317256"/>
                  </a:cubicBezTo>
                  <a:cubicBezTo>
                    <a:pt x="1119553" y="-9525"/>
                    <a:pt x="2447191" y="15386"/>
                    <a:pt x="3501536" y="0"/>
                  </a:cubicBezTo>
                </a:path>
              </a:pathLst>
            </a:custGeom>
            <a:noFill/>
            <a:ln w="38100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12" name="Connecteur droit 11">
              <a:extLst>
                <a:ext uri="{FF2B5EF4-FFF2-40B4-BE49-F238E27FC236}">
                  <a16:creationId xmlns:a16="http://schemas.microsoft.com/office/drawing/2014/main" id="{E1F4C541-8988-48A8-AEAD-E087D53C9EE8}"/>
                </a:ext>
              </a:extLst>
            </p:cNvPr>
            <p:cNvCxnSpPr>
              <a:cxnSpLocks/>
            </p:cNvCxnSpPr>
            <p:nvPr/>
          </p:nvCxnSpPr>
          <p:spPr>
            <a:xfrm>
              <a:off x="-163595" y="988705"/>
              <a:ext cx="4545095" cy="0"/>
            </a:xfrm>
            <a:prstGeom prst="line">
              <a:avLst/>
            </a:prstGeom>
            <a:ln w="38100">
              <a:solidFill>
                <a:schemeClr val="accent1">
                  <a:lumMod val="40000"/>
                  <a:lumOff val="60000"/>
                </a:schemeClr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Image 2">
            <a:extLst>
              <a:ext uri="{FF2B5EF4-FFF2-40B4-BE49-F238E27FC236}">
                <a16:creationId xmlns:a16="http://schemas.microsoft.com/office/drawing/2014/main" id="{DB0D777B-1F37-47D1-94C2-281026E4A0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8732" y="-3598"/>
            <a:ext cx="1943268" cy="548688"/>
          </a:xfrm>
          <a:prstGeom prst="rect">
            <a:avLst/>
          </a:prstGeom>
        </p:spPr>
      </p:pic>
      <p:pic>
        <p:nvPicPr>
          <p:cNvPr id="51" name="Image 50">
            <a:extLst>
              <a:ext uri="{FF2B5EF4-FFF2-40B4-BE49-F238E27FC236}">
                <a16:creationId xmlns:a16="http://schemas.microsoft.com/office/drawing/2014/main" id="{0D3C8F89-BD45-43ED-9B7E-DC91B96910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134" y="6006882"/>
            <a:ext cx="1074131" cy="532030"/>
          </a:xfrm>
          <a:prstGeom prst="rect">
            <a:avLst/>
          </a:prstGeom>
        </p:spPr>
      </p:pic>
      <p:pic>
        <p:nvPicPr>
          <p:cNvPr id="54" name="Image 53">
            <a:extLst>
              <a:ext uri="{FF2B5EF4-FFF2-40B4-BE49-F238E27FC236}">
                <a16:creationId xmlns:a16="http://schemas.microsoft.com/office/drawing/2014/main" id="{4DEC86F7-E849-471A-9604-033C808AA3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6175" y="4191438"/>
            <a:ext cx="2818389" cy="1544359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A36C3DA3-38BB-4DB0-808A-F12B72B8ED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564" y="4191437"/>
            <a:ext cx="2792155" cy="1544359"/>
          </a:xfrm>
          <a:prstGeom prst="rect">
            <a:avLst/>
          </a:prstGeom>
        </p:spPr>
      </p:pic>
      <p:pic>
        <p:nvPicPr>
          <p:cNvPr id="74" name="Image 73">
            <a:extLst>
              <a:ext uri="{FF2B5EF4-FFF2-40B4-BE49-F238E27FC236}">
                <a16:creationId xmlns:a16="http://schemas.microsoft.com/office/drawing/2014/main" id="{ED20F3FB-5573-40D5-8FB1-BAE80C7515E9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34" t="13674" r="44666" b="41520"/>
          <a:stretch/>
        </p:blipFill>
        <p:spPr>
          <a:xfrm>
            <a:off x="7750324" y="4219603"/>
            <a:ext cx="2561251" cy="1526106"/>
          </a:xfrm>
          <a:prstGeom prst="rect">
            <a:avLst/>
          </a:prstGeom>
        </p:spPr>
      </p:pic>
      <p:grpSp>
        <p:nvGrpSpPr>
          <p:cNvPr id="29" name="Groupe 28">
            <a:extLst>
              <a:ext uri="{FF2B5EF4-FFF2-40B4-BE49-F238E27FC236}">
                <a16:creationId xmlns:a16="http://schemas.microsoft.com/office/drawing/2014/main" id="{2509FFF3-0F08-45C3-A357-4A8A7BF1FB28}"/>
              </a:ext>
            </a:extLst>
          </p:cNvPr>
          <p:cNvGrpSpPr/>
          <p:nvPr/>
        </p:nvGrpSpPr>
        <p:grpSpPr>
          <a:xfrm>
            <a:off x="3608928" y="1119390"/>
            <a:ext cx="3071150" cy="2355710"/>
            <a:chOff x="6779401" y="957349"/>
            <a:chExt cx="3470679" cy="2662167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25D43EA4-4992-42A7-9D1B-190704513B0E}"/>
                </a:ext>
              </a:extLst>
            </p:cNvPr>
            <p:cNvSpPr/>
            <p:nvPr/>
          </p:nvSpPr>
          <p:spPr>
            <a:xfrm>
              <a:off x="6960392" y="1651734"/>
              <a:ext cx="3289688" cy="1967782"/>
            </a:xfrm>
            <a:prstGeom prst="rect">
              <a:avLst/>
            </a:prstGeom>
            <a:solidFill>
              <a:srgbClr val="F2CFEE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44000" rtlCol="0" anchor="ctr">
              <a:spAutoFit/>
            </a:bodyPr>
            <a:lstStyle/>
            <a:p>
              <a:pPr algn="ctr"/>
              <a:endParaRPr lang="fr-FR" dirty="0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9BC24DE6-F130-4F54-AFBE-2138B9AE8CCF}"/>
                </a:ext>
              </a:extLst>
            </p:cNvPr>
            <p:cNvSpPr/>
            <p:nvPr/>
          </p:nvSpPr>
          <p:spPr>
            <a:xfrm>
              <a:off x="8768175" y="3244333"/>
              <a:ext cx="255048" cy="26331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08000" rIns="144000" bIns="144000" rtlCol="0" anchor="ctr">
              <a:noAutofit/>
            </a:bodyPr>
            <a:lstStyle/>
            <a:p>
              <a:pPr algn="ctr"/>
              <a:endParaRPr lang="fr-FR" dirty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8390F187-5726-41A4-BFC8-49CA4573FCD0}"/>
                </a:ext>
              </a:extLst>
            </p:cNvPr>
            <p:cNvSpPr/>
            <p:nvPr/>
          </p:nvSpPr>
          <p:spPr>
            <a:xfrm>
              <a:off x="8168283" y="1880967"/>
              <a:ext cx="1517191" cy="903135"/>
            </a:xfrm>
            <a:prstGeom prst="rect">
              <a:avLst/>
            </a:prstGeom>
            <a:solidFill>
              <a:schemeClr val="bg2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44000" rtlCol="0" anchor="ctr">
              <a:spAutoFit/>
            </a:bodyPr>
            <a:lstStyle/>
            <a:p>
              <a:pPr algn="ctr"/>
              <a:endParaRPr lang="fr-FR" dirty="0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965401BB-706B-4F02-93B8-4F03CFE369DE}"/>
                </a:ext>
              </a:extLst>
            </p:cNvPr>
            <p:cNvSpPr/>
            <p:nvPr/>
          </p:nvSpPr>
          <p:spPr>
            <a:xfrm>
              <a:off x="8342416" y="2005512"/>
              <a:ext cx="1168924" cy="6504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08000" rIns="144000" bIns="144000" rtlCol="0" anchor="ctr">
              <a:spAutoFit/>
            </a:bodyPr>
            <a:lstStyle/>
            <a:p>
              <a:pPr algn="ctr"/>
              <a:endParaRPr lang="fr-FR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EE7B1D5D-65E7-49FF-A08C-8A440CB407B4}"/>
                </a:ext>
              </a:extLst>
            </p:cNvPr>
            <p:cNvSpPr/>
            <p:nvPr/>
          </p:nvSpPr>
          <p:spPr>
            <a:xfrm>
              <a:off x="9120600" y="3244333"/>
              <a:ext cx="255048" cy="26331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08000" rIns="144000" bIns="144000" rtlCol="0" anchor="ctr">
              <a:noAutofit/>
            </a:bodyPr>
            <a:lstStyle/>
            <a:p>
              <a:pPr algn="ctr"/>
              <a:endParaRPr lang="fr-FR" dirty="0"/>
            </a:p>
          </p:txBody>
        </p:sp>
        <p:cxnSp>
          <p:nvCxnSpPr>
            <p:cNvPr id="35" name="Connecteur droit 34">
              <a:extLst>
                <a:ext uri="{FF2B5EF4-FFF2-40B4-BE49-F238E27FC236}">
                  <a16:creationId xmlns:a16="http://schemas.microsoft.com/office/drawing/2014/main" id="{ECE3C9F8-078E-4B21-BEBD-CC990090AB38}"/>
                </a:ext>
              </a:extLst>
            </p:cNvPr>
            <p:cNvCxnSpPr>
              <a:cxnSpLocks/>
              <a:stCxn id="36" idx="0"/>
              <a:endCxn id="37" idx="2"/>
            </p:cNvCxnSpPr>
            <p:nvPr/>
          </p:nvCxnSpPr>
          <p:spPr>
            <a:xfrm flipV="1">
              <a:off x="8540199" y="2919281"/>
              <a:ext cx="131425" cy="325052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87ECF00B-D9B8-45E2-B2B5-69B68DA666EE}"/>
                </a:ext>
              </a:extLst>
            </p:cNvPr>
            <p:cNvSpPr/>
            <p:nvPr/>
          </p:nvSpPr>
          <p:spPr>
            <a:xfrm>
              <a:off x="8412675" y="3244333"/>
              <a:ext cx="255048" cy="26331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08000" rIns="144000" bIns="144000" rtlCol="0" anchor="ctr">
              <a:noAutofit/>
            </a:bodyPr>
            <a:lstStyle/>
            <a:p>
              <a:pPr algn="ctr"/>
              <a:endParaRPr lang="fr-FR" dirty="0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84250D97-898B-4AE6-8EAB-562762032D0D}"/>
                </a:ext>
              </a:extLst>
            </p:cNvPr>
            <p:cNvSpPr/>
            <p:nvPr/>
          </p:nvSpPr>
          <p:spPr>
            <a:xfrm>
              <a:off x="8603501" y="2825767"/>
              <a:ext cx="136246" cy="9351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08000" rIns="144000" bIns="144000" rtlCol="0" anchor="ctr">
              <a:noAutofit/>
            </a:bodyPr>
            <a:lstStyle/>
            <a:p>
              <a:pPr algn="ctr"/>
              <a:endParaRPr lang="fr-FR" dirty="0"/>
            </a:p>
          </p:txBody>
        </p:sp>
        <p:cxnSp>
          <p:nvCxnSpPr>
            <p:cNvPr id="38" name="Connecteur droit 37">
              <a:extLst>
                <a:ext uri="{FF2B5EF4-FFF2-40B4-BE49-F238E27FC236}">
                  <a16:creationId xmlns:a16="http://schemas.microsoft.com/office/drawing/2014/main" id="{A147B20B-A6FD-4104-AFA9-3F46AE2BA67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95699" y="2919281"/>
              <a:ext cx="0" cy="325052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6EDDF44E-94B0-417D-863E-6139A373C5D8}"/>
                </a:ext>
              </a:extLst>
            </p:cNvPr>
            <p:cNvSpPr/>
            <p:nvPr/>
          </p:nvSpPr>
          <p:spPr>
            <a:xfrm>
              <a:off x="8827576" y="2825767"/>
              <a:ext cx="136246" cy="9351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08000" rIns="144000" bIns="144000" rtlCol="0" anchor="ctr">
              <a:noAutofit/>
            </a:bodyPr>
            <a:lstStyle/>
            <a:p>
              <a:pPr algn="ctr"/>
              <a:endParaRPr lang="fr-FR" dirty="0"/>
            </a:p>
          </p:txBody>
        </p:sp>
        <p:cxnSp>
          <p:nvCxnSpPr>
            <p:cNvPr id="40" name="Connecteur droit 39">
              <a:extLst>
                <a:ext uri="{FF2B5EF4-FFF2-40B4-BE49-F238E27FC236}">
                  <a16:creationId xmlns:a16="http://schemas.microsoft.com/office/drawing/2014/main" id="{B14E5374-C1A8-4677-948C-FCB46CB10980}"/>
                </a:ext>
              </a:extLst>
            </p:cNvPr>
            <p:cNvCxnSpPr>
              <a:cxnSpLocks/>
              <a:endCxn id="41" idx="2"/>
            </p:cNvCxnSpPr>
            <p:nvPr/>
          </p:nvCxnSpPr>
          <p:spPr>
            <a:xfrm flipH="1" flipV="1">
              <a:off x="9111052" y="2918984"/>
              <a:ext cx="136246" cy="325052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C4F10D0C-9787-4581-992D-C663984648E2}"/>
                </a:ext>
              </a:extLst>
            </p:cNvPr>
            <p:cNvSpPr/>
            <p:nvPr/>
          </p:nvSpPr>
          <p:spPr>
            <a:xfrm>
              <a:off x="9042929" y="2825470"/>
              <a:ext cx="136246" cy="9351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08000" rIns="144000" bIns="144000" rtlCol="0" anchor="ctr">
              <a:noAutofit/>
            </a:bodyPr>
            <a:lstStyle/>
            <a:p>
              <a:pPr algn="ctr"/>
              <a:endParaRPr lang="fr-FR" dirty="0"/>
            </a:p>
          </p:txBody>
        </p:sp>
        <p:cxnSp>
          <p:nvCxnSpPr>
            <p:cNvPr id="42" name="Connecteur droit 41">
              <a:extLst>
                <a:ext uri="{FF2B5EF4-FFF2-40B4-BE49-F238E27FC236}">
                  <a16:creationId xmlns:a16="http://schemas.microsoft.com/office/drawing/2014/main" id="{38A1BF72-45E6-450A-A573-14EC0D8E9B3E}"/>
                </a:ext>
              </a:extLst>
            </p:cNvPr>
            <p:cNvCxnSpPr>
              <a:cxnSpLocks/>
              <a:stCxn id="37" idx="0"/>
              <a:endCxn id="44" idx="2"/>
            </p:cNvCxnSpPr>
            <p:nvPr/>
          </p:nvCxnSpPr>
          <p:spPr>
            <a:xfrm flipH="1" flipV="1">
              <a:off x="8444164" y="2574579"/>
              <a:ext cx="227460" cy="251188"/>
            </a:xfrm>
            <a:prstGeom prst="line">
              <a:avLst/>
            </a:prstGeom>
            <a:ln w="57150"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43" name="Connecteur droit 42">
              <a:extLst>
                <a:ext uri="{FF2B5EF4-FFF2-40B4-BE49-F238E27FC236}">
                  <a16:creationId xmlns:a16="http://schemas.microsoft.com/office/drawing/2014/main" id="{B833240C-74F3-4D03-A3EB-A7C74DA6F50C}"/>
                </a:ext>
              </a:extLst>
            </p:cNvPr>
            <p:cNvCxnSpPr>
              <a:cxnSpLocks/>
              <a:stCxn id="39" idx="0"/>
              <a:endCxn id="45" idx="2"/>
            </p:cNvCxnSpPr>
            <p:nvPr/>
          </p:nvCxnSpPr>
          <p:spPr>
            <a:xfrm flipH="1" flipV="1">
              <a:off x="8565989" y="2517415"/>
              <a:ext cx="329710" cy="308352"/>
            </a:xfrm>
            <a:prstGeom prst="line">
              <a:avLst/>
            </a:prstGeom>
            <a:ln w="57150"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CE227A1A-5F57-4305-9FF0-D24BB20CC8E1}"/>
                </a:ext>
              </a:extLst>
            </p:cNvPr>
            <p:cNvSpPr/>
            <p:nvPr/>
          </p:nvSpPr>
          <p:spPr>
            <a:xfrm>
              <a:off x="8403953" y="2501916"/>
              <a:ext cx="80422" cy="72663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08000" rIns="144000" bIns="144000" rtlCol="0" anchor="ctr">
              <a:noAutofit/>
            </a:bodyPr>
            <a:lstStyle/>
            <a:p>
              <a:pPr algn="ctr"/>
              <a:endParaRPr lang="fr-FR" dirty="0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2A2F0985-C2D6-4577-8E1A-642A93F428A9}"/>
                </a:ext>
              </a:extLst>
            </p:cNvPr>
            <p:cNvSpPr/>
            <p:nvPr/>
          </p:nvSpPr>
          <p:spPr>
            <a:xfrm>
              <a:off x="8525778" y="2444752"/>
              <a:ext cx="80422" cy="72663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08000" rIns="144000" bIns="144000" rtlCol="0" anchor="ctr">
              <a:noAutofit/>
            </a:bodyPr>
            <a:lstStyle/>
            <a:p>
              <a:pPr algn="ctr"/>
              <a:endParaRPr lang="fr-FR" dirty="0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04F53918-728B-4B76-B0AB-FD4BF294CE59}"/>
                </a:ext>
              </a:extLst>
            </p:cNvPr>
            <p:cNvSpPr/>
            <p:nvPr/>
          </p:nvSpPr>
          <p:spPr>
            <a:xfrm>
              <a:off x="8643225" y="2509666"/>
              <a:ext cx="80422" cy="72663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08000" rIns="144000" bIns="144000" rtlCol="0" anchor="ctr">
              <a:noAutofit/>
            </a:bodyPr>
            <a:lstStyle/>
            <a:p>
              <a:pPr algn="ctr"/>
              <a:endParaRPr lang="fr-FR" dirty="0"/>
            </a:p>
          </p:txBody>
        </p:sp>
        <p:cxnSp>
          <p:nvCxnSpPr>
            <p:cNvPr id="47" name="Connecteur droit 46">
              <a:extLst>
                <a:ext uri="{FF2B5EF4-FFF2-40B4-BE49-F238E27FC236}">
                  <a16:creationId xmlns:a16="http://schemas.microsoft.com/office/drawing/2014/main" id="{360C34B3-719F-483F-A12C-668B0E272147}"/>
                </a:ext>
              </a:extLst>
            </p:cNvPr>
            <p:cNvCxnSpPr>
              <a:cxnSpLocks/>
              <a:stCxn id="41" idx="0"/>
              <a:endCxn id="46" idx="3"/>
            </p:cNvCxnSpPr>
            <p:nvPr/>
          </p:nvCxnSpPr>
          <p:spPr>
            <a:xfrm flipH="1" flipV="1">
              <a:off x="8723647" y="2545998"/>
              <a:ext cx="387405" cy="279472"/>
            </a:xfrm>
            <a:prstGeom prst="line">
              <a:avLst/>
            </a:prstGeom>
            <a:ln w="57150"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5313F4CB-9800-4352-A5BE-AF0D04C40BFA}"/>
                </a:ext>
              </a:extLst>
            </p:cNvPr>
            <p:cNvSpPr/>
            <p:nvPr/>
          </p:nvSpPr>
          <p:spPr>
            <a:xfrm>
              <a:off x="8786049" y="2444455"/>
              <a:ext cx="80422" cy="72663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08000" rIns="144000" bIns="144000" rtlCol="0" anchor="ctr">
              <a:noAutofit/>
            </a:bodyPr>
            <a:lstStyle/>
            <a:p>
              <a:pPr algn="ctr"/>
              <a:endParaRPr lang="fr-FR" dirty="0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F184AB9D-5426-451E-935D-3CF1F2C3EFAC}"/>
                </a:ext>
              </a:extLst>
            </p:cNvPr>
            <p:cNvSpPr/>
            <p:nvPr/>
          </p:nvSpPr>
          <p:spPr>
            <a:xfrm>
              <a:off x="8945982" y="2509369"/>
              <a:ext cx="80422" cy="72663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08000" rIns="144000" bIns="144000" rtlCol="0" anchor="ctr">
              <a:noAutofit/>
            </a:bodyPr>
            <a:lstStyle/>
            <a:p>
              <a:pPr algn="ctr"/>
              <a:endParaRPr lang="fr-FR" dirty="0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445DC0DA-8FCC-4126-9DA3-8842C2D58E57}"/>
                </a:ext>
              </a:extLst>
            </p:cNvPr>
            <p:cNvSpPr/>
            <p:nvPr/>
          </p:nvSpPr>
          <p:spPr>
            <a:xfrm>
              <a:off x="9138964" y="2436706"/>
              <a:ext cx="80422" cy="72663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08000" rIns="144000" bIns="144000" rtlCol="0" anchor="ctr">
              <a:noAutofit/>
            </a:bodyPr>
            <a:lstStyle/>
            <a:p>
              <a:pPr algn="ctr"/>
              <a:endParaRPr lang="fr-FR" dirty="0"/>
            </a:p>
          </p:txBody>
        </p:sp>
        <p:sp>
          <p:nvSpPr>
            <p:cNvPr id="53" name="ZoneTexte 52">
              <a:extLst>
                <a:ext uri="{FF2B5EF4-FFF2-40B4-BE49-F238E27FC236}">
                  <a16:creationId xmlns:a16="http://schemas.microsoft.com/office/drawing/2014/main" id="{11D40517-D349-4EBE-A18B-2D3FC002AD70}"/>
                </a:ext>
              </a:extLst>
            </p:cNvPr>
            <p:cNvSpPr txBox="1"/>
            <p:nvPr/>
          </p:nvSpPr>
          <p:spPr>
            <a:xfrm>
              <a:off x="8408414" y="2032420"/>
              <a:ext cx="112386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b="1" dirty="0" err="1">
                  <a:solidFill>
                    <a:schemeClr val="bg2"/>
                  </a:solidFill>
                </a:rPr>
                <a:t>QChips</a:t>
              </a:r>
              <a:endParaRPr lang="fr-FR" b="1" dirty="0">
                <a:solidFill>
                  <a:schemeClr val="bg2"/>
                </a:solidFill>
              </a:endParaRP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944E8AA2-D0BD-48E2-9897-A4612BF3165F}"/>
                </a:ext>
              </a:extLst>
            </p:cNvPr>
            <p:cNvSpPr/>
            <p:nvPr/>
          </p:nvSpPr>
          <p:spPr>
            <a:xfrm>
              <a:off x="7903002" y="2601151"/>
              <a:ext cx="136246" cy="9351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08000" rIns="144000" bIns="144000" rtlCol="0" anchor="ctr">
              <a:noAutofit/>
            </a:bodyPr>
            <a:lstStyle/>
            <a:p>
              <a:pPr algn="ctr"/>
              <a:endParaRPr lang="fr-FR" dirty="0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8BAC5488-8C04-4937-A94D-E0CFAA80A5CA}"/>
                </a:ext>
              </a:extLst>
            </p:cNvPr>
            <p:cNvSpPr/>
            <p:nvPr/>
          </p:nvSpPr>
          <p:spPr>
            <a:xfrm>
              <a:off x="7903002" y="2444733"/>
              <a:ext cx="136246" cy="9351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08000" rIns="144000" bIns="144000" rtlCol="0" anchor="ctr">
              <a:noAutofit/>
            </a:bodyPr>
            <a:lstStyle/>
            <a:p>
              <a:pPr algn="ctr"/>
              <a:endParaRPr lang="fr-FR" dirty="0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2F957FB7-FD16-4741-9770-0C0620DE2A43}"/>
                </a:ext>
              </a:extLst>
            </p:cNvPr>
            <p:cNvSpPr/>
            <p:nvPr/>
          </p:nvSpPr>
          <p:spPr>
            <a:xfrm>
              <a:off x="7905930" y="2282022"/>
              <a:ext cx="136246" cy="9351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08000" rIns="144000" bIns="144000" rtlCol="0" anchor="ctr">
              <a:noAutofit/>
            </a:bodyPr>
            <a:lstStyle/>
            <a:p>
              <a:pPr algn="ctr"/>
              <a:endParaRPr lang="fr-FR" dirty="0"/>
            </a:p>
          </p:txBody>
        </p:sp>
        <p:cxnSp>
          <p:nvCxnSpPr>
            <p:cNvPr id="59" name="Connecteur droit 58">
              <a:extLst>
                <a:ext uri="{FF2B5EF4-FFF2-40B4-BE49-F238E27FC236}">
                  <a16:creationId xmlns:a16="http://schemas.microsoft.com/office/drawing/2014/main" id="{59D0743B-78B0-48AC-B1BA-6AD06F40CB1F}"/>
                </a:ext>
              </a:extLst>
            </p:cNvPr>
            <p:cNvCxnSpPr>
              <a:cxnSpLocks/>
            </p:cNvCxnSpPr>
            <p:nvPr/>
          </p:nvCxnSpPr>
          <p:spPr>
            <a:xfrm>
              <a:off x="7356054" y="3244036"/>
              <a:ext cx="264767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cteur droit 59">
              <a:extLst>
                <a:ext uri="{FF2B5EF4-FFF2-40B4-BE49-F238E27FC236}">
                  <a16:creationId xmlns:a16="http://schemas.microsoft.com/office/drawing/2014/main" id="{AD5A5D88-E15E-4A6B-88B4-1D54AABB7D7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00932" y="2628481"/>
              <a:ext cx="0" cy="608412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cteur droit 60">
              <a:extLst>
                <a:ext uri="{FF2B5EF4-FFF2-40B4-BE49-F238E27FC236}">
                  <a16:creationId xmlns:a16="http://schemas.microsoft.com/office/drawing/2014/main" id="{7811BEB8-422F-4669-A353-AFEFFBD3682E}"/>
                </a:ext>
              </a:extLst>
            </p:cNvPr>
            <p:cNvCxnSpPr>
              <a:cxnSpLocks/>
              <a:stCxn id="56" idx="1"/>
            </p:cNvCxnSpPr>
            <p:nvPr/>
          </p:nvCxnSpPr>
          <p:spPr>
            <a:xfrm flipH="1">
              <a:off x="7593861" y="2647908"/>
              <a:ext cx="309141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Connecteur droit 61">
              <a:extLst>
                <a:ext uri="{FF2B5EF4-FFF2-40B4-BE49-F238E27FC236}">
                  <a16:creationId xmlns:a16="http://schemas.microsoft.com/office/drawing/2014/main" id="{4F0DAC84-9CBA-40A9-BDFA-B844129ACA50}"/>
                </a:ext>
              </a:extLst>
            </p:cNvPr>
            <p:cNvCxnSpPr>
              <a:cxnSpLocks/>
            </p:cNvCxnSpPr>
            <p:nvPr/>
          </p:nvCxnSpPr>
          <p:spPr>
            <a:xfrm>
              <a:off x="7279854" y="3143378"/>
              <a:ext cx="264767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necteur droit 62">
              <a:extLst>
                <a:ext uri="{FF2B5EF4-FFF2-40B4-BE49-F238E27FC236}">
                  <a16:creationId xmlns:a16="http://schemas.microsoft.com/office/drawing/2014/main" id="{514BDC64-3E5A-4125-B3D4-8DF2CD646E7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24732" y="2473037"/>
              <a:ext cx="0" cy="663198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Connecteur droit 63">
              <a:extLst>
                <a:ext uri="{FF2B5EF4-FFF2-40B4-BE49-F238E27FC236}">
                  <a16:creationId xmlns:a16="http://schemas.microsoft.com/office/drawing/2014/main" id="{E8ECABD3-0BAA-4206-9968-0AB250F016F4}"/>
                </a:ext>
              </a:extLst>
            </p:cNvPr>
            <p:cNvCxnSpPr>
              <a:cxnSpLocks/>
              <a:stCxn id="57" idx="1"/>
            </p:cNvCxnSpPr>
            <p:nvPr/>
          </p:nvCxnSpPr>
          <p:spPr>
            <a:xfrm flipH="1" flipV="1">
              <a:off x="7505684" y="2488404"/>
              <a:ext cx="397318" cy="3086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Connecteur droit 64">
              <a:extLst>
                <a:ext uri="{FF2B5EF4-FFF2-40B4-BE49-F238E27FC236}">
                  <a16:creationId xmlns:a16="http://schemas.microsoft.com/office/drawing/2014/main" id="{C73D58CD-E0AA-4652-9E1B-CE1042462226}"/>
                </a:ext>
              </a:extLst>
            </p:cNvPr>
            <p:cNvCxnSpPr>
              <a:cxnSpLocks/>
            </p:cNvCxnSpPr>
            <p:nvPr/>
          </p:nvCxnSpPr>
          <p:spPr>
            <a:xfrm>
              <a:off x="7186986" y="3033407"/>
              <a:ext cx="264767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Connecteur droit 65">
              <a:extLst>
                <a:ext uri="{FF2B5EF4-FFF2-40B4-BE49-F238E27FC236}">
                  <a16:creationId xmlns:a16="http://schemas.microsoft.com/office/drawing/2014/main" id="{34B7EA49-11EB-42D8-AA9B-164D32C1D8D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31864" y="2309830"/>
              <a:ext cx="2381" cy="716434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Connecteur droit 66">
              <a:extLst>
                <a:ext uri="{FF2B5EF4-FFF2-40B4-BE49-F238E27FC236}">
                  <a16:creationId xmlns:a16="http://schemas.microsoft.com/office/drawing/2014/main" id="{89AC7285-846B-4A08-98A5-C5AEE9AD4ABA}"/>
                </a:ext>
              </a:extLst>
            </p:cNvPr>
            <p:cNvCxnSpPr>
              <a:cxnSpLocks/>
              <a:stCxn id="58" idx="1"/>
            </p:cNvCxnSpPr>
            <p:nvPr/>
          </p:nvCxnSpPr>
          <p:spPr>
            <a:xfrm flipH="1">
              <a:off x="7431864" y="2328779"/>
              <a:ext cx="474066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9F16675C-5F22-45D4-8084-6D6B90750E5D}"/>
                </a:ext>
              </a:extLst>
            </p:cNvPr>
            <p:cNvSpPr/>
            <p:nvPr/>
          </p:nvSpPr>
          <p:spPr>
            <a:xfrm>
              <a:off x="6779401" y="1880967"/>
              <a:ext cx="568751" cy="1440368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08000" rIns="144000" bIns="144000" rtlCol="0" anchor="ctr">
              <a:spAutoFit/>
            </a:bodyPr>
            <a:lstStyle/>
            <a:p>
              <a:pPr algn="ctr"/>
              <a:endParaRPr lang="fr-FR" dirty="0"/>
            </a:p>
          </p:txBody>
        </p:sp>
        <p:cxnSp>
          <p:nvCxnSpPr>
            <p:cNvPr id="69" name="Connecteur droit avec flèche 68">
              <a:extLst>
                <a:ext uri="{FF2B5EF4-FFF2-40B4-BE49-F238E27FC236}">
                  <a16:creationId xmlns:a16="http://schemas.microsoft.com/office/drawing/2014/main" id="{FCBF0561-691E-40D6-A824-60D570D965D7}"/>
                </a:ext>
              </a:extLst>
            </p:cNvPr>
            <p:cNvCxnSpPr>
              <a:cxnSpLocks/>
            </p:cNvCxnSpPr>
            <p:nvPr/>
          </p:nvCxnSpPr>
          <p:spPr>
            <a:xfrm>
              <a:off x="7002782" y="1430288"/>
              <a:ext cx="3247298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ZoneTexte 69">
              <a:extLst>
                <a:ext uri="{FF2B5EF4-FFF2-40B4-BE49-F238E27FC236}">
                  <a16:creationId xmlns:a16="http://schemas.microsoft.com/office/drawing/2014/main" id="{7B0D8CC2-2F6A-46CA-ADDD-7F8F44BA1363}"/>
                </a:ext>
              </a:extLst>
            </p:cNvPr>
            <p:cNvSpPr txBox="1"/>
            <p:nvPr/>
          </p:nvSpPr>
          <p:spPr>
            <a:xfrm>
              <a:off x="7959086" y="957349"/>
              <a:ext cx="14487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/>
                <a:t>&lt;&lt; 55 mm</a:t>
              </a:r>
            </a:p>
          </p:txBody>
        </p:sp>
      </p:grpSp>
      <p:pic>
        <p:nvPicPr>
          <p:cNvPr id="71" name="Image 70">
            <a:extLst>
              <a:ext uri="{FF2B5EF4-FFF2-40B4-BE49-F238E27FC236}">
                <a16:creationId xmlns:a16="http://schemas.microsoft.com/office/drawing/2014/main" id="{7179FB2E-71EE-4564-8AFF-81E1D52D72B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86885" y="1573154"/>
            <a:ext cx="4727293" cy="1967783"/>
          </a:xfrm>
          <a:prstGeom prst="rect">
            <a:avLst/>
          </a:prstGeom>
        </p:spPr>
      </p:pic>
      <p:sp>
        <p:nvSpPr>
          <p:cNvPr id="72" name="ZoneTexte 71">
            <a:extLst>
              <a:ext uri="{FF2B5EF4-FFF2-40B4-BE49-F238E27FC236}">
                <a16:creationId xmlns:a16="http://schemas.microsoft.com/office/drawing/2014/main" id="{83B6ED9B-8A26-476B-A33A-5423DD61FE6A}"/>
              </a:ext>
            </a:extLst>
          </p:cNvPr>
          <p:cNvSpPr txBox="1"/>
          <p:nvPr/>
        </p:nvSpPr>
        <p:spPr>
          <a:xfrm>
            <a:off x="2514403" y="6103559"/>
            <a:ext cx="764950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00" b="0" i="1" u="none" strike="noStrike" baseline="0" dirty="0"/>
              <a:t>[1] Multiplexed quantum transport using commercial off-the-shelf </a:t>
            </a:r>
            <a:r>
              <a:rPr lang="fr-FR" sz="1100" b="0" i="1" u="none" strike="noStrike" baseline="0" dirty="0"/>
              <a:t>CMOS at </a:t>
            </a:r>
            <a:r>
              <a:rPr lang="fr-FR" sz="1100" b="0" i="1" u="none" strike="noStrike" baseline="0" dirty="0" err="1"/>
              <a:t>sub</a:t>
            </a:r>
            <a:r>
              <a:rPr lang="fr-FR" sz="1100" b="0" i="1" u="none" strike="noStrike" baseline="0" dirty="0"/>
              <a:t>-kelvin </a:t>
            </a:r>
            <a:r>
              <a:rPr lang="fr-FR" sz="1100" b="0" i="1" u="none" strike="noStrike" baseline="0" dirty="0" err="1"/>
              <a:t>temperatures</a:t>
            </a:r>
            <a:r>
              <a:rPr lang="fr-FR" sz="1100" b="0" i="1" u="none" strike="noStrike" baseline="0" dirty="0"/>
              <a:t>, B. </a:t>
            </a:r>
            <a:r>
              <a:rPr lang="fr-FR" sz="1100" b="0" i="1" u="none" strike="noStrike" baseline="0" dirty="0" err="1"/>
              <a:t>Paquelet</a:t>
            </a:r>
            <a:r>
              <a:rPr lang="fr-FR" sz="1100" b="0" i="1" u="none" strike="noStrike" baseline="0" dirty="0"/>
              <a:t> </a:t>
            </a:r>
            <a:r>
              <a:rPr lang="fr-FR" sz="1100" b="0" i="1" u="none" strike="noStrike" baseline="0" dirty="0" err="1"/>
              <a:t>Wuetz</a:t>
            </a:r>
            <a:r>
              <a:rPr lang="fr-FR" sz="1100" b="0" i="1" u="none" strike="noStrike" dirty="0"/>
              <a:t> et al., </a:t>
            </a:r>
            <a:r>
              <a:rPr lang="fr-FR" sz="1100" b="0" i="1" u="none" strike="noStrike" dirty="0" err="1"/>
              <a:t>npj</a:t>
            </a:r>
            <a:r>
              <a:rPr lang="fr-FR" sz="1100" b="0" i="1" u="none" strike="noStrike" dirty="0"/>
              <a:t> Quantum Information </a:t>
            </a:r>
            <a:r>
              <a:rPr lang="fr-FR" sz="1100" b="1" i="1" u="none" strike="noStrike" dirty="0"/>
              <a:t>6</a:t>
            </a:r>
            <a:r>
              <a:rPr lang="fr-FR" sz="1100" b="0" i="1" u="none" strike="noStrike" dirty="0"/>
              <a:t>, 43 (2020). </a:t>
            </a:r>
            <a:endParaRPr lang="fr-FR" sz="1100" i="1" dirty="0"/>
          </a:p>
        </p:txBody>
      </p:sp>
      <p:pic>
        <p:nvPicPr>
          <p:cNvPr id="78" name="Image 77">
            <a:extLst>
              <a:ext uri="{FF2B5EF4-FFF2-40B4-BE49-F238E27FC236}">
                <a16:creationId xmlns:a16="http://schemas.microsoft.com/office/drawing/2014/main" id="{4A97A1EE-797F-4BA8-B1DA-AEDA8045794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4053" y="6091377"/>
            <a:ext cx="881562" cy="470167"/>
          </a:xfrm>
          <a:prstGeom prst="rect">
            <a:avLst/>
          </a:prstGeom>
        </p:spPr>
      </p:pic>
      <p:pic>
        <p:nvPicPr>
          <p:cNvPr id="79" name="Image 78">
            <a:extLst>
              <a:ext uri="{FF2B5EF4-FFF2-40B4-BE49-F238E27FC236}">
                <a16:creationId xmlns:a16="http://schemas.microsoft.com/office/drawing/2014/main" id="{B95347C1-3020-43AF-AABE-E6DF63984B2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197" y="1359920"/>
            <a:ext cx="1467790" cy="2312426"/>
          </a:xfrm>
          <a:prstGeom prst="rect">
            <a:avLst/>
          </a:prstGeom>
        </p:spPr>
      </p:pic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65A5BA73-62BE-4483-8B7D-E377FD3A4ADA}"/>
              </a:ext>
            </a:extLst>
          </p:cNvPr>
          <p:cNvCxnSpPr>
            <a:cxnSpLocks/>
          </p:cNvCxnSpPr>
          <p:nvPr/>
        </p:nvCxnSpPr>
        <p:spPr>
          <a:xfrm flipV="1">
            <a:off x="2216272" y="1733841"/>
            <a:ext cx="1552812" cy="10020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D9381605-65AB-42A6-85BB-7B5D0CA40F9C}"/>
              </a:ext>
            </a:extLst>
          </p:cNvPr>
          <p:cNvCxnSpPr>
            <a:cxnSpLocks/>
          </p:cNvCxnSpPr>
          <p:nvPr/>
        </p:nvCxnSpPr>
        <p:spPr>
          <a:xfrm>
            <a:off x="2216272" y="3136523"/>
            <a:ext cx="1552812" cy="33857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ZoneTexte 21">
            <a:extLst>
              <a:ext uri="{FF2B5EF4-FFF2-40B4-BE49-F238E27FC236}">
                <a16:creationId xmlns:a16="http://schemas.microsoft.com/office/drawing/2014/main" id="{AA9DD8FB-8E71-48A2-AA9C-17C5082D4128}"/>
              </a:ext>
            </a:extLst>
          </p:cNvPr>
          <p:cNvSpPr txBox="1"/>
          <p:nvPr/>
        </p:nvSpPr>
        <p:spPr>
          <a:xfrm>
            <a:off x="3655618" y="3505854"/>
            <a:ext cx="3205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« </a:t>
            </a:r>
            <a:r>
              <a:rPr lang="fr-FR" dirty="0" err="1"/>
              <a:t>Typical</a:t>
            </a:r>
            <a:r>
              <a:rPr lang="fr-FR" dirty="0"/>
              <a:t> setup »</a:t>
            </a:r>
          </a:p>
        </p:txBody>
      </p:sp>
      <p:sp>
        <p:nvSpPr>
          <p:cNvPr id="81" name="ZoneTexte 80">
            <a:extLst>
              <a:ext uri="{FF2B5EF4-FFF2-40B4-BE49-F238E27FC236}">
                <a16:creationId xmlns:a16="http://schemas.microsoft.com/office/drawing/2014/main" id="{9322FAAC-A9AA-4972-A9BF-961D1EAE7C49}"/>
              </a:ext>
            </a:extLst>
          </p:cNvPr>
          <p:cNvSpPr txBox="1"/>
          <p:nvPr/>
        </p:nvSpPr>
        <p:spPr>
          <a:xfrm>
            <a:off x="7601406" y="3505854"/>
            <a:ext cx="40209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err="1"/>
              <a:t>Proposed</a:t>
            </a:r>
            <a:r>
              <a:rPr lang="fr-FR" dirty="0"/>
              <a:t> </a:t>
            </a:r>
            <a:r>
              <a:rPr lang="fr-FR" dirty="0" err="1"/>
              <a:t>architectured</a:t>
            </a:r>
            <a:r>
              <a:rPr lang="fr-FR" dirty="0"/>
              <a:t> </a:t>
            </a:r>
            <a:r>
              <a:rPr lang="fr-FR" dirty="0" err="1"/>
              <a:t>based</a:t>
            </a:r>
            <a:r>
              <a:rPr lang="fr-FR" dirty="0"/>
              <a:t> on [1]</a:t>
            </a:r>
          </a:p>
        </p:txBody>
      </p:sp>
      <p:grpSp>
        <p:nvGrpSpPr>
          <p:cNvPr id="87" name="Groupe 86">
            <a:extLst>
              <a:ext uri="{FF2B5EF4-FFF2-40B4-BE49-F238E27FC236}">
                <a16:creationId xmlns:a16="http://schemas.microsoft.com/office/drawing/2014/main" id="{E37E73E7-2C35-4D91-9CFC-6E8CA543C6F5}"/>
              </a:ext>
            </a:extLst>
          </p:cNvPr>
          <p:cNvGrpSpPr/>
          <p:nvPr/>
        </p:nvGrpSpPr>
        <p:grpSpPr>
          <a:xfrm>
            <a:off x="703385" y="4678821"/>
            <a:ext cx="448408" cy="447573"/>
            <a:chOff x="703385" y="4590419"/>
            <a:chExt cx="448408" cy="447573"/>
          </a:xfrm>
        </p:grpSpPr>
        <p:sp>
          <p:nvSpPr>
            <p:cNvPr id="82" name="Flèche : droite 81">
              <a:extLst>
                <a:ext uri="{FF2B5EF4-FFF2-40B4-BE49-F238E27FC236}">
                  <a16:creationId xmlns:a16="http://schemas.microsoft.com/office/drawing/2014/main" id="{87BCEABA-8061-430F-8583-4EF48E437828}"/>
                </a:ext>
              </a:extLst>
            </p:cNvPr>
            <p:cNvSpPr/>
            <p:nvPr/>
          </p:nvSpPr>
          <p:spPr>
            <a:xfrm>
              <a:off x="703385" y="4624681"/>
              <a:ext cx="448408" cy="413311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83" name="Flèche : droite 82">
              <a:extLst>
                <a:ext uri="{FF2B5EF4-FFF2-40B4-BE49-F238E27FC236}">
                  <a16:creationId xmlns:a16="http://schemas.microsoft.com/office/drawing/2014/main" id="{EFC858F1-180A-4E21-95D1-ECA3AF17FE92}"/>
                </a:ext>
              </a:extLst>
            </p:cNvPr>
            <p:cNvSpPr/>
            <p:nvPr/>
          </p:nvSpPr>
          <p:spPr>
            <a:xfrm>
              <a:off x="703385" y="4590419"/>
              <a:ext cx="448408" cy="413311"/>
            </a:xfrm>
            <a:prstGeom prst="rightArrow">
              <a:avLst/>
            </a:prstGeom>
            <a:solidFill>
              <a:srgbClr val="B4C7E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86" name="Groupe 85">
            <a:extLst>
              <a:ext uri="{FF2B5EF4-FFF2-40B4-BE49-F238E27FC236}">
                <a16:creationId xmlns:a16="http://schemas.microsoft.com/office/drawing/2014/main" id="{CFE84BA0-DDD7-4013-A7C2-5F3BF2EE9031}"/>
              </a:ext>
            </a:extLst>
          </p:cNvPr>
          <p:cNvGrpSpPr/>
          <p:nvPr/>
        </p:nvGrpSpPr>
        <p:grpSpPr>
          <a:xfrm>
            <a:off x="7187844" y="4678821"/>
            <a:ext cx="448408" cy="447573"/>
            <a:chOff x="7377202" y="4624681"/>
            <a:chExt cx="448408" cy="447573"/>
          </a:xfrm>
        </p:grpSpPr>
        <p:sp>
          <p:nvSpPr>
            <p:cNvPr id="84" name="Flèche : droite 83">
              <a:extLst>
                <a:ext uri="{FF2B5EF4-FFF2-40B4-BE49-F238E27FC236}">
                  <a16:creationId xmlns:a16="http://schemas.microsoft.com/office/drawing/2014/main" id="{2F3AEFEB-D0D6-4507-85F3-42090C804A9B}"/>
                </a:ext>
              </a:extLst>
            </p:cNvPr>
            <p:cNvSpPr/>
            <p:nvPr/>
          </p:nvSpPr>
          <p:spPr>
            <a:xfrm>
              <a:off x="7377202" y="4658943"/>
              <a:ext cx="448408" cy="413311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85" name="Flèche : droite 84">
              <a:extLst>
                <a:ext uri="{FF2B5EF4-FFF2-40B4-BE49-F238E27FC236}">
                  <a16:creationId xmlns:a16="http://schemas.microsoft.com/office/drawing/2014/main" id="{B3D9D588-7B18-45E6-B94C-14FE3288D13A}"/>
                </a:ext>
              </a:extLst>
            </p:cNvPr>
            <p:cNvSpPr/>
            <p:nvPr/>
          </p:nvSpPr>
          <p:spPr>
            <a:xfrm>
              <a:off x="7377202" y="4624681"/>
              <a:ext cx="448408" cy="413311"/>
            </a:xfrm>
            <a:prstGeom prst="rightArrow">
              <a:avLst/>
            </a:prstGeom>
            <a:solidFill>
              <a:srgbClr val="B4C7E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pic>
        <p:nvPicPr>
          <p:cNvPr id="88" name="Image 87">
            <a:extLst>
              <a:ext uri="{FF2B5EF4-FFF2-40B4-BE49-F238E27FC236}">
                <a16:creationId xmlns:a16="http://schemas.microsoft.com/office/drawing/2014/main" id="{6DEDB142-1F6C-45C3-A4A6-9C28FAA1848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02958" y="4219603"/>
            <a:ext cx="2111220" cy="1607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233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8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53A3354-D6B2-4B5E-A1BE-C95ADB1E6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3E120-D10E-4965-94AF-FE28403C3DAC}" type="slidenum">
              <a:rPr lang="fr-FR" smtClean="0"/>
              <a:t>5</a:t>
            </a:fld>
            <a:endParaRPr lang="fr-FR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5AB7E328-1CA7-44B7-86AE-5B80F682BCC3}"/>
              </a:ext>
            </a:extLst>
          </p:cNvPr>
          <p:cNvSpPr txBox="1"/>
          <p:nvPr/>
        </p:nvSpPr>
        <p:spPr>
          <a:xfrm>
            <a:off x="142875" y="289796"/>
            <a:ext cx="54483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i="1" dirty="0">
                <a:solidFill>
                  <a:srgbClr val="6C747F"/>
                </a:solidFill>
              </a:rPr>
              <a:t>Master </a:t>
            </a:r>
            <a:r>
              <a:rPr lang="fr-FR" sz="3600" b="1" i="1" dirty="0" err="1">
                <a:solidFill>
                  <a:srgbClr val="6C747F"/>
                </a:solidFill>
              </a:rPr>
              <a:t>Thesis</a:t>
            </a:r>
            <a:r>
              <a:rPr lang="fr-FR" sz="3600" b="1" i="1" dirty="0">
                <a:solidFill>
                  <a:srgbClr val="6C747F"/>
                </a:solidFill>
              </a:rPr>
              <a:t> @CEA</a:t>
            </a:r>
          </a:p>
        </p:txBody>
      </p: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44D5BCD5-3E02-4CA4-BC06-81F5E21AEE9B}"/>
              </a:ext>
            </a:extLst>
          </p:cNvPr>
          <p:cNvGrpSpPr/>
          <p:nvPr/>
        </p:nvGrpSpPr>
        <p:grpSpPr>
          <a:xfrm>
            <a:off x="-677008" y="988705"/>
            <a:ext cx="5058508" cy="2074657"/>
            <a:chOff x="-677008" y="988705"/>
            <a:chExt cx="5058508" cy="2074657"/>
          </a:xfrm>
        </p:grpSpPr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8A1AE3BC-8B70-4832-ABD7-6721A13C50F5}"/>
                </a:ext>
              </a:extLst>
            </p:cNvPr>
            <p:cNvCxnSpPr>
              <a:cxnSpLocks/>
            </p:cNvCxnSpPr>
            <p:nvPr/>
          </p:nvCxnSpPr>
          <p:spPr>
            <a:xfrm>
              <a:off x="-677008" y="1009219"/>
              <a:ext cx="5058508" cy="0"/>
            </a:xfrm>
            <a:prstGeom prst="line">
              <a:avLst/>
            </a:prstGeom>
            <a:ln w="38100">
              <a:solidFill>
                <a:schemeClr val="accent1">
                  <a:lumMod val="50000"/>
                </a:schemeClr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orme libre : forme 18">
              <a:extLst>
                <a:ext uri="{FF2B5EF4-FFF2-40B4-BE49-F238E27FC236}">
                  <a16:creationId xmlns:a16="http://schemas.microsoft.com/office/drawing/2014/main" id="{59DCF7C9-D82B-410B-92D2-08EF79A8881B}"/>
                </a:ext>
              </a:extLst>
            </p:cNvPr>
            <p:cNvSpPr/>
            <p:nvPr/>
          </p:nvSpPr>
          <p:spPr>
            <a:xfrm>
              <a:off x="-155329" y="1014023"/>
              <a:ext cx="3501536" cy="2049339"/>
            </a:xfrm>
            <a:custGeom>
              <a:avLst/>
              <a:gdLst>
                <a:gd name="connsiteX0" fmla="*/ 19071 w 3043625"/>
                <a:gd name="connsiteY0" fmla="*/ 1972264 h 1972264"/>
                <a:gd name="connsiteX1" fmla="*/ 449894 w 3043625"/>
                <a:gd name="connsiteY1" fmla="*/ 292934 h 1972264"/>
                <a:gd name="connsiteX2" fmla="*/ 3043625 w 3043625"/>
                <a:gd name="connsiteY2" fmla="*/ 11580 h 1972264"/>
                <a:gd name="connsiteX0" fmla="*/ 5294 w 3214486"/>
                <a:gd name="connsiteY0" fmla="*/ 2033810 h 2033810"/>
                <a:gd name="connsiteX1" fmla="*/ 620755 w 3214486"/>
                <a:gd name="connsiteY1" fmla="*/ 292934 h 2033810"/>
                <a:gd name="connsiteX2" fmla="*/ 3214486 w 3214486"/>
                <a:gd name="connsiteY2" fmla="*/ 11580 h 2033810"/>
                <a:gd name="connsiteX0" fmla="*/ 0 w 3209192"/>
                <a:gd name="connsiteY0" fmla="*/ 2033810 h 2033810"/>
                <a:gd name="connsiteX1" fmla="*/ 615461 w 3209192"/>
                <a:gd name="connsiteY1" fmla="*/ 292934 h 2033810"/>
                <a:gd name="connsiteX2" fmla="*/ 3209192 w 3209192"/>
                <a:gd name="connsiteY2" fmla="*/ 11580 h 2033810"/>
                <a:gd name="connsiteX0" fmla="*/ 0 w 3209192"/>
                <a:gd name="connsiteY0" fmla="*/ 2037048 h 2037048"/>
                <a:gd name="connsiteX1" fmla="*/ 624253 w 3209192"/>
                <a:gd name="connsiteY1" fmla="*/ 278588 h 2037048"/>
                <a:gd name="connsiteX2" fmla="*/ 3209192 w 3209192"/>
                <a:gd name="connsiteY2" fmla="*/ 14818 h 2037048"/>
                <a:gd name="connsiteX0" fmla="*/ 0 w 3472961"/>
                <a:gd name="connsiteY0" fmla="*/ 2051394 h 2051394"/>
                <a:gd name="connsiteX1" fmla="*/ 624253 w 3472961"/>
                <a:gd name="connsiteY1" fmla="*/ 292934 h 2051394"/>
                <a:gd name="connsiteX2" fmla="*/ 3472961 w 3472961"/>
                <a:gd name="connsiteY2" fmla="*/ 11580 h 2051394"/>
                <a:gd name="connsiteX0" fmla="*/ 0 w 3472961"/>
                <a:gd name="connsiteY0" fmla="*/ 2047904 h 2047904"/>
                <a:gd name="connsiteX1" fmla="*/ 615461 w 3472961"/>
                <a:gd name="connsiteY1" fmla="*/ 315821 h 2047904"/>
                <a:gd name="connsiteX2" fmla="*/ 3472961 w 3472961"/>
                <a:gd name="connsiteY2" fmla="*/ 8090 h 2047904"/>
                <a:gd name="connsiteX0" fmla="*/ 0 w 3501536"/>
                <a:gd name="connsiteY0" fmla="*/ 2056500 h 2056500"/>
                <a:gd name="connsiteX1" fmla="*/ 615461 w 3501536"/>
                <a:gd name="connsiteY1" fmla="*/ 324417 h 2056500"/>
                <a:gd name="connsiteX2" fmla="*/ 3501536 w 3501536"/>
                <a:gd name="connsiteY2" fmla="*/ 7161 h 2056500"/>
                <a:gd name="connsiteX0" fmla="*/ 0 w 3501536"/>
                <a:gd name="connsiteY0" fmla="*/ 2049339 h 2049339"/>
                <a:gd name="connsiteX1" fmla="*/ 615461 w 3501536"/>
                <a:gd name="connsiteY1" fmla="*/ 317256 h 2049339"/>
                <a:gd name="connsiteX2" fmla="*/ 3501536 w 3501536"/>
                <a:gd name="connsiteY2" fmla="*/ 0 h 2049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01536" h="2049339">
                  <a:moveTo>
                    <a:pt x="0" y="2049339"/>
                  </a:moveTo>
                  <a:cubicBezTo>
                    <a:pt x="42496" y="1311517"/>
                    <a:pt x="111369" y="644037"/>
                    <a:pt x="615461" y="317256"/>
                  </a:cubicBezTo>
                  <a:cubicBezTo>
                    <a:pt x="1119553" y="-9525"/>
                    <a:pt x="2447191" y="15386"/>
                    <a:pt x="3501536" y="0"/>
                  </a:cubicBezTo>
                </a:path>
              </a:pathLst>
            </a:custGeom>
            <a:noFill/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13" name="Forme libre : forme 12">
              <a:extLst>
                <a:ext uri="{FF2B5EF4-FFF2-40B4-BE49-F238E27FC236}">
                  <a16:creationId xmlns:a16="http://schemas.microsoft.com/office/drawing/2014/main" id="{E84B1851-5A65-4996-9239-68F944A5866B}"/>
                </a:ext>
              </a:extLst>
            </p:cNvPr>
            <p:cNvSpPr/>
            <p:nvPr/>
          </p:nvSpPr>
          <p:spPr>
            <a:xfrm>
              <a:off x="-193429" y="994973"/>
              <a:ext cx="3501536" cy="2049339"/>
            </a:xfrm>
            <a:custGeom>
              <a:avLst/>
              <a:gdLst>
                <a:gd name="connsiteX0" fmla="*/ 19071 w 3043625"/>
                <a:gd name="connsiteY0" fmla="*/ 1972264 h 1972264"/>
                <a:gd name="connsiteX1" fmla="*/ 449894 w 3043625"/>
                <a:gd name="connsiteY1" fmla="*/ 292934 h 1972264"/>
                <a:gd name="connsiteX2" fmla="*/ 3043625 w 3043625"/>
                <a:gd name="connsiteY2" fmla="*/ 11580 h 1972264"/>
                <a:gd name="connsiteX0" fmla="*/ 5294 w 3214486"/>
                <a:gd name="connsiteY0" fmla="*/ 2033810 h 2033810"/>
                <a:gd name="connsiteX1" fmla="*/ 620755 w 3214486"/>
                <a:gd name="connsiteY1" fmla="*/ 292934 h 2033810"/>
                <a:gd name="connsiteX2" fmla="*/ 3214486 w 3214486"/>
                <a:gd name="connsiteY2" fmla="*/ 11580 h 2033810"/>
                <a:gd name="connsiteX0" fmla="*/ 0 w 3209192"/>
                <a:gd name="connsiteY0" fmla="*/ 2033810 h 2033810"/>
                <a:gd name="connsiteX1" fmla="*/ 615461 w 3209192"/>
                <a:gd name="connsiteY1" fmla="*/ 292934 h 2033810"/>
                <a:gd name="connsiteX2" fmla="*/ 3209192 w 3209192"/>
                <a:gd name="connsiteY2" fmla="*/ 11580 h 2033810"/>
                <a:gd name="connsiteX0" fmla="*/ 0 w 3209192"/>
                <a:gd name="connsiteY0" fmla="*/ 2037048 h 2037048"/>
                <a:gd name="connsiteX1" fmla="*/ 624253 w 3209192"/>
                <a:gd name="connsiteY1" fmla="*/ 278588 h 2037048"/>
                <a:gd name="connsiteX2" fmla="*/ 3209192 w 3209192"/>
                <a:gd name="connsiteY2" fmla="*/ 14818 h 2037048"/>
                <a:gd name="connsiteX0" fmla="*/ 0 w 3472961"/>
                <a:gd name="connsiteY0" fmla="*/ 2051394 h 2051394"/>
                <a:gd name="connsiteX1" fmla="*/ 624253 w 3472961"/>
                <a:gd name="connsiteY1" fmla="*/ 292934 h 2051394"/>
                <a:gd name="connsiteX2" fmla="*/ 3472961 w 3472961"/>
                <a:gd name="connsiteY2" fmla="*/ 11580 h 2051394"/>
                <a:gd name="connsiteX0" fmla="*/ 0 w 3472961"/>
                <a:gd name="connsiteY0" fmla="*/ 2047904 h 2047904"/>
                <a:gd name="connsiteX1" fmla="*/ 615461 w 3472961"/>
                <a:gd name="connsiteY1" fmla="*/ 315821 h 2047904"/>
                <a:gd name="connsiteX2" fmla="*/ 3472961 w 3472961"/>
                <a:gd name="connsiteY2" fmla="*/ 8090 h 2047904"/>
                <a:gd name="connsiteX0" fmla="*/ 0 w 3501536"/>
                <a:gd name="connsiteY0" fmla="*/ 2056500 h 2056500"/>
                <a:gd name="connsiteX1" fmla="*/ 615461 w 3501536"/>
                <a:gd name="connsiteY1" fmla="*/ 324417 h 2056500"/>
                <a:gd name="connsiteX2" fmla="*/ 3501536 w 3501536"/>
                <a:gd name="connsiteY2" fmla="*/ 7161 h 2056500"/>
                <a:gd name="connsiteX0" fmla="*/ 0 w 3501536"/>
                <a:gd name="connsiteY0" fmla="*/ 2049339 h 2049339"/>
                <a:gd name="connsiteX1" fmla="*/ 615461 w 3501536"/>
                <a:gd name="connsiteY1" fmla="*/ 317256 h 2049339"/>
                <a:gd name="connsiteX2" fmla="*/ 3501536 w 3501536"/>
                <a:gd name="connsiteY2" fmla="*/ 0 h 2049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01536" h="2049339">
                  <a:moveTo>
                    <a:pt x="0" y="2049339"/>
                  </a:moveTo>
                  <a:cubicBezTo>
                    <a:pt x="42496" y="1311517"/>
                    <a:pt x="111369" y="644037"/>
                    <a:pt x="615461" y="317256"/>
                  </a:cubicBezTo>
                  <a:cubicBezTo>
                    <a:pt x="1119553" y="-9525"/>
                    <a:pt x="2447191" y="15386"/>
                    <a:pt x="3501536" y="0"/>
                  </a:cubicBezTo>
                </a:path>
              </a:pathLst>
            </a:custGeom>
            <a:noFill/>
            <a:ln w="38100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12" name="Connecteur droit 11">
              <a:extLst>
                <a:ext uri="{FF2B5EF4-FFF2-40B4-BE49-F238E27FC236}">
                  <a16:creationId xmlns:a16="http://schemas.microsoft.com/office/drawing/2014/main" id="{E1F4C541-8988-48A8-AEAD-E087D53C9EE8}"/>
                </a:ext>
              </a:extLst>
            </p:cNvPr>
            <p:cNvCxnSpPr>
              <a:cxnSpLocks/>
            </p:cNvCxnSpPr>
            <p:nvPr/>
          </p:nvCxnSpPr>
          <p:spPr>
            <a:xfrm>
              <a:off x="-163595" y="988705"/>
              <a:ext cx="4545095" cy="0"/>
            </a:xfrm>
            <a:prstGeom prst="line">
              <a:avLst/>
            </a:prstGeom>
            <a:ln w="38100">
              <a:solidFill>
                <a:schemeClr val="accent1">
                  <a:lumMod val="40000"/>
                  <a:lumOff val="60000"/>
                </a:schemeClr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Image 2">
            <a:extLst>
              <a:ext uri="{FF2B5EF4-FFF2-40B4-BE49-F238E27FC236}">
                <a16:creationId xmlns:a16="http://schemas.microsoft.com/office/drawing/2014/main" id="{DB0D777B-1F37-47D1-94C2-281026E4A0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8732" y="-3598"/>
            <a:ext cx="1943268" cy="548688"/>
          </a:xfrm>
          <a:prstGeom prst="rect">
            <a:avLst/>
          </a:prstGeom>
        </p:spPr>
      </p:pic>
      <p:pic>
        <p:nvPicPr>
          <p:cNvPr id="51" name="Image 50">
            <a:extLst>
              <a:ext uri="{FF2B5EF4-FFF2-40B4-BE49-F238E27FC236}">
                <a16:creationId xmlns:a16="http://schemas.microsoft.com/office/drawing/2014/main" id="{0D3C8F89-BD45-43ED-9B7E-DC91B96910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134" y="6006882"/>
            <a:ext cx="1074131" cy="532030"/>
          </a:xfrm>
          <a:prstGeom prst="rect">
            <a:avLst/>
          </a:prstGeom>
        </p:spPr>
      </p:pic>
      <p:grpSp>
        <p:nvGrpSpPr>
          <p:cNvPr id="15" name="Groupe 14">
            <a:extLst>
              <a:ext uri="{FF2B5EF4-FFF2-40B4-BE49-F238E27FC236}">
                <a16:creationId xmlns:a16="http://schemas.microsoft.com/office/drawing/2014/main" id="{A17B4CAE-2891-4E29-9668-0A3505D68492}"/>
              </a:ext>
            </a:extLst>
          </p:cNvPr>
          <p:cNvGrpSpPr/>
          <p:nvPr/>
        </p:nvGrpSpPr>
        <p:grpSpPr>
          <a:xfrm>
            <a:off x="1557339" y="1432666"/>
            <a:ext cx="9532193" cy="2396946"/>
            <a:chOff x="1443037" y="3679448"/>
            <a:chExt cx="9532193" cy="2396946"/>
          </a:xfrm>
        </p:grpSpPr>
        <p:sp>
          <p:nvSpPr>
            <p:cNvPr id="75" name="Rectangle : coins arrondis 74">
              <a:extLst>
                <a:ext uri="{FF2B5EF4-FFF2-40B4-BE49-F238E27FC236}">
                  <a16:creationId xmlns:a16="http://schemas.microsoft.com/office/drawing/2014/main" id="{BE4D45D8-C3FA-4C1D-A63F-5E17B0673B9A}"/>
                </a:ext>
              </a:extLst>
            </p:cNvPr>
            <p:cNvSpPr/>
            <p:nvPr/>
          </p:nvSpPr>
          <p:spPr>
            <a:xfrm>
              <a:off x="1443037" y="3679448"/>
              <a:ext cx="9532193" cy="2396946"/>
            </a:xfrm>
            <a:prstGeom prst="roundRect">
              <a:avLst>
                <a:gd name="adj" fmla="val 7094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52" name="ZoneTexte 51">
              <a:extLst>
                <a:ext uri="{FF2B5EF4-FFF2-40B4-BE49-F238E27FC236}">
                  <a16:creationId xmlns:a16="http://schemas.microsoft.com/office/drawing/2014/main" id="{E5C577EA-CDAF-47EB-84F9-C3851CC5446D}"/>
                </a:ext>
              </a:extLst>
            </p:cNvPr>
            <p:cNvSpPr txBox="1"/>
            <p:nvPr/>
          </p:nvSpPr>
          <p:spPr>
            <a:xfrm>
              <a:off x="1557339" y="3740869"/>
              <a:ext cx="5109454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fr-FR" b="1" dirty="0">
                  <a:solidFill>
                    <a:srgbClr val="6C747F"/>
                  </a:solidFill>
                  <a:latin typeface="DM Sans"/>
                </a:rPr>
                <a:t>Master </a:t>
              </a:r>
              <a:r>
                <a:rPr lang="fr-FR" b="1" dirty="0" err="1">
                  <a:solidFill>
                    <a:srgbClr val="6C747F"/>
                  </a:solidFill>
                  <a:latin typeface="DM Sans"/>
                </a:rPr>
                <a:t>Thesis</a:t>
              </a:r>
              <a:r>
                <a:rPr lang="fr-FR" b="1" i="0" dirty="0">
                  <a:solidFill>
                    <a:srgbClr val="6C747F"/>
                  </a:solidFill>
                  <a:effectLst/>
                  <a:latin typeface="DM Sans"/>
                </a:rPr>
                <a:t>:</a:t>
              </a:r>
              <a:r>
                <a:rPr lang="fr-FR" i="0" dirty="0">
                  <a:solidFill>
                    <a:srgbClr val="6C747F"/>
                  </a:solidFill>
                  <a:effectLst/>
                  <a:latin typeface="DM Sans"/>
                </a:rPr>
                <a:t> </a:t>
              </a:r>
              <a:r>
                <a:rPr lang="fr-FR" i="0" dirty="0" err="1">
                  <a:solidFill>
                    <a:srgbClr val="6C747F"/>
                  </a:solidFill>
                  <a:effectLst/>
                  <a:latin typeface="DM Sans"/>
                </a:rPr>
                <a:t>Multiplexing</a:t>
              </a:r>
              <a:r>
                <a:rPr lang="fr-FR" i="0" dirty="0">
                  <a:solidFill>
                    <a:srgbClr val="6C747F"/>
                  </a:solidFill>
                  <a:effectLst/>
                  <a:latin typeface="DM Sans"/>
                </a:rPr>
                <a:t> and Amplification </a:t>
              </a:r>
              <a:r>
                <a:rPr lang="fr-FR" i="0" dirty="0" err="1">
                  <a:solidFill>
                    <a:srgbClr val="6C747F"/>
                  </a:solidFill>
                  <a:effectLst/>
                  <a:latin typeface="DM Sans"/>
                </a:rPr>
                <a:t>board</a:t>
              </a:r>
              <a:r>
                <a:rPr lang="fr-FR" i="0" dirty="0">
                  <a:solidFill>
                    <a:srgbClr val="6C747F"/>
                  </a:solidFill>
                  <a:effectLst/>
                  <a:latin typeface="DM Sans"/>
                </a:rPr>
                <a:t> (50 I/Os) for </a:t>
              </a:r>
              <a:r>
                <a:rPr lang="fr-FR" i="0" dirty="0" err="1">
                  <a:solidFill>
                    <a:srgbClr val="6C747F"/>
                  </a:solidFill>
                  <a:effectLst/>
                  <a:latin typeface="DM Sans"/>
                </a:rPr>
                <a:t>CryoProber</a:t>
              </a:r>
              <a:r>
                <a:rPr lang="fr-FR" i="0" dirty="0">
                  <a:solidFill>
                    <a:srgbClr val="6C747F"/>
                  </a:solidFill>
                  <a:effectLst/>
                  <a:latin typeface="DM Sans"/>
                </a:rPr>
                <a:t> to </a:t>
              </a:r>
              <a:r>
                <a:rPr lang="fr-FR" i="0" dirty="0" err="1">
                  <a:solidFill>
                    <a:srgbClr val="6C747F"/>
                  </a:solidFill>
                  <a:effectLst/>
                  <a:latin typeface="DM Sans"/>
                </a:rPr>
                <a:t>enhance</a:t>
              </a:r>
              <a:r>
                <a:rPr lang="fr-FR" i="0" dirty="0">
                  <a:solidFill>
                    <a:srgbClr val="6C747F"/>
                  </a:solidFill>
                  <a:effectLst/>
                  <a:latin typeface="DM Sans"/>
                </a:rPr>
                <a:t> Qubits/Quantum Dots </a:t>
              </a:r>
              <a:r>
                <a:rPr lang="fr-FR" i="0" dirty="0" err="1">
                  <a:solidFill>
                    <a:srgbClr val="6C747F"/>
                  </a:solidFill>
                  <a:effectLst/>
                  <a:latin typeface="DM Sans"/>
                </a:rPr>
                <a:t>Measurement</a:t>
              </a:r>
              <a:r>
                <a:rPr lang="fr-FR" i="0" dirty="0">
                  <a:solidFill>
                    <a:srgbClr val="6C747F"/>
                  </a:solidFill>
                  <a:effectLst/>
                  <a:latin typeface="DM Sans"/>
                </a:rPr>
                <a:t>.</a:t>
              </a:r>
            </a:p>
            <a:p>
              <a:pPr algn="l"/>
              <a:endParaRPr lang="fr-FR" i="0" dirty="0">
                <a:solidFill>
                  <a:srgbClr val="6C747F"/>
                </a:solidFill>
                <a:effectLst/>
                <a:latin typeface="DM Sans"/>
              </a:endParaRPr>
            </a:p>
          </p:txBody>
        </p:sp>
        <p:pic>
          <p:nvPicPr>
            <p:cNvPr id="76" name="Image 75">
              <a:extLst>
                <a:ext uri="{FF2B5EF4-FFF2-40B4-BE49-F238E27FC236}">
                  <a16:creationId xmlns:a16="http://schemas.microsoft.com/office/drawing/2014/main" id="{190C7C25-7CF4-47FF-AE59-4DB661BB6D9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937" b="14715"/>
            <a:stretch/>
          </p:blipFill>
          <p:spPr>
            <a:xfrm>
              <a:off x="6833482" y="3761958"/>
              <a:ext cx="3967868" cy="2231926"/>
            </a:xfrm>
            <a:prstGeom prst="rect">
              <a:avLst/>
            </a:prstGeom>
          </p:spPr>
        </p:pic>
        <p:sp>
          <p:nvSpPr>
            <p:cNvPr id="77" name="ZoneTexte 76">
              <a:extLst>
                <a:ext uri="{FF2B5EF4-FFF2-40B4-BE49-F238E27FC236}">
                  <a16:creationId xmlns:a16="http://schemas.microsoft.com/office/drawing/2014/main" id="{AA0DA522-1EAB-484E-9C2A-DF6F2BF692ED}"/>
                </a:ext>
              </a:extLst>
            </p:cNvPr>
            <p:cNvSpPr txBox="1"/>
            <p:nvPr/>
          </p:nvSpPr>
          <p:spPr>
            <a:xfrm>
              <a:off x="1576389" y="4705175"/>
              <a:ext cx="6462712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fr-FR" b="1" i="0" dirty="0" err="1">
                  <a:solidFill>
                    <a:srgbClr val="6C747F"/>
                  </a:solidFill>
                  <a:effectLst/>
                  <a:latin typeface="DM Sans"/>
                </a:rPr>
                <a:t>Technical</a:t>
              </a:r>
              <a:r>
                <a:rPr lang="fr-FR" b="1" i="0" dirty="0">
                  <a:solidFill>
                    <a:srgbClr val="6C747F"/>
                  </a:solidFill>
                  <a:effectLst/>
                  <a:latin typeface="DM Sans"/>
                </a:rPr>
                <a:t> </a:t>
              </a:r>
              <a:r>
                <a:rPr lang="fr-FR" b="1" i="0" dirty="0" err="1">
                  <a:solidFill>
                    <a:srgbClr val="6C747F"/>
                  </a:solidFill>
                  <a:effectLst/>
                  <a:latin typeface="DM Sans"/>
                </a:rPr>
                <a:t>Constraints</a:t>
              </a:r>
              <a:r>
                <a:rPr lang="fr-FR" b="1" i="0" dirty="0">
                  <a:solidFill>
                    <a:srgbClr val="6C747F"/>
                  </a:solidFill>
                  <a:effectLst/>
                  <a:latin typeface="DM Sans"/>
                </a:rPr>
                <a:t>:</a:t>
              </a:r>
            </a:p>
            <a:p>
              <a:pPr marL="285750" indent="-285750" algn="l">
                <a:buFont typeface="Arial" panose="020B0604020202020204" pitchFamily="34" charset="0"/>
                <a:buChar char="•"/>
              </a:pPr>
              <a:r>
                <a:rPr lang="fr-FR" i="0" dirty="0">
                  <a:solidFill>
                    <a:srgbClr val="6C747F"/>
                  </a:solidFill>
                  <a:effectLst/>
                  <a:latin typeface="DM Sans"/>
                </a:rPr>
                <a:t>Strict thermal budget management (4 Kelvin stage).</a:t>
              </a:r>
            </a:p>
            <a:p>
              <a:pPr marL="285750" indent="-285750" algn="l">
                <a:buFont typeface="Arial" panose="020B0604020202020204" pitchFamily="34" charset="0"/>
                <a:buChar char="•"/>
              </a:pPr>
              <a:r>
                <a:rPr lang="fr-FR" i="0" dirty="0">
                  <a:solidFill>
                    <a:srgbClr val="6C747F"/>
                  </a:solidFill>
                  <a:effectLst/>
                  <a:latin typeface="DM Sans"/>
                </a:rPr>
                <a:t>Low-noise </a:t>
              </a:r>
              <a:r>
                <a:rPr lang="fr-FR" i="0" dirty="0" err="1">
                  <a:solidFill>
                    <a:srgbClr val="6C747F"/>
                  </a:solidFill>
                  <a:effectLst/>
                  <a:latin typeface="DM Sans"/>
                </a:rPr>
                <a:t>Cryogenic</a:t>
              </a:r>
              <a:r>
                <a:rPr lang="fr-FR" i="0" dirty="0">
                  <a:solidFill>
                    <a:srgbClr val="6C747F"/>
                  </a:solidFill>
                  <a:effectLst/>
                  <a:latin typeface="DM Sans"/>
                </a:rPr>
                <a:t> I/V </a:t>
              </a:r>
              <a:r>
                <a:rPr lang="fr-FR" i="0" dirty="0" err="1">
                  <a:solidFill>
                    <a:srgbClr val="6C747F"/>
                  </a:solidFill>
                  <a:effectLst/>
                  <a:latin typeface="DM Sans"/>
                </a:rPr>
                <a:t>converter</a:t>
              </a:r>
              <a:r>
                <a:rPr lang="fr-FR" i="0" dirty="0">
                  <a:solidFill>
                    <a:srgbClr val="6C747F"/>
                  </a:solidFill>
                  <a:effectLst/>
                  <a:latin typeface="DM Sans"/>
                </a:rPr>
                <a:t> design.</a:t>
              </a:r>
            </a:p>
            <a:p>
              <a:pPr marL="285750" indent="-285750" algn="l">
                <a:buFont typeface="Arial" panose="020B0604020202020204" pitchFamily="34" charset="0"/>
                <a:buChar char="•"/>
              </a:pPr>
              <a:r>
                <a:rPr lang="fr-FR" i="0" dirty="0">
                  <a:solidFill>
                    <a:srgbClr val="6C747F"/>
                  </a:solidFill>
                  <a:effectLst/>
                  <a:latin typeface="DM Sans"/>
                </a:rPr>
                <a:t>Signal </a:t>
              </a:r>
              <a:r>
                <a:rPr lang="fr-FR" i="0" dirty="0" err="1">
                  <a:solidFill>
                    <a:srgbClr val="6C747F"/>
                  </a:solidFill>
                  <a:effectLst/>
                  <a:latin typeface="DM Sans"/>
                </a:rPr>
                <a:t>integrity</a:t>
              </a:r>
              <a:r>
                <a:rPr lang="fr-FR" i="0" dirty="0">
                  <a:solidFill>
                    <a:srgbClr val="6C747F"/>
                  </a:solidFill>
                  <a:effectLst/>
                  <a:latin typeface="DM Sans"/>
                </a:rPr>
                <a:t> </a:t>
              </a:r>
              <a:r>
                <a:rPr lang="fr-FR" i="0" dirty="0" err="1">
                  <a:solidFill>
                    <a:srgbClr val="6C747F"/>
                  </a:solidFill>
                  <a:effectLst/>
                  <a:latin typeface="DM Sans"/>
                </a:rPr>
                <a:t>within</a:t>
              </a:r>
              <a:r>
                <a:rPr lang="fr-FR" i="0" dirty="0">
                  <a:solidFill>
                    <a:srgbClr val="6C747F"/>
                  </a:solidFill>
                  <a:effectLst/>
                  <a:latin typeface="DM Sans"/>
                </a:rPr>
                <a:t> a dilution </a:t>
              </a:r>
              <a:r>
                <a:rPr lang="fr-FR" i="0" dirty="0" err="1">
                  <a:solidFill>
                    <a:srgbClr val="6C747F"/>
                  </a:solidFill>
                  <a:effectLst/>
                  <a:latin typeface="DM Sans"/>
                </a:rPr>
                <a:t>refrigerator</a:t>
              </a:r>
              <a:endParaRPr lang="fr-FR" i="0" dirty="0">
                <a:solidFill>
                  <a:srgbClr val="6C747F"/>
                </a:solidFill>
                <a:effectLst/>
                <a:latin typeface="DM Sans"/>
              </a:endParaRPr>
            </a:p>
          </p:txBody>
        </p:sp>
      </p:grpSp>
      <p:pic>
        <p:nvPicPr>
          <p:cNvPr id="5" name="Image 4">
            <a:extLst>
              <a:ext uri="{FF2B5EF4-FFF2-40B4-BE49-F238E27FC236}">
                <a16:creationId xmlns:a16="http://schemas.microsoft.com/office/drawing/2014/main" id="{7F47366B-A3A6-4C03-9588-1EEFD20F1F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0773" y="3891033"/>
            <a:ext cx="6084309" cy="2740298"/>
          </a:xfrm>
          <a:prstGeom prst="rect">
            <a:avLst/>
          </a:prstGeom>
        </p:spPr>
      </p:pic>
      <p:sp>
        <p:nvSpPr>
          <p:cNvPr id="26" name="ZoneTexte 25">
            <a:extLst>
              <a:ext uri="{FF2B5EF4-FFF2-40B4-BE49-F238E27FC236}">
                <a16:creationId xmlns:a16="http://schemas.microsoft.com/office/drawing/2014/main" id="{FA513063-45D2-40D5-AACC-6CEF74D07B12}"/>
              </a:ext>
            </a:extLst>
          </p:cNvPr>
          <p:cNvSpPr txBox="1"/>
          <p:nvPr/>
        </p:nvSpPr>
        <p:spPr>
          <a:xfrm>
            <a:off x="4226368" y="3956819"/>
            <a:ext cx="40209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Proposed architecture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4ADCF29C-AE66-4524-9836-E43E741DC2C9}"/>
              </a:ext>
            </a:extLst>
          </p:cNvPr>
          <p:cNvSpPr txBox="1"/>
          <p:nvPr/>
        </p:nvSpPr>
        <p:spPr>
          <a:xfrm>
            <a:off x="7670590" y="4326151"/>
            <a:ext cx="402090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Selecting/Logic Circuit/ Software concept has been validated at 298 K &amp; 4 K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Ongoing testing for better Selectors </a:t>
            </a:r>
            <a:r>
              <a:rPr lang="en-US" i="1" dirty="0"/>
              <a:t>(BW/Footprint/</a:t>
            </a:r>
            <a:r>
              <a:rPr lang="en-US" i="1" dirty="0" err="1"/>
              <a:t>Con,off</a:t>
            </a:r>
            <a:r>
              <a:rPr lang="en-US" i="1" dirty="0"/>
              <a:t>/Ron)</a:t>
            </a:r>
          </a:p>
          <a:p>
            <a:r>
              <a:rPr lang="en-US" dirty="0"/>
              <a:t>      &amp; Designing Amplification test board</a:t>
            </a:r>
          </a:p>
        </p:txBody>
      </p:sp>
    </p:spTree>
    <p:extLst>
      <p:ext uri="{BB962C8B-B14F-4D97-AF65-F5344CB8AC3E}">
        <p14:creationId xmlns:p14="http://schemas.microsoft.com/office/powerpoint/2010/main" val="3894150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angle : coins arrondis 91">
            <a:extLst>
              <a:ext uri="{FF2B5EF4-FFF2-40B4-BE49-F238E27FC236}">
                <a16:creationId xmlns:a16="http://schemas.microsoft.com/office/drawing/2014/main" id="{E7E95AC3-9E2C-40D5-A0D6-EC3D14B5ED0B}"/>
              </a:ext>
            </a:extLst>
          </p:cNvPr>
          <p:cNvSpPr/>
          <p:nvPr/>
        </p:nvSpPr>
        <p:spPr>
          <a:xfrm>
            <a:off x="555639" y="1593906"/>
            <a:ext cx="4930761" cy="1487539"/>
          </a:xfrm>
          <a:prstGeom prst="roundRect">
            <a:avLst>
              <a:gd name="adj" fmla="val 5108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5AB7E328-1CA7-44B7-86AE-5B80F682BCC3}"/>
              </a:ext>
            </a:extLst>
          </p:cNvPr>
          <p:cNvSpPr txBox="1"/>
          <p:nvPr/>
        </p:nvSpPr>
        <p:spPr>
          <a:xfrm>
            <a:off x="142875" y="289796"/>
            <a:ext cx="58886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i="1" dirty="0">
                <a:solidFill>
                  <a:srgbClr val="6C747F"/>
                </a:solidFill>
              </a:rPr>
              <a:t>CMOS Designs </a:t>
            </a:r>
            <a:r>
              <a:rPr lang="fr-FR" sz="3600" b="1" i="1" dirty="0" err="1">
                <a:solidFill>
                  <a:srgbClr val="6C747F"/>
                </a:solidFill>
              </a:rPr>
              <a:t>experiences</a:t>
            </a:r>
            <a:endParaRPr lang="fr-FR" sz="3600" b="1" i="1" dirty="0">
              <a:solidFill>
                <a:srgbClr val="6C747F"/>
              </a:solidFill>
            </a:endParaRPr>
          </a:p>
        </p:txBody>
      </p: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44D5BCD5-3E02-4CA4-BC06-81F5E21AEE9B}"/>
              </a:ext>
            </a:extLst>
          </p:cNvPr>
          <p:cNvGrpSpPr/>
          <p:nvPr/>
        </p:nvGrpSpPr>
        <p:grpSpPr>
          <a:xfrm>
            <a:off x="-677008" y="988705"/>
            <a:ext cx="5926016" cy="2074657"/>
            <a:chOff x="-677008" y="988705"/>
            <a:chExt cx="5926016" cy="2074657"/>
          </a:xfrm>
        </p:grpSpPr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8A1AE3BC-8B70-4832-ABD7-6721A13C50F5}"/>
                </a:ext>
              </a:extLst>
            </p:cNvPr>
            <p:cNvCxnSpPr>
              <a:cxnSpLocks/>
            </p:cNvCxnSpPr>
            <p:nvPr/>
          </p:nvCxnSpPr>
          <p:spPr>
            <a:xfrm>
              <a:off x="-677008" y="1009219"/>
              <a:ext cx="5926016" cy="0"/>
            </a:xfrm>
            <a:prstGeom prst="line">
              <a:avLst/>
            </a:prstGeom>
            <a:ln w="38100">
              <a:solidFill>
                <a:schemeClr val="accent1">
                  <a:lumMod val="50000"/>
                </a:schemeClr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orme libre : forme 18">
              <a:extLst>
                <a:ext uri="{FF2B5EF4-FFF2-40B4-BE49-F238E27FC236}">
                  <a16:creationId xmlns:a16="http://schemas.microsoft.com/office/drawing/2014/main" id="{59DCF7C9-D82B-410B-92D2-08EF79A8881B}"/>
                </a:ext>
              </a:extLst>
            </p:cNvPr>
            <p:cNvSpPr/>
            <p:nvPr/>
          </p:nvSpPr>
          <p:spPr>
            <a:xfrm>
              <a:off x="-155329" y="1014023"/>
              <a:ext cx="3501536" cy="2049339"/>
            </a:xfrm>
            <a:custGeom>
              <a:avLst/>
              <a:gdLst>
                <a:gd name="connsiteX0" fmla="*/ 19071 w 3043625"/>
                <a:gd name="connsiteY0" fmla="*/ 1972264 h 1972264"/>
                <a:gd name="connsiteX1" fmla="*/ 449894 w 3043625"/>
                <a:gd name="connsiteY1" fmla="*/ 292934 h 1972264"/>
                <a:gd name="connsiteX2" fmla="*/ 3043625 w 3043625"/>
                <a:gd name="connsiteY2" fmla="*/ 11580 h 1972264"/>
                <a:gd name="connsiteX0" fmla="*/ 5294 w 3214486"/>
                <a:gd name="connsiteY0" fmla="*/ 2033810 h 2033810"/>
                <a:gd name="connsiteX1" fmla="*/ 620755 w 3214486"/>
                <a:gd name="connsiteY1" fmla="*/ 292934 h 2033810"/>
                <a:gd name="connsiteX2" fmla="*/ 3214486 w 3214486"/>
                <a:gd name="connsiteY2" fmla="*/ 11580 h 2033810"/>
                <a:gd name="connsiteX0" fmla="*/ 0 w 3209192"/>
                <a:gd name="connsiteY0" fmla="*/ 2033810 h 2033810"/>
                <a:gd name="connsiteX1" fmla="*/ 615461 w 3209192"/>
                <a:gd name="connsiteY1" fmla="*/ 292934 h 2033810"/>
                <a:gd name="connsiteX2" fmla="*/ 3209192 w 3209192"/>
                <a:gd name="connsiteY2" fmla="*/ 11580 h 2033810"/>
                <a:gd name="connsiteX0" fmla="*/ 0 w 3209192"/>
                <a:gd name="connsiteY0" fmla="*/ 2037048 h 2037048"/>
                <a:gd name="connsiteX1" fmla="*/ 624253 w 3209192"/>
                <a:gd name="connsiteY1" fmla="*/ 278588 h 2037048"/>
                <a:gd name="connsiteX2" fmla="*/ 3209192 w 3209192"/>
                <a:gd name="connsiteY2" fmla="*/ 14818 h 2037048"/>
                <a:gd name="connsiteX0" fmla="*/ 0 w 3472961"/>
                <a:gd name="connsiteY0" fmla="*/ 2051394 h 2051394"/>
                <a:gd name="connsiteX1" fmla="*/ 624253 w 3472961"/>
                <a:gd name="connsiteY1" fmla="*/ 292934 h 2051394"/>
                <a:gd name="connsiteX2" fmla="*/ 3472961 w 3472961"/>
                <a:gd name="connsiteY2" fmla="*/ 11580 h 2051394"/>
                <a:gd name="connsiteX0" fmla="*/ 0 w 3472961"/>
                <a:gd name="connsiteY0" fmla="*/ 2047904 h 2047904"/>
                <a:gd name="connsiteX1" fmla="*/ 615461 w 3472961"/>
                <a:gd name="connsiteY1" fmla="*/ 315821 h 2047904"/>
                <a:gd name="connsiteX2" fmla="*/ 3472961 w 3472961"/>
                <a:gd name="connsiteY2" fmla="*/ 8090 h 2047904"/>
                <a:gd name="connsiteX0" fmla="*/ 0 w 3501536"/>
                <a:gd name="connsiteY0" fmla="*/ 2056500 h 2056500"/>
                <a:gd name="connsiteX1" fmla="*/ 615461 w 3501536"/>
                <a:gd name="connsiteY1" fmla="*/ 324417 h 2056500"/>
                <a:gd name="connsiteX2" fmla="*/ 3501536 w 3501536"/>
                <a:gd name="connsiteY2" fmla="*/ 7161 h 2056500"/>
                <a:gd name="connsiteX0" fmla="*/ 0 w 3501536"/>
                <a:gd name="connsiteY0" fmla="*/ 2049339 h 2049339"/>
                <a:gd name="connsiteX1" fmla="*/ 615461 w 3501536"/>
                <a:gd name="connsiteY1" fmla="*/ 317256 h 2049339"/>
                <a:gd name="connsiteX2" fmla="*/ 3501536 w 3501536"/>
                <a:gd name="connsiteY2" fmla="*/ 0 h 2049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01536" h="2049339">
                  <a:moveTo>
                    <a:pt x="0" y="2049339"/>
                  </a:moveTo>
                  <a:cubicBezTo>
                    <a:pt x="42496" y="1311517"/>
                    <a:pt x="111369" y="644037"/>
                    <a:pt x="615461" y="317256"/>
                  </a:cubicBezTo>
                  <a:cubicBezTo>
                    <a:pt x="1119553" y="-9525"/>
                    <a:pt x="2447191" y="15386"/>
                    <a:pt x="3501536" y="0"/>
                  </a:cubicBezTo>
                </a:path>
              </a:pathLst>
            </a:custGeom>
            <a:noFill/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13" name="Forme libre : forme 12">
              <a:extLst>
                <a:ext uri="{FF2B5EF4-FFF2-40B4-BE49-F238E27FC236}">
                  <a16:creationId xmlns:a16="http://schemas.microsoft.com/office/drawing/2014/main" id="{E84B1851-5A65-4996-9239-68F944A5866B}"/>
                </a:ext>
              </a:extLst>
            </p:cNvPr>
            <p:cNvSpPr/>
            <p:nvPr/>
          </p:nvSpPr>
          <p:spPr>
            <a:xfrm>
              <a:off x="-193429" y="994973"/>
              <a:ext cx="3501536" cy="2049339"/>
            </a:xfrm>
            <a:custGeom>
              <a:avLst/>
              <a:gdLst>
                <a:gd name="connsiteX0" fmla="*/ 19071 w 3043625"/>
                <a:gd name="connsiteY0" fmla="*/ 1972264 h 1972264"/>
                <a:gd name="connsiteX1" fmla="*/ 449894 w 3043625"/>
                <a:gd name="connsiteY1" fmla="*/ 292934 h 1972264"/>
                <a:gd name="connsiteX2" fmla="*/ 3043625 w 3043625"/>
                <a:gd name="connsiteY2" fmla="*/ 11580 h 1972264"/>
                <a:gd name="connsiteX0" fmla="*/ 5294 w 3214486"/>
                <a:gd name="connsiteY0" fmla="*/ 2033810 h 2033810"/>
                <a:gd name="connsiteX1" fmla="*/ 620755 w 3214486"/>
                <a:gd name="connsiteY1" fmla="*/ 292934 h 2033810"/>
                <a:gd name="connsiteX2" fmla="*/ 3214486 w 3214486"/>
                <a:gd name="connsiteY2" fmla="*/ 11580 h 2033810"/>
                <a:gd name="connsiteX0" fmla="*/ 0 w 3209192"/>
                <a:gd name="connsiteY0" fmla="*/ 2033810 h 2033810"/>
                <a:gd name="connsiteX1" fmla="*/ 615461 w 3209192"/>
                <a:gd name="connsiteY1" fmla="*/ 292934 h 2033810"/>
                <a:gd name="connsiteX2" fmla="*/ 3209192 w 3209192"/>
                <a:gd name="connsiteY2" fmla="*/ 11580 h 2033810"/>
                <a:gd name="connsiteX0" fmla="*/ 0 w 3209192"/>
                <a:gd name="connsiteY0" fmla="*/ 2037048 h 2037048"/>
                <a:gd name="connsiteX1" fmla="*/ 624253 w 3209192"/>
                <a:gd name="connsiteY1" fmla="*/ 278588 h 2037048"/>
                <a:gd name="connsiteX2" fmla="*/ 3209192 w 3209192"/>
                <a:gd name="connsiteY2" fmla="*/ 14818 h 2037048"/>
                <a:gd name="connsiteX0" fmla="*/ 0 w 3472961"/>
                <a:gd name="connsiteY0" fmla="*/ 2051394 h 2051394"/>
                <a:gd name="connsiteX1" fmla="*/ 624253 w 3472961"/>
                <a:gd name="connsiteY1" fmla="*/ 292934 h 2051394"/>
                <a:gd name="connsiteX2" fmla="*/ 3472961 w 3472961"/>
                <a:gd name="connsiteY2" fmla="*/ 11580 h 2051394"/>
                <a:gd name="connsiteX0" fmla="*/ 0 w 3472961"/>
                <a:gd name="connsiteY0" fmla="*/ 2047904 h 2047904"/>
                <a:gd name="connsiteX1" fmla="*/ 615461 w 3472961"/>
                <a:gd name="connsiteY1" fmla="*/ 315821 h 2047904"/>
                <a:gd name="connsiteX2" fmla="*/ 3472961 w 3472961"/>
                <a:gd name="connsiteY2" fmla="*/ 8090 h 2047904"/>
                <a:gd name="connsiteX0" fmla="*/ 0 w 3501536"/>
                <a:gd name="connsiteY0" fmla="*/ 2056500 h 2056500"/>
                <a:gd name="connsiteX1" fmla="*/ 615461 w 3501536"/>
                <a:gd name="connsiteY1" fmla="*/ 324417 h 2056500"/>
                <a:gd name="connsiteX2" fmla="*/ 3501536 w 3501536"/>
                <a:gd name="connsiteY2" fmla="*/ 7161 h 2056500"/>
                <a:gd name="connsiteX0" fmla="*/ 0 w 3501536"/>
                <a:gd name="connsiteY0" fmla="*/ 2049339 h 2049339"/>
                <a:gd name="connsiteX1" fmla="*/ 615461 w 3501536"/>
                <a:gd name="connsiteY1" fmla="*/ 317256 h 2049339"/>
                <a:gd name="connsiteX2" fmla="*/ 3501536 w 3501536"/>
                <a:gd name="connsiteY2" fmla="*/ 0 h 2049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01536" h="2049339">
                  <a:moveTo>
                    <a:pt x="0" y="2049339"/>
                  </a:moveTo>
                  <a:cubicBezTo>
                    <a:pt x="42496" y="1311517"/>
                    <a:pt x="111369" y="644037"/>
                    <a:pt x="615461" y="317256"/>
                  </a:cubicBezTo>
                  <a:cubicBezTo>
                    <a:pt x="1119553" y="-9525"/>
                    <a:pt x="2447191" y="15386"/>
                    <a:pt x="3501536" y="0"/>
                  </a:cubicBezTo>
                </a:path>
              </a:pathLst>
            </a:custGeom>
            <a:noFill/>
            <a:ln w="38100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12" name="Connecteur droit 11">
              <a:extLst>
                <a:ext uri="{FF2B5EF4-FFF2-40B4-BE49-F238E27FC236}">
                  <a16:creationId xmlns:a16="http://schemas.microsoft.com/office/drawing/2014/main" id="{E1F4C541-8988-48A8-AEAD-E087D53C9EE8}"/>
                </a:ext>
              </a:extLst>
            </p:cNvPr>
            <p:cNvCxnSpPr>
              <a:cxnSpLocks/>
            </p:cNvCxnSpPr>
            <p:nvPr/>
          </p:nvCxnSpPr>
          <p:spPr>
            <a:xfrm>
              <a:off x="-163595" y="988705"/>
              <a:ext cx="5412603" cy="0"/>
            </a:xfrm>
            <a:prstGeom prst="line">
              <a:avLst/>
            </a:prstGeom>
            <a:ln w="38100">
              <a:solidFill>
                <a:schemeClr val="accent1">
                  <a:lumMod val="40000"/>
                  <a:lumOff val="60000"/>
                </a:schemeClr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Image 2">
            <a:extLst>
              <a:ext uri="{FF2B5EF4-FFF2-40B4-BE49-F238E27FC236}">
                <a16:creationId xmlns:a16="http://schemas.microsoft.com/office/drawing/2014/main" id="{DB0D777B-1F37-47D1-94C2-281026E4A0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8732" y="-3598"/>
            <a:ext cx="1943268" cy="548688"/>
          </a:xfrm>
          <a:prstGeom prst="rect">
            <a:avLst/>
          </a:prstGeom>
        </p:spPr>
      </p:pic>
      <p:sp>
        <p:nvSpPr>
          <p:cNvPr id="25" name="ZoneTexte 24">
            <a:extLst>
              <a:ext uri="{FF2B5EF4-FFF2-40B4-BE49-F238E27FC236}">
                <a16:creationId xmlns:a16="http://schemas.microsoft.com/office/drawing/2014/main" id="{238ACCF0-8C72-42E3-AA72-6F5E816CFDED}"/>
              </a:ext>
            </a:extLst>
          </p:cNvPr>
          <p:cNvSpPr txBox="1"/>
          <p:nvPr/>
        </p:nvSpPr>
        <p:spPr>
          <a:xfrm>
            <a:off x="607110" y="1696182"/>
            <a:ext cx="48200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rgbClr val="6C747F"/>
                </a:solidFill>
              </a:rPr>
              <a:t>Designed multiple types of CMOS structures ranging from basic current mirrors, Miller OTAs, and charge pumps to more complex structures like R2R DAC and ΣΔ ADC.</a:t>
            </a:r>
            <a:endParaRPr lang="fr-FR" b="1" i="1" dirty="0">
              <a:solidFill>
                <a:srgbClr val="6C747F"/>
              </a:solidFill>
            </a:endParaRPr>
          </a:p>
        </p:txBody>
      </p:sp>
      <p:grpSp>
        <p:nvGrpSpPr>
          <p:cNvPr id="45" name="Groupe 44">
            <a:extLst>
              <a:ext uri="{FF2B5EF4-FFF2-40B4-BE49-F238E27FC236}">
                <a16:creationId xmlns:a16="http://schemas.microsoft.com/office/drawing/2014/main" id="{3A4FF611-BF8A-4728-8FF9-BBBA3A2EA349}"/>
              </a:ext>
            </a:extLst>
          </p:cNvPr>
          <p:cNvGrpSpPr/>
          <p:nvPr/>
        </p:nvGrpSpPr>
        <p:grpSpPr>
          <a:xfrm>
            <a:off x="592354" y="3478109"/>
            <a:ext cx="5021682" cy="2836997"/>
            <a:chOff x="592354" y="3478109"/>
            <a:chExt cx="5021682" cy="2836997"/>
          </a:xfrm>
        </p:grpSpPr>
        <p:pic>
          <p:nvPicPr>
            <p:cNvPr id="3084" name="Picture 12">
              <a:extLst>
                <a:ext uri="{FF2B5EF4-FFF2-40B4-BE49-F238E27FC236}">
                  <a16:creationId xmlns:a16="http://schemas.microsoft.com/office/drawing/2014/main" id="{5F415DA2-2E28-4142-9D21-AEB22C94C0C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6721"/>
            <a:stretch/>
          </p:blipFill>
          <p:spPr bwMode="auto">
            <a:xfrm>
              <a:off x="2090576" y="3478109"/>
              <a:ext cx="3523460" cy="283699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6" name="Picture 12">
              <a:extLst>
                <a:ext uri="{FF2B5EF4-FFF2-40B4-BE49-F238E27FC236}">
                  <a16:creationId xmlns:a16="http://schemas.microsoft.com/office/drawing/2014/main" id="{736CF439-1BD6-4E09-9F5C-A42C3B3DFF1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4660" t="36266" r="2965" b="19159"/>
            <a:stretch/>
          </p:blipFill>
          <p:spPr bwMode="auto">
            <a:xfrm>
              <a:off x="666384" y="3515242"/>
              <a:ext cx="1802657" cy="12645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9" name="ZoneTexte 88">
              <a:extLst>
                <a:ext uri="{FF2B5EF4-FFF2-40B4-BE49-F238E27FC236}">
                  <a16:creationId xmlns:a16="http://schemas.microsoft.com/office/drawing/2014/main" id="{EB4286FF-BD6E-4F99-87F5-0C2DAAE208AF}"/>
                </a:ext>
              </a:extLst>
            </p:cNvPr>
            <p:cNvSpPr txBox="1"/>
            <p:nvPr/>
          </p:nvSpPr>
          <p:spPr>
            <a:xfrm>
              <a:off x="592354" y="4896607"/>
              <a:ext cx="2996443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fr-FR" b="1" i="1" dirty="0">
                  <a:solidFill>
                    <a:srgbClr val="6C747F"/>
                  </a:solidFill>
                </a:rPr>
                <a:t>R2R DAC </a:t>
              </a:r>
            </a:p>
            <a:p>
              <a:r>
                <a:rPr lang="fr-FR" b="1" i="1" dirty="0">
                  <a:solidFill>
                    <a:srgbClr val="6C747F"/>
                  </a:solidFill>
                </a:rPr>
                <a:t>2</a:t>
              </a:r>
              <a:r>
                <a:rPr lang="fr-FR" b="1" i="1" baseline="30000" dirty="0">
                  <a:solidFill>
                    <a:srgbClr val="6C747F"/>
                  </a:solidFill>
                </a:rPr>
                <a:t>nd</a:t>
              </a:r>
              <a:r>
                <a:rPr lang="fr-FR" b="1" i="1" dirty="0">
                  <a:solidFill>
                    <a:srgbClr val="6C747F"/>
                  </a:solidFill>
                </a:rPr>
                <a:t> </a:t>
              </a:r>
              <a:r>
                <a:rPr lang="fr-FR" b="1" i="1" dirty="0" err="1">
                  <a:solidFill>
                    <a:srgbClr val="6C747F"/>
                  </a:solidFill>
                </a:rPr>
                <a:t>year</a:t>
              </a:r>
              <a:r>
                <a:rPr lang="fr-FR" b="1" i="1" dirty="0">
                  <a:solidFill>
                    <a:srgbClr val="6C747F"/>
                  </a:solidFill>
                </a:rPr>
                <a:t> </a:t>
              </a:r>
              <a:r>
                <a:rPr lang="fr-FR" b="1" i="1" dirty="0" err="1">
                  <a:solidFill>
                    <a:srgbClr val="6C747F"/>
                  </a:solidFill>
                </a:rPr>
                <a:t>project</a:t>
              </a:r>
              <a:r>
                <a:rPr lang="fr-FR" b="1" i="1" dirty="0">
                  <a:solidFill>
                    <a:srgbClr val="6C747F"/>
                  </a:solidFill>
                </a:rPr>
                <a:t> </a:t>
              </a:r>
            </a:p>
            <a:p>
              <a:r>
                <a:rPr lang="fr-FR" b="1" i="1" dirty="0" err="1">
                  <a:solidFill>
                    <a:srgbClr val="6C747F"/>
                  </a:solidFill>
                </a:rPr>
                <a:t>Grps</a:t>
              </a:r>
              <a:r>
                <a:rPr lang="fr-FR" b="1" i="1" dirty="0">
                  <a:solidFill>
                    <a:srgbClr val="6C747F"/>
                  </a:solidFill>
                </a:rPr>
                <a:t> of 3</a:t>
              </a:r>
            </a:p>
          </p:txBody>
        </p:sp>
      </p:grpSp>
      <p:grpSp>
        <p:nvGrpSpPr>
          <p:cNvPr id="47" name="Groupe 46">
            <a:extLst>
              <a:ext uri="{FF2B5EF4-FFF2-40B4-BE49-F238E27FC236}">
                <a16:creationId xmlns:a16="http://schemas.microsoft.com/office/drawing/2014/main" id="{3878CF0F-066D-4EC9-983A-EA3A062E2A75}"/>
              </a:ext>
            </a:extLst>
          </p:cNvPr>
          <p:cNvGrpSpPr/>
          <p:nvPr/>
        </p:nvGrpSpPr>
        <p:grpSpPr>
          <a:xfrm>
            <a:off x="5773265" y="835269"/>
            <a:ext cx="5936365" cy="5575366"/>
            <a:chOff x="5641446" y="603341"/>
            <a:chExt cx="5936365" cy="5575366"/>
          </a:xfrm>
        </p:grpSpPr>
        <p:pic>
          <p:nvPicPr>
            <p:cNvPr id="77" name="Image 54" descr="Une image contenant diagramme, Tracé, texte, ligne&#10;&#10;Le contenu généré par l’IA peut être incorrect.">
              <a:extLst>
                <a:ext uri="{FF2B5EF4-FFF2-40B4-BE49-F238E27FC236}">
                  <a16:creationId xmlns:a16="http://schemas.microsoft.com/office/drawing/2014/main" id="{43C1CD05-10F4-4541-857C-1B77768372A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641446" y="867353"/>
              <a:ext cx="5906655" cy="3248663"/>
            </a:xfrm>
            <a:prstGeom prst="rect">
              <a:avLst/>
            </a:prstGeom>
            <a:noFill/>
            <a:ln cap="flat">
              <a:noFill/>
            </a:ln>
          </p:spPr>
        </p:pic>
        <p:grpSp>
          <p:nvGrpSpPr>
            <p:cNvPr id="80" name="Groupe 15">
              <a:extLst>
                <a:ext uri="{FF2B5EF4-FFF2-40B4-BE49-F238E27FC236}">
                  <a16:creationId xmlns:a16="http://schemas.microsoft.com/office/drawing/2014/main" id="{112DA4E0-BCEC-4BE9-9F9D-0DB984F8A7E1}"/>
                </a:ext>
              </a:extLst>
            </p:cNvPr>
            <p:cNvGrpSpPr/>
            <p:nvPr/>
          </p:nvGrpSpPr>
          <p:grpSpPr>
            <a:xfrm>
              <a:off x="6057192" y="4026868"/>
              <a:ext cx="5179573" cy="2151839"/>
              <a:chOff x="7610058" y="1413520"/>
              <a:chExt cx="4228487" cy="1756713"/>
            </a:xfrm>
          </p:grpSpPr>
          <p:pic>
            <p:nvPicPr>
              <p:cNvPr id="81" name="Image 16" descr="Une image contenant texte, écriture manuscrite, diagramme, Police&#10;&#10;Le contenu généré par l’IA peut être incorrect.">
                <a:extLst>
                  <a:ext uri="{FF2B5EF4-FFF2-40B4-BE49-F238E27FC236}">
                    <a16:creationId xmlns:a16="http://schemas.microsoft.com/office/drawing/2014/main" id="{A1BE6B46-EC44-40DD-818A-63EFF060858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 l="3458" t="13837" r="3516" b="13718"/>
              <a:stretch>
                <a:fillRect/>
              </a:stretch>
            </p:blipFill>
            <p:spPr>
              <a:xfrm>
                <a:off x="7610058" y="1413520"/>
                <a:ext cx="4228487" cy="1555586"/>
              </a:xfrm>
              <a:prstGeom prst="rect">
                <a:avLst/>
              </a:prstGeom>
              <a:noFill/>
              <a:ln cap="flat">
                <a:noFill/>
              </a:ln>
            </p:spPr>
          </p:pic>
          <p:sp>
            <p:nvSpPr>
              <p:cNvPr id="82" name="Rectangle 17">
                <a:extLst>
                  <a:ext uri="{FF2B5EF4-FFF2-40B4-BE49-F238E27FC236}">
                    <a16:creationId xmlns:a16="http://schemas.microsoft.com/office/drawing/2014/main" id="{9536C6FE-738D-4E8C-8EE6-45C199B99CD8}"/>
                  </a:ext>
                </a:extLst>
              </p:cNvPr>
              <p:cNvSpPr/>
              <p:nvPr/>
            </p:nvSpPr>
            <p:spPr>
              <a:xfrm>
                <a:off x="7726844" y="2545278"/>
                <a:ext cx="1775892" cy="624955"/>
              </a:xfrm>
              <a:prstGeom prst="rect">
                <a:avLst/>
              </a:prstGeom>
              <a:solidFill>
                <a:srgbClr val="FFFFFF"/>
              </a:solidFill>
              <a:ln cap="flat">
                <a:noFill/>
                <a:prstDash val="solid"/>
              </a:ln>
            </p:spPr>
            <p:txBody>
              <a:bodyPr vert="horz" wrap="square" lIns="91440" tIns="45720" rIns="91440" bIns="45720" anchor="ctr" anchorCtr="1" compatLnSpc="1">
                <a:noAutofit/>
              </a:bodyPr>
              <a:lstStyle/>
              <a:p>
                <a:pPr marL="0" marR="0" lvl="0" indent="0" algn="ctr" defTabSz="914400" rtl="0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  <a:defRPr sz="1800" b="0" i="0" u="none" strike="noStrike" kern="0" cap="none" spc="0" baseline="0">
                    <a:solidFill>
                      <a:srgbClr val="000000"/>
                    </a:solidFill>
                    <a:uFillTx/>
                  </a:defRPr>
                </a:pPr>
                <a:endParaRPr lang="fr-FR" sz="1800" b="0" i="0" u="none" strike="noStrike" kern="1200" cap="none" spc="0" baseline="0">
                  <a:solidFill>
                    <a:srgbClr val="FFFFFF"/>
                  </a:solidFill>
                  <a:uFillTx/>
                  <a:latin typeface="Tenorite "/>
                </a:endParaRPr>
              </a:p>
            </p:txBody>
          </p:sp>
        </p:grpSp>
        <p:sp>
          <p:nvSpPr>
            <p:cNvPr id="87" name="ZoneTexte 44">
              <a:extLst>
                <a:ext uri="{FF2B5EF4-FFF2-40B4-BE49-F238E27FC236}">
                  <a16:creationId xmlns:a16="http://schemas.microsoft.com/office/drawing/2014/main" id="{5042F327-A4A9-43CB-B43A-DD45697E8DDE}"/>
                </a:ext>
              </a:extLst>
            </p:cNvPr>
            <p:cNvSpPr txBox="1"/>
            <p:nvPr/>
          </p:nvSpPr>
          <p:spPr>
            <a:xfrm rot="16200004">
              <a:off x="8498210" y="2766054"/>
              <a:ext cx="1667737" cy="707886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91440" tIns="45720" rIns="91440" bIns="45720" anchor="t" anchorCtr="0" compatLnSpc="1">
              <a:spAutoFit/>
            </a:bodyPr>
            <a:lstStyle/>
            <a:p>
              <a:pPr marL="0" marR="0" lvl="0" indent="0" algn="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fr-FR" sz="800" b="1" i="0" u="none" strike="noStrike" kern="1200" cap="none" spc="0" baseline="0" dirty="0">
                  <a:solidFill>
                    <a:srgbClr val="000000"/>
                  </a:solidFill>
                  <a:uFillTx/>
                  <a:latin typeface="Tenorite "/>
                </a:rPr>
                <a:t>Idéale</a:t>
              </a:r>
            </a:p>
            <a:p>
              <a:pPr marL="0" marR="0" lvl="0" indent="0" algn="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fr-FR" sz="800" b="1" i="0" u="none" strike="noStrike" kern="1200" cap="none" spc="0" baseline="0" dirty="0">
                  <a:solidFill>
                    <a:srgbClr val="000000"/>
                  </a:solidFill>
                  <a:uFillTx/>
                  <a:latin typeface="Tenorite "/>
                </a:rPr>
                <a:t>Full</a:t>
              </a:r>
            </a:p>
            <a:p>
              <a:pPr marL="0" marR="0" lvl="0" indent="0" algn="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fr-FR" sz="800" b="1" i="0" u="none" strike="noStrike" kern="1200" cap="none" spc="0" baseline="0" dirty="0">
                  <a:solidFill>
                    <a:srgbClr val="000000"/>
                  </a:solidFill>
                  <a:uFillTx/>
                  <a:latin typeface="Tenorite "/>
                </a:rPr>
                <a:t>OTA </a:t>
              </a:r>
            </a:p>
            <a:p>
              <a:pPr marL="0" marR="0" lvl="0" indent="0" algn="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fr-FR" sz="800" b="1" i="0" u="none" strike="noStrike" kern="1200" cap="none" spc="0" baseline="0" dirty="0">
                  <a:solidFill>
                    <a:srgbClr val="000000"/>
                  </a:solidFill>
                  <a:uFillTx/>
                  <a:latin typeface="Tenorite "/>
                </a:rPr>
                <a:t>OTA – BG</a:t>
              </a:r>
            </a:p>
            <a:p>
              <a:pPr marL="0" marR="0" lvl="0" indent="0" algn="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fr-FR" sz="800" b="1" i="0" u="none" strike="noStrike" kern="1200" cap="none" spc="0" baseline="0" dirty="0">
                  <a:solidFill>
                    <a:srgbClr val="000000"/>
                  </a:solidFill>
                  <a:uFillTx/>
                  <a:latin typeface="Tenorite "/>
                </a:rPr>
                <a:t>SA</a:t>
              </a:r>
            </a:p>
          </p:txBody>
        </p:sp>
        <p:sp>
          <p:nvSpPr>
            <p:cNvPr id="91" name="ZoneTexte 90">
              <a:extLst>
                <a:ext uri="{FF2B5EF4-FFF2-40B4-BE49-F238E27FC236}">
                  <a16:creationId xmlns:a16="http://schemas.microsoft.com/office/drawing/2014/main" id="{43F345E6-5ADA-4477-A346-EAD3E2945416}"/>
                </a:ext>
              </a:extLst>
            </p:cNvPr>
            <p:cNvSpPr txBox="1"/>
            <p:nvPr/>
          </p:nvSpPr>
          <p:spPr>
            <a:xfrm>
              <a:off x="5689164" y="603341"/>
              <a:ext cx="588864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l-GR" b="1" i="1" dirty="0">
                  <a:solidFill>
                    <a:srgbClr val="6C747F"/>
                  </a:solidFill>
                </a:rPr>
                <a:t>ΣΔ</a:t>
              </a:r>
              <a:r>
                <a:rPr lang="fr-FR" b="1" i="1" dirty="0">
                  <a:solidFill>
                    <a:srgbClr val="6C747F"/>
                  </a:solidFill>
                </a:rPr>
                <a:t> ADC – Final </a:t>
              </a:r>
              <a:r>
                <a:rPr lang="fr-FR" b="1" i="1" dirty="0" err="1">
                  <a:solidFill>
                    <a:srgbClr val="6C747F"/>
                  </a:solidFill>
                </a:rPr>
                <a:t>Year</a:t>
              </a:r>
              <a:r>
                <a:rPr lang="fr-FR" b="1" i="1" dirty="0">
                  <a:solidFill>
                    <a:srgbClr val="6C747F"/>
                  </a:solidFill>
                </a:rPr>
                <a:t> </a:t>
              </a:r>
              <a:r>
                <a:rPr lang="fr-FR" b="1" i="1" dirty="0" err="1">
                  <a:solidFill>
                    <a:srgbClr val="6C747F"/>
                  </a:solidFill>
                </a:rPr>
                <a:t>project</a:t>
              </a:r>
              <a:r>
                <a:rPr lang="fr-FR" b="1" i="1" dirty="0">
                  <a:solidFill>
                    <a:srgbClr val="6C747F"/>
                  </a:solidFill>
                </a:rPr>
                <a:t> in </a:t>
              </a:r>
              <a:r>
                <a:rPr lang="fr-FR" b="1" i="1" dirty="0" err="1">
                  <a:solidFill>
                    <a:srgbClr val="6C747F"/>
                  </a:solidFill>
                </a:rPr>
                <a:t>grps</a:t>
              </a:r>
              <a:r>
                <a:rPr lang="fr-FR" b="1" i="1" dirty="0">
                  <a:solidFill>
                    <a:srgbClr val="6C747F"/>
                  </a:solidFill>
                </a:rPr>
                <a:t> of 4</a:t>
              </a:r>
            </a:p>
          </p:txBody>
        </p:sp>
      </p:grp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53A3354-D6B2-4B5E-A1BE-C95ADB1E6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3E120-D10E-4965-94AF-FE28403C3DAC}" type="slidenum">
              <a:rPr lang="fr-FR" smtClean="0"/>
              <a:t>6</a:t>
            </a:fld>
            <a:endParaRPr lang="fr-FR" dirty="0"/>
          </a:p>
        </p:txBody>
      </p:sp>
      <p:pic>
        <p:nvPicPr>
          <p:cNvPr id="26" name="Image 25">
            <a:extLst>
              <a:ext uri="{FF2B5EF4-FFF2-40B4-BE49-F238E27FC236}">
                <a16:creationId xmlns:a16="http://schemas.microsoft.com/office/drawing/2014/main" id="{B816831A-498F-443D-AFEA-997F143C648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134" y="6048392"/>
            <a:ext cx="1074131" cy="490520"/>
          </a:xfrm>
          <a:prstGeom prst="rect">
            <a:avLst/>
          </a:prstGeom>
        </p:spPr>
      </p:pic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FDD6F9EA-8B65-453A-BFED-CBBD948012CE}"/>
              </a:ext>
            </a:extLst>
          </p:cNvPr>
          <p:cNvCxnSpPr/>
          <p:nvPr/>
        </p:nvCxnSpPr>
        <p:spPr>
          <a:xfrm>
            <a:off x="5605244" y="835269"/>
            <a:ext cx="0" cy="5345723"/>
          </a:xfrm>
          <a:prstGeom prst="line">
            <a:avLst/>
          </a:prstGeom>
          <a:ln w="28575">
            <a:solidFill>
              <a:srgbClr val="B4C7E7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9535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ZoneTexte 15">
            <a:extLst>
              <a:ext uri="{FF2B5EF4-FFF2-40B4-BE49-F238E27FC236}">
                <a16:creationId xmlns:a16="http://schemas.microsoft.com/office/drawing/2014/main" id="{5AB7E328-1CA7-44B7-86AE-5B80F682BCC3}"/>
              </a:ext>
            </a:extLst>
          </p:cNvPr>
          <p:cNvSpPr txBox="1"/>
          <p:nvPr/>
        </p:nvSpPr>
        <p:spPr>
          <a:xfrm>
            <a:off x="142875" y="289796"/>
            <a:ext cx="58886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i="1" dirty="0">
                <a:solidFill>
                  <a:srgbClr val="6C747F"/>
                </a:solidFill>
              </a:rPr>
              <a:t>EDA &amp; IA on sky130 </a:t>
            </a:r>
            <a:r>
              <a:rPr lang="fr-FR" sz="3600" b="1" i="1" dirty="0" err="1">
                <a:solidFill>
                  <a:srgbClr val="6C747F"/>
                </a:solidFill>
              </a:rPr>
              <a:t>pdk</a:t>
            </a:r>
            <a:endParaRPr lang="fr-FR" sz="3600" b="1" i="1" dirty="0">
              <a:solidFill>
                <a:srgbClr val="6C747F"/>
              </a:solidFill>
            </a:endParaRPr>
          </a:p>
        </p:txBody>
      </p: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44D5BCD5-3E02-4CA4-BC06-81F5E21AEE9B}"/>
              </a:ext>
            </a:extLst>
          </p:cNvPr>
          <p:cNvGrpSpPr/>
          <p:nvPr/>
        </p:nvGrpSpPr>
        <p:grpSpPr>
          <a:xfrm>
            <a:off x="-677008" y="988705"/>
            <a:ext cx="5926016" cy="2074657"/>
            <a:chOff x="-677008" y="988705"/>
            <a:chExt cx="5926016" cy="2074657"/>
          </a:xfrm>
        </p:grpSpPr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8A1AE3BC-8B70-4832-ABD7-6721A13C50F5}"/>
                </a:ext>
              </a:extLst>
            </p:cNvPr>
            <p:cNvCxnSpPr>
              <a:cxnSpLocks/>
            </p:cNvCxnSpPr>
            <p:nvPr/>
          </p:nvCxnSpPr>
          <p:spPr>
            <a:xfrm>
              <a:off x="-677008" y="1009219"/>
              <a:ext cx="5926016" cy="0"/>
            </a:xfrm>
            <a:prstGeom prst="line">
              <a:avLst/>
            </a:prstGeom>
            <a:ln w="38100">
              <a:solidFill>
                <a:schemeClr val="accent1">
                  <a:lumMod val="50000"/>
                </a:schemeClr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orme libre : forme 18">
              <a:extLst>
                <a:ext uri="{FF2B5EF4-FFF2-40B4-BE49-F238E27FC236}">
                  <a16:creationId xmlns:a16="http://schemas.microsoft.com/office/drawing/2014/main" id="{59DCF7C9-D82B-410B-92D2-08EF79A8881B}"/>
                </a:ext>
              </a:extLst>
            </p:cNvPr>
            <p:cNvSpPr/>
            <p:nvPr/>
          </p:nvSpPr>
          <p:spPr>
            <a:xfrm>
              <a:off x="-155329" y="1014023"/>
              <a:ext cx="3501536" cy="2049339"/>
            </a:xfrm>
            <a:custGeom>
              <a:avLst/>
              <a:gdLst>
                <a:gd name="connsiteX0" fmla="*/ 19071 w 3043625"/>
                <a:gd name="connsiteY0" fmla="*/ 1972264 h 1972264"/>
                <a:gd name="connsiteX1" fmla="*/ 449894 w 3043625"/>
                <a:gd name="connsiteY1" fmla="*/ 292934 h 1972264"/>
                <a:gd name="connsiteX2" fmla="*/ 3043625 w 3043625"/>
                <a:gd name="connsiteY2" fmla="*/ 11580 h 1972264"/>
                <a:gd name="connsiteX0" fmla="*/ 5294 w 3214486"/>
                <a:gd name="connsiteY0" fmla="*/ 2033810 h 2033810"/>
                <a:gd name="connsiteX1" fmla="*/ 620755 w 3214486"/>
                <a:gd name="connsiteY1" fmla="*/ 292934 h 2033810"/>
                <a:gd name="connsiteX2" fmla="*/ 3214486 w 3214486"/>
                <a:gd name="connsiteY2" fmla="*/ 11580 h 2033810"/>
                <a:gd name="connsiteX0" fmla="*/ 0 w 3209192"/>
                <a:gd name="connsiteY0" fmla="*/ 2033810 h 2033810"/>
                <a:gd name="connsiteX1" fmla="*/ 615461 w 3209192"/>
                <a:gd name="connsiteY1" fmla="*/ 292934 h 2033810"/>
                <a:gd name="connsiteX2" fmla="*/ 3209192 w 3209192"/>
                <a:gd name="connsiteY2" fmla="*/ 11580 h 2033810"/>
                <a:gd name="connsiteX0" fmla="*/ 0 w 3209192"/>
                <a:gd name="connsiteY0" fmla="*/ 2037048 h 2037048"/>
                <a:gd name="connsiteX1" fmla="*/ 624253 w 3209192"/>
                <a:gd name="connsiteY1" fmla="*/ 278588 h 2037048"/>
                <a:gd name="connsiteX2" fmla="*/ 3209192 w 3209192"/>
                <a:gd name="connsiteY2" fmla="*/ 14818 h 2037048"/>
                <a:gd name="connsiteX0" fmla="*/ 0 w 3472961"/>
                <a:gd name="connsiteY0" fmla="*/ 2051394 h 2051394"/>
                <a:gd name="connsiteX1" fmla="*/ 624253 w 3472961"/>
                <a:gd name="connsiteY1" fmla="*/ 292934 h 2051394"/>
                <a:gd name="connsiteX2" fmla="*/ 3472961 w 3472961"/>
                <a:gd name="connsiteY2" fmla="*/ 11580 h 2051394"/>
                <a:gd name="connsiteX0" fmla="*/ 0 w 3472961"/>
                <a:gd name="connsiteY0" fmla="*/ 2047904 h 2047904"/>
                <a:gd name="connsiteX1" fmla="*/ 615461 w 3472961"/>
                <a:gd name="connsiteY1" fmla="*/ 315821 h 2047904"/>
                <a:gd name="connsiteX2" fmla="*/ 3472961 w 3472961"/>
                <a:gd name="connsiteY2" fmla="*/ 8090 h 2047904"/>
                <a:gd name="connsiteX0" fmla="*/ 0 w 3501536"/>
                <a:gd name="connsiteY0" fmla="*/ 2056500 h 2056500"/>
                <a:gd name="connsiteX1" fmla="*/ 615461 w 3501536"/>
                <a:gd name="connsiteY1" fmla="*/ 324417 h 2056500"/>
                <a:gd name="connsiteX2" fmla="*/ 3501536 w 3501536"/>
                <a:gd name="connsiteY2" fmla="*/ 7161 h 2056500"/>
                <a:gd name="connsiteX0" fmla="*/ 0 w 3501536"/>
                <a:gd name="connsiteY0" fmla="*/ 2049339 h 2049339"/>
                <a:gd name="connsiteX1" fmla="*/ 615461 w 3501536"/>
                <a:gd name="connsiteY1" fmla="*/ 317256 h 2049339"/>
                <a:gd name="connsiteX2" fmla="*/ 3501536 w 3501536"/>
                <a:gd name="connsiteY2" fmla="*/ 0 h 2049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01536" h="2049339">
                  <a:moveTo>
                    <a:pt x="0" y="2049339"/>
                  </a:moveTo>
                  <a:cubicBezTo>
                    <a:pt x="42496" y="1311517"/>
                    <a:pt x="111369" y="644037"/>
                    <a:pt x="615461" y="317256"/>
                  </a:cubicBezTo>
                  <a:cubicBezTo>
                    <a:pt x="1119553" y="-9525"/>
                    <a:pt x="2447191" y="15386"/>
                    <a:pt x="3501536" y="0"/>
                  </a:cubicBezTo>
                </a:path>
              </a:pathLst>
            </a:custGeom>
            <a:noFill/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13" name="Forme libre : forme 12">
              <a:extLst>
                <a:ext uri="{FF2B5EF4-FFF2-40B4-BE49-F238E27FC236}">
                  <a16:creationId xmlns:a16="http://schemas.microsoft.com/office/drawing/2014/main" id="{E84B1851-5A65-4996-9239-68F944A5866B}"/>
                </a:ext>
              </a:extLst>
            </p:cNvPr>
            <p:cNvSpPr/>
            <p:nvPr/>
          </p:nvSpPr>
          <p:spPr>
            <a:xfrm>
              <a:off x="-193429" y="994973"/>
              <a:ext cx="3501536" cy="2049339"/>
            </a:xfrm>
            <a:custGeom>
              <a:avLst/>
              <a:gdLst>
                <a:gd name="connsiteX0" fmla="*/ 19071 w 3043625"/>
                <a:gd name="connsiteY0" fmla="*/ 1972264 h 1972264"/>
                <a:gd name="connsiteX1" fmla="*/ 449894 w 3043625"/>
                <a:gd name="connsiteY1" fmla="*/ 292934 h 1972264"/>
                <a:gd name="connsiteX2" fmla="*/ 3043625 w 3043625"/>
                <a:gd name="connsiteY2" fmla="*/ 11580 h 1972264"/>
                <a:gd name="connsiteX0" fmla="*/ 5294 w 3214486"/>
                <a:gd name="connsiteY0" fmla="*/ 2033810 h 2033810"/>
                <a:gd name="connsiteX1" fmla="*/ 620755 w 3214486"/>
                <a:gd name="connsiteY1" fmla="*/ 292934 h 2033810"/>
                <a:gd name="connsiteX2" fmla="*/ 3214486 w 3214486"/>
                <a:gd name="connsiteY2" fmla="*/ 11580 h 2033810"/>
                <a:gd name="connsiteX0" fmla="*/ 0 w 3209192"/>
                <a:gd name="connsiteY0" fmla="*/ 2033810 h 2033810"/>
                <a:gd name="connsiteX1" fmla="*/ 615461 w 3209192"/>
                <a:gd name="connsiteY1" fmla="*/ 292934 h 2033810"/>
                <a:gd name="connsiteX2" fmla="*/ 3209192 w 3209192"/>
                <a:gd name="connsiteY2" fmla="*/ 11580 h 2033810"/>
                <a:gd name="connsiteX0" fmla="*/ 0 w 3209192"/>
                <a:gd name="connsiteY0" fmla="*/ 2037048 h 2037048"/>
                <a:gd name="connsiteX1" fmla="*/ 624253 w 3209192"/>
                <a:gd name="connsiteY1" fmla="*/ 278588 h 2037048"/>
                <a:gd name="connsiteX2" fmla="*/ 3209192 w 3209192"/>
                <a:gd name="connsiteY2" fmla="*/ 14818 h 2037048"/>
                <a:gd name="connsiteX0" fmla="*/ 0 w 3472961"/>
                <a:gd name="connsiteY0" fmla="*/ 2051394 h 2051394"/>
                <a:gd name="connsiteX1" fmla="*/ 624253 w 3472961"/>
                <a:gd name="connsiteY1" fmla="*/ 292934 h 2051394"/>
                <a:gd name="connsiteX2" fmla="*/ 3472961 w 3472961"/>
                <a:gd name="connsiteY2" fmla="*/ 11580 h 2051394"/>
                <a:gd name="connsiteX0" fmla="*/ 0 w 3472961"/>
                <a:gd name="connsiteY0" fmla="*/ 2047904 h 2047904"/>
                <a:gd name="connsiteX1" fmla="*/ 615461 w 3472961"/>
                <a:gd name="connsiteY1" fmla="*/ 315821 h 2047904"/>
                <a:gd name="connsiteX2" fmla="*/ 3472961 w 3472961"/>
                <a:gd name="connsiteY2" fmla="*/ 8090 h 2047904"/>
                <a:gd name="connsiteX0" fmla="*/ 0 w 3501536"/>
                <a:gd name="connsiteY0" fmla="*/ 2056500 h 2056500"/>
                <a:gd name="connsiteX1" fmla="*/ 615461 w 3501536"/>
                <a:gd name="connsiteY1" fmla="*/ 324417 h 2056500"/>
                <a:gd name="connsiteX2" fmla="*/ 3501536 w 3501536"/>
                <a:gd name="connsiteY2" fmla="*/ 7161 h 2056500"/>
                <a:gd name="connsiteX0" fmla="*/ 0 w 3501536"/>
                <a:gd name="connsiteY0" fmla="*/ 2049339 h 2049339"/>
                <a:gd name="connsiteX1" fmla="*/ 615461 w 3501536"/>
                <a:gd name="connsiteY1" fmla="*/ 317256 h 2049339"/>
                <a:gd name="connsiteX2" fmla="*/ 3501536 w 3501536"/>
                <a:gd name="connsiteY2" fmla="*/ 0 h 2049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01536" h="2049339">
                  <a:moveTo>
                    <a:pt x="0" y="2049339"/>
                  </a:moveTo>
                  <a:cubicBezTo>
                    <a:pt x="42496" y="1311517"/>
                    <a:pt x="111369" y="644037"/>
                    <a:pt x="615461" y="317256"/>
                  </a:cubicBezTo>
                  <a:cubicBezTo>
                    <a:pt x="1119553" y="-9525"/>
                    <a:pt x="2447191" y="15386"/>
                    <a:pt x="3501536" y="0"/>
                  </a:cubicBezTo>
                </a:path>
              </a:pathLst>
            </a:custGeom>
            <a:noFill/>
            <a:ln w="38100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12" name="Connecteur droit 11">
              <a:extLst>
                <a:ext uri="{FF2B5EF4-FFF2-40B4-BE49-F238E27FC236}">
                  <a16:creationId xmlns:a16="http://schemas.microsoft.com/office/drawing/2014/main" id="{E1F4C541-8988-48A8-AEAD-E087D53C9EE8}"/>
                </a:ext>
              </a:extLst>
            </p:cNvPr>
            <p:cNvCxnSpPr>
              <a:cxnSpLocks/>
            </p:cNvCxnSpPr>
            <p:nvPr/>
          </p:nvCxnSpPr>
          <p:spPr>
            <a:xfrm>
              <a:off x="-163595" y="988705"/>
              <a:ext cx="5412603" cy="0"/>
            </a:xfrm>
            <a:prstGeom prst="line">
              <a:avLst/>
            </a:prstGeom>
            <a:ln w="38100">
              <a:solidFill>
                <a:schemeClr val="accent1">
                  <a:lumMod val="40000"/>
                  <a:lumOff val="60000"/>
                </a:schemeClr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Image 2">
            <a:extLst>
              <a:ext uri="{FF2B5EF4-FFF2-40B4-BE49-F238E27FC236}">
                <a16:creationId xmlns:a16="http://schemas.microsoft.com/office/drawing/2014/main" id="{DB0D777B-1F37-47D1-94C2-281026E4A0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8732" y="-3598"/>
            <a:ext cx="1943268" cy="548688"/>
          </a:xfrm>
          <a:prstGeom prst="rect">
            <a:avLst/>
          </a:prstGeo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53A3354-D6B2-4B5E-A1BE-C95ADB1E6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3E120-D10E-4965-94AF-FE28403C3DAC}" type="slidenum">
              <a:rPr lang="fr-FR" smtClean="0"/>
              <a:t>7</a:t>
            </a:fld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FDA80EA6-9E90-49C2-80E9-3B87636AB6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616" y="1678261"/>
            <a:ext cx="6504139" cy="4165716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8D8146AB-FCB1-4F18-AC71-B1A49AE8F0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7483" y="1243407"/>
            <a:ext cx="4130999" cy="2581874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ABCC1136-71AB-4879-8587-619A870B8E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5589" y="3904041"/>
            <a:ext cx="4130999" cy="1870019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3C317EA8-C5B3-49EE-B5AB-7E68A476D1A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134" y="6048392"/>
            <a:ext cx="1074131" cy="490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1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53A3354-D6B2-4B5E-A1BE-C95ADB1E6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3E120-D10E-4965-94AF-FE28403C3DAC}" type="slidenum">
              <a:rPr lang="fr-FR" smtClean="0"/>
              <a:t>8</a:t>
            </a:fld>
            <a:endParaRPr lang="fr-FR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5AB7E328-1CA7-44B7-86AE-5B80F682BCC3}"/>
              </a:ext>
            </a:extLst>
          </p:cNvPr>
          <p:cNvSpPr txBox="1"/>
          <p:nvPr/>
        </p:nvSpPr>
        <p:spPr>
          <a:xfrm>
            <a:off x="142875" y="289796"/>
            <a:ext cx="72961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i="1" dirty="0" err="1">
                <a:solidFill>
                  <a:srgbClr val="6C747F"/>
                </a:solidFill>
              </a:rPr>
              <a:t>Interest</a:t>
            </a:r>
            <a:r>
              <a:rPr lang="fr-FR" sz="3600" b="1" i="1" dirty="0">
                <a:solidFill>
                  <a:srgbClr val="6C747F"/>
                </a:solidFill>
              </a:rPr>
              <a:t> </a:t>
            </a:r>
            <a:r>
              <a:rPr lang="fr-FR" sz="3600" b="1" i="1" dirty="0" err="1">
                <a:solidFill>
                  <a:srgbClr val="6C747F"/>
                </a:solidFill>
              </a:rPr>
              <a:t>Computing</a:t>
            </a:r>
            <a:r>
              <a:rPr lang="fr-FR" sz="3600" b="1" i="1" dirty="0">
                <a:solidFill>
                  <a:srgbClr val="6C747F"/>
                </a:solidFill>
              </a:rPr>
              <a:t> Architecture</a:t>
            </a:r>
          </a:p>
        </p:txBody>
      </p: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44D5BCD5-3E02-4CA4-BC06-81F5E21AEE9B}"/>
              </a:ext>
            </a:extLst>
          </p:cNvPr>
          <p:cNvGrpSpPr/>
          <p:nvPr/>
        </p:nvGrpSpPr>
        <p:grpSpPr>
          <a:xfrm>
            <a:off x="-677008" y="988705"/>
            <a:ext cx="6982558" cy="2074657"/>
            <a:chOff x="-677008" y="988705"/>
            <a:chExt cx="6982558" cy="2074657"/>
          </a:xfrm>
        </p:grpSpPr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8A1AE3BC-8B70-4832-ABD7-6721A13C50F5}"/>
                </a:ext>
              </a:extLst>
            </p:cNvPr>
            <p:cNvCxnSpPr>
              <a:cxnSpLocks/>
            </p:cNvCxnSpPr>
            <p:nvPr/>
          </p:nvCxnSpPr>
          <p:spPr>
            <a:xfrm>
              <a:off x="-677008" y="1009219"/>
              <a:ext cx="6982558" cy="0"/>
            </a:xfrm>
            <a:prstGeom prst="line">
              <a:avLst/>
            </a:prstGeom>
            <a:ln w="38100">
              <a:solidFill>
                <a:schemeClr val="accent1">
                  <a:lumMod val="50000"/>
                </a:schemeClr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orme libre : forme 18">
              <a:extLst>
                <a:ext uri="{FF2B5EF4-FFF2-40B4-BE49-F238E27FC236}">
                  <a16:creationId xmlns:a16="http://schemas.microsoft.com/office/drawing/2014/main" id="{59DCF7C9-D82B-410B-92D2-08EF79A8881B}"/>
                </a:ext>
              </a:extLst>
            </p:cNvPr>
            <p:cNvSpPr/>
            <p:nvPr/>
          </p:nvSpPr>
          <p:spPr>
            <a:xfrm>
              <a:off x="-155329" y="1014023"/>
              <a:ext cx="3501536" cy="2049339"/>
            </a:xfrm>
            <a:custGeom>
              <a:avLst/>
              <a:gdLst>
                <a:gd name="connsiteX0" fmla="*/ 19071 w 3043625"/>
                <a:gd name="connsiteY0" fmla="*/ 1972264 h 1972264"/>
                <a:gd name="connsiteX1" fmla="*/ 449894 w 3043625"/>
                <a:gd name="connsiteY1" fmla="*/ 292934 h 1972264"/>
                <a:gd name="connsiteX2" fmla="*/ 3043625 w 3043625"/>
                <a:gd name="connsiteY2" fmla="*/ 11580 h 1972264"/>
                <a:gd name="connsiteX0" fmla="*/ 5294 w 3214486"/>
                <a:gd name="connsiteY0" fmla="*/ 2033810 h 2033810"/>
                <a:gd name="connsiteX1" fmla="*/ 620755 w 3214486"/>
                <a:gd name="connsiteY1" fmla="*/ 292934 h 2033810"/>
                <a:gd name="connsiteX2" fmla="*/ 3214486 w 3214486"/>
                <a:gd name="connsiteY2" fmla="*/ 11580 h 2033810"/>
                <a:gd name="connsiteX0" fmla="*/ 0 w 3209192"/>
                <a:gd name="connsiteY0" fmla="*/ 2033810 h 2033810"/>
                <a:gd name="connsiteX1" fmla="*/ 615461 w 3209192"/>
                <a:gd name="connsiteY1" fmla="*/ 292934 h 2033810"/>
                <a:gd name="connsiteX2" fmla="*/ 3209192 w 3209192"/>
                <a:gd name="connsiteY2" fmla="*/ 11580 h 2033810"/>
                <a:gd name="connsiteX0" fmla="*/ 0 w 3209192"/>
                <a:gd name="connsiteY0" fmla="*/ 2037048 h 2037048"/>
                <a:gd name="connsiteX1" fmla="*/ 624253 w 3209192"/>
                <a:gd name="connsiteY1" fmla="*/ 278588 h 2037048"/>
                <a:gd name="connsiteX2" fmla="*/ 3209192 w 3209192"/>
                <a:gd name="connsiteY2" fmla="*/ 14818 h 2037048"/>
                <a:gd name="connsiteX0" fmla="*/ 0 w 3472961"/>
                <a:gd name="connsiteY0" fmla="*/ 2051394 h 2051394"/>
                <a:gd name="connsiteX1" fmla="*/ 624253 w 3472961"/>
                <a:gd name="connsiteY1" fmla="*/ 292934 h 2051394"/>
                <a:gd name="connsiteX2" fmla="*/ 3472961 w 3472961"/>
                <a:gd name="connsiteY2" fmla="*/ 11580 h 2051394"/>
                <a:gd name="connsiteX0" fmla="*/ 0 w 3472961"/>
                <a:gd name="connsiteY0" fmla="*/ 2047904 h 2047904"/>
                <a:gd name="connsiteX1" fmla="*/ 615461 w 3472961"/>
                <a:gd name="connsiteY1" fmla="*/ 315821 h 2047904"/>
                <a:gd name="connsiteX2" fmla="*/ 3472961 w 3472961"/>
                <a:gd name="connsiteY2" fmla="*/ 8090 h 2047904"/>
                <a:gd name="connsiteX0" fmla="*/ 0 w 3501536"/>
                <a:gd name="connsiteY0" fmla="*/ 2056500 h 2056500"/>
                <a:gd name="connsiteX1" fmla="*/ 615461 w 3501536"/>
                <a:gd name="connsiteY1" fmla="*/ 324417 h 2056500"/>
                <a:gd name="connsiteX2" fmla="*/ 3501536 w 3501536"/>
                <a:gd name="connsiteY2" fmla="*/ 7161 h 2056500"/>
                <a:gd name="connsiteX0" fmla="*/ 0 w 3501536"/>
                <a:gd name="connsiteY0" fmla="*/ 2049339 h 2049339"/>
                <a:gd name="connsiteX1" fmla="*/ 615461 w 3501536"/>
                <a:gd name="connsiteY1" fmla="*/ 317256 h 2049339"/>
                <a:gd name="connsiteX2" fmla="*/ 3501536 w 3501536"/>
                <a:gd name="connsiteY2" fmla="*/ 0 h 2049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01536" h="2049339">
                  <a:moveTo>
                    <a:pt x="0" y="2049339"/>
                  </a:moveTo>
                  <a:cubicBezTo>
                    <a:pt x="42496" y="1311517"/>
                    <a:pt x="111369" y="644037"/>
                    <a:pt x="615461" y="317256"/>
                  </a:cubicBezTo>
                  <a:cubicBezTo>
                    <a:pt x="1119553" y="-9525"/>
                    <a:pt x="2447191" y="15386"/>
                    <a:pt x="3501536" y="0"/>
                  </a:cubicBezTo>
                </a:path>
              </a:pathLst>
            </a:custGeom>
            <a:noFill/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13" name="Forme libre : forme 12">
              <a:extLst>
                <a:ext uri="{FF2B5EF4-FFF2-40B4-BE49-F238E27FC236}">
                  <a16:creationId xmlns:a16="http://schemas.microsoft.com/office/drawing/2014/main" id="{E84B1851-5A65-4996-9239-68F944A5866B}"/>
                </a:ext>
              </a:extLst>
            </p:cNvPr>
            <p:cNvSpPr/>
            <p:nvPr/>
          </p:nvSpPr>
          <p:spPr>
            <a:xfrm>
              <a:off x="-193429" y="994973"/>
              <a:ext cx="3501536" cy="2049339"/>
            </a:xfrm>
            <a:custGeom>
              <a:avLst/>
              <a:gdLst>
                <a:gd name="connsiteX0" fmla="*/ 19071 w 3043625"/>
                <a:gd name="connsiteY0" fmla="*/ 1972264 h 1972264"/>
                <a:gd name="connsiteX1" fmla="*/ 449894 w 3043625"/>
                <a:gd name="connsiteY1" fmla="*/ 292934 h 1972264"/>
                <a:gd name="connsiteX2" fmla="*/ 3043625 w 3043625"/>
                <a:gd name="connsiteY2" fmla="*/ 11580 h 1972264"/>
                <a:gd name="connsiteX0" fmla="*/ 5294 w 3214486"/>
                <a:gd name="connsiteY0" fmla="*/ 2033810 h 2033810"/>
                <a:gd name="connsiteX1" fmla="*/ 620755 w 3214486"/>
                <a:gd name="connsiteY1" fmla="*/ 292934 h 2033810"/>
                <a:gd name="connsiteX2" fmla="*/ 3214486 w 3214486"/>
                <a:gd name="connsiteY2" fmla="*/ 11580 h 2033810"/>
                <a:gd name="connsiteX0" fmla="*/ 0 w 3209192"/>
                <a:gd name="connsiteY0" fmla="*/ 2033810 h 2033810"/>
                <a:gd name="connsiteX1" fmla="*/ 615461 w 3209192"/>
                <a:gd name="connsiteY1" fmla="*/ 292934 h 2033810"/>
                <a:gd name="connsiteX2" fmla="*/ 3209192 w 3209192"/>
                <a:gd name="connsiteY2" fmla="*/ 11580 h 2033810"/>
                <a:gd name="connsiteX0" fmla="*/ 0 w 3209192"/>
                <a:gd name="connsiteY0" fmla="*/ 2037048 h 2037048"/>
                <a:gd name="connsiteX1" fmla="*/ 624253 w 3209192"/>
                <a:gd name="connsiteY1" fmla="*/ 278588 h 2037048"/>
                <a:gd name="connsiteX2" fmla="*/ 3209192 w 3209192"/>
                <a:gd name="connsiteY2" fmla="*/ 14818 h 2037048"/>
                <a:gd name="connsiteX0" fmla="*/ 0 w 3472961"/>
                <a:gd name="connsiteY0" fmla="*/ 2051394 h 2051394"/>
                <a:gd name="connsiteX1" fmla="*/ 624253 w 3472961"/>
                <a:gd name="connsiteY1" fmla="*/ 292934 h 2051394"/>
                <a:gd name="connsiteX2" fmla="*/ 3472961 w 3472961"/>
                <a:gd name="connsiteY2" fmla="*/ 11580 h 2051394"/>
                <a:gd name="connsiteX0" fmla="*/ 0 w 3472961"/>
                <a:gd name="connsiteY0" fmla="*/ 2047904 h 2047904"/>
                <a:gd name="connsiteX1" fmla="*/ 615461 w 3472961"/>
                <a:gd name="connsiteY1" fmla="*/ 315821 h 2047904"/>
                <a:gd name="connsiteX2" fmla="*/ 3472961 w 3472961"/>
                <a:gd name="connsiteY2" fmla="*/ 8090 h 2047904"/>
                <a:gd name="connsiteX0" fmla="*/ 0 w 3501536"/>
                <a:gd name="connsiteY0" fmla="*/ 2056500 h 2056500"/>
                <a:gd name="connsiteX1" fmla="*/ 615461 w 3501536"/>
                <a:gd name="connsiteY1" fmla="*/ 324417 h 2056500"/>
                <a:gd name="connsiteX2" fmla="*/ 3501536 w 3501536"/>
                <a:gd name="connsiteY2" fmla="*/ 7161 h 2056500"/>
                <a:gd name="connsiteX0" fmla="*/ 0 w 3501536"/>
                <a:gd name="connsiteY0" fmla="*/ 2049339 h 2049339"/>
                <a:gd name="connsiteX1" fmla="*/ 615461 w 3501536"/>
                <a:gd name="connsiteY1" fmla="*/ 317256 h 2049339"/>
                <a:gd name="connsiteX2" fmla="*/ 3501536 w 3501536"/>
                <a:gd name="connsiteY2" fmla="*/ 0 h 2049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01536" h="2049339">
                  <a:moveTo>
                    <a:pt x="0" y="2049339"/>
                  </a:moveTo>
                  <a:cubicBezTo>
                    <a:pt x="42496" y="1311517"/>
                    <a:pt x="111369" y="644037"/>
                    <a:pt x="615461" y="317256"/>
                  </a:cubicBezTo>
                  <a:cubicBezTo>
                    <a:pt x="1119553" y="-9525"/>
                    <a:pt x="2447191" y="15386"/>
                    <a:pt x="3501536" y="0"/>
                  </a:cubicBezTo>
                </a:path>
              </a:pathLst>
            </a:custGeom>
            <a:noFill/>
            <a:ln w="38100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12" name="Connecteur droit 11">
              <a:extLst>
                <a:ext uri="{FF2B5EF4-FFF2-40B4-BE49-F238E27FC236}">
                  <a16:creationId xmlns:a16="http://schemas.microsoft.com/office/drawing/2014/main" id="{E1F4C541-8988-48A8-AEAD-E087D53C9EE8}"/>
                </a:ext>
              </a:extLst>
            </p:cNvPr>
            <p:cNvCxnSpPr>
              <a:cxnSpLocks/>
            </p:cNvCxnSpPr>
            <p:nvPr/>
          </p:nvCxnSpPr>
          <p:spPr>
            <a:xfrm>
              <a:off x="-163595" y="988705"/>
              <a:ext cx="6469145" cy="0"/>
            </a:xfrm>
            <a:prstGeom prst="line">
              <a:avLst/>
            </a:prstGeom>
            <a:ln w="38100">
              <a:solidFill>
                <a:schemeClr val="accent1">
                  <a:lumMod val="40000"/>
                  <a:lumOff val="60000"/>
                </a:schemeClr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Rectangle : coins arrondis 37">
            <a:extLst>
              <a:ext uri="{FF2B5EF4-FFF2-40B4-BE49-F238E27FC236}">
                <a16:creationId xmlns:a16="http://schemas.microsoft.com/office/drawing/2014/main" id="{CEDC6AF2-3BF5-4BED-A70C-069B4E05074F}"/>
              </a:ext>
            </a:extLst>
          </p:cNvPr>
          <p:cNvSpPr/>
          <p:nvPr/>
        </p:nvSpPr>
        <p:spPr>
          <a:xfrm>
            <a:off x="1093840" y="1504949"/>
            <a:ext cx="5211710" cy="4514849"/>
          </a:xfrm>
          <a:prstGeom prst="roundRect">
            <a:avLst>
              <a:gd name="adj" fmla="val 5108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1EDA35D0-AAC8-4F46-A615-60C2CC263F44}"/>
              </a:ext>
            </a:extLst>
          </p:cNvPr>
          <p:cNvSpPr txBox="1"/>
          <p:nvPr/>
        </p:nvSpPr>
        <p:spPr>
          <a:xfrm>
            <a:off x="1293419" y="1613151"/>
            <a:ext cx="458518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solidFill>
                  <a:schemeClr val="accent1"/>
                </a:solidFill>
                <a:effectLst/>
              </a:rPr>
              <a:t>System Architecture &amp; SoC Design</a:t>
            </a:r>
          </a:p>
          <a:p>
            <a:pPr algn="l"/>
            <a:endParaRPr lang="en-US" b="1" i="0" dirty="0">
              <a:solidFill>
                <a:srgbClr val="6C747F"/>
              </a:solidFill>
              <a:effectLst/>
            </a:endParaRPr>
          </a:p>
        </p:txBody>
      </p:sp>
      <p:pic>
        <p:nvPicPr>
          <p:cNvPr id="1028" name="Picture 4" descr="RISC-V SoC Architecture">
            <a:extLst>
              <a:ext uri="{FF2B5EF4-FFF2-40B4-BE49-F238E27FC236}">
                <a16:creationId xmlns:a16="http://schemas.microsoft.com/office/drawing/2014/main" id="{CD9209A2-47AC-4364-B830-9036F8FB3D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6348" y="4529357"/>
            <a:ext cx="2345642" cy="1319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" name="ZoneTexte 42">
            <a:extLst>
              <a:ext uri="{FF2B5EF4-FFF2-40B4-BE49-F238E27FC236}">
                <a16:creationId xmlns:a16="http://schemas.microsoft.com/office/drawing/2014/main" id="{1AE1DB7F-2BDD-406E-8EFC-248EDE1EF680}"/>
              </a:ext>
            </a:extLst>
          </p:cNvPr>
          <p:cNvSpPr txBox="1"/>
          <p:nvPr/>
        </p:nvSpPr>
        <p:spPr>
          <a:xfrm>
            <a:off x="1293419" y="2124933"/>
            <a:ext cx="501213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i="0" dirty="0">
                <a:solidFill>
                  <a:srgbClr val="6C747F"/>
                </a:solidFill>
                <a:effectLst/>
              </a:rPr>
              <a:t>Beyond physics, I have a strong interest in how computing systems are architected.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6C747F"/>
                </a:solidFill>
                <a:effectLst/>
              </a:rPr>
              <a:t>Smart Parking Project:</a:t>
            </a:r>
            <a:r>
              <a:rPr lang="en-US" b="0" i="0" dirty="0">
                <a:solidFill>
                  <a:srgbClr val="6C747F"/>
                </a:solidFill>
                <a:effectLst/>
              </a:rPr>
              <a:t> Designed a full autonomous system.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6C747F"/>
                </a:solidFill>
                <a:effectLst/>
              </a:rPr>
              <a:t>RISC-V Implementation:</a:t>
            </a:r>
            <a:r>
              <a:rPr lang="en-US" b="0" i="0" dirty="0">
                <a:solidFill>
                  <a:srgbClr val="6C747F"/>
                </a:solidFill>
                <a:effectLst/>
              </a:rPr>
              <a:t> Deployed a </a:t>
            </a:r>
            <a:r>
              <a:rPr lang="en-US" b="0" i="0" dirty="0" err="1">
                <a:solidFill>
                  <a:srgbClr val="6C747F"/>
                </a:solidFill>
                <a:effectLst/>
              </a:rPr>
              <a:t>VexRiscv</a:t>
            </a:r>
            <a:r>
              <a:rPr lang="en-US" b="0" i="0" dirty="0">
                <a:solidFill>
                  <a:srgbClr val="6C747F"/>
                </a:solidFill>
                <a:effectLst/>
              </a:rPr>
              <a:t> core on FPGA using </a:t>
            </a:r>
            <a:r>
              <a:rPr lang="en-US" b="0" i="0" dirty="0" err="1">
                <a:solidFill>
                  <a:srgbClr val="6C747F"/>
                </a:solidFill>
                <a:effectLst/>
              </a:rPr>
              <a:t>LiteX</a:t>
            </a:r>
            <a:r>
              <a:rPr lang="en-US" b="0" i="0" dirty="0">
                <a:solidFill>
                  <a:srgbClr val="6C747F"/>
                </a:solidFill>
                <a:effectLst/>
              </a:rPr>
              <a:t>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6C747F"/>
                </a:solidFill>
                <a:effectLst/>
              </a:rPr>
              <a:t>Full Stack:</a:t>
            </a:r>
            <a:r>
              <a:rPr lang="en-US" b="0" i="0" dirty="0">
                <a:solidFill>
                  <a:srgbClr val="6C747F"/>
                </a:solidFill>
                <a:effectLst/>
              </a:rPr>
              <a:t> From AXI bus interconnects to Embedded Linux drivers.</a:t>
            </a:r>
          </a:p>
        </p:txBody>
      </p:sp>
      <p:grpSp>
        <p:nvGrpSpPr>
          <p:cNvPr id="41" name="Groupe 40">
            <a:extLst>
              <a:ext uri="{FF2B5EF4-FFF2-40B4-BE49-F238E27FC236}">
                <a16:creationId xmlns:a16="http://schemas.microsoft.com/office/drawing/2014/main" id="{BEEC6F99-3285-4577-8C64-1CD312D461F6}"/>
              </a:ext>
            </a:extLst>
          </p:cNvPr>
          <p:cNvGrpSpPr/>
          <p:nvPr/>
        </p:nvGrpSpPr>
        <p:grpSpPr>
          <a:xfrm>
            <a:off x="6498981" y="1504950"/>
            <a:ext cx="4933803" cy="4514849"/>
            <a:chOff x="6498981" y="1504950"/>
            <a:chExt cx="4933803" cy="4514849"/>
          </a:xfrm>
        </p:grpSpPr>
        <p:sp>
          <p:nvSpPr>
            <p:cNvPr id="31" name="Rectangle : coins arrondis 30">
              <a:extLst>
                <a:ext uri="{FF2B5EF4-FFF2-40B4-BE49-F238E27FC236}">
                  <a16:creationId xmlns:a16="http://schemas.microsoft.com/office/drawing/2014/main" id="{5C6C2BA1-8F94-4F5E-9D7A-75A080D4F6D3}"/>
                </a:ext>
              </a:extLst>
            </p:cNvPr>
            <p:cNvSpPr/>
            <p:nvPr/>
          </p:nvSpPr>
          <p:spPr>
            <a:xfrm>
              <a:off x="6498981" y="1504950"/>
              <a:ext cx="4933803" cy="4514849"/>
            </a:xfrm>
            <a:prstGeom prst="roundRect">
              <a:avLst>
                <a:gd name="adj" fmla="val 51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1026" name="Picture 2" descr="Hardware implementation of memristor-based artificial neural networks |  Nature Communications">
              <a:extLst>
                <a:ext uri="{FF2B5EF4-FFF2-40B4-BE49-F238E27FC236}">
                  <a16:creationId xmlns:a16="http://schemas.microsoft.com/office/drawing/2014/main" id="{088B30F1-87D6-4D38-97F4-7B3521F21BF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47136"/>
            <a:stretch/>
          </p:blipFill>
          <p:spPr bwMode="auto">
            <a:xfrm>
              <a:off x="6805911" y="3666238"/>
              <a:ext cx="4485680" cy="20493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7" name="ZoneTexte 16">
              <a:extLst>
                <a:ext uri="{FF2B5EF4-FFF2-40B4-BE49-F238E27FC236}">
                  <a16:creationId xmlns:a16="http://schemas.microsoft.com/office/drawing/2014/main" id="{94FC605D-5895-4F53-9C39-E61D0ACDED24}"/>
                </a:ext>
              </a:extLst>
            </p:cNvPr>
            <p:cNvSpPr txBox="1"/>
            <p:nvPr/>
          </p:nvSpPr>
          <p:spPr>
            <a:xfrm>
              <a:off x="6634852" y="1607691"/>
              <a:ext cx="335840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i="1" dirty="0">
                  <a:solidFill>
                    <a:schemeClr val="accent1"/>
                  </a:solidFill>
                </a:rPr>
                <a:t>Academic Exercise </a:t>
              </a:r>
            </a:p>
          </p:txBody>
        </p:sp>
        <p:pic>
          <p:nvPicPr>
            <p:cNvPr id="9" name="Image 8">
              <a:extLst>
                <a:ext uri="{FF2B5EF4-FFF2-40B4-BE49-F238E27FC236}">
                  <a16:creationId xmlns:a16="http://schemas.microsoft.com/office/drawing/2014/main" id="{5215449C-27B1-4FFF-B91E-A40C39AB04A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072391" y="1792987"/>
              <a:ext cx="1219200" cy="1704975"/>
            </a:xfrm>
            <a:prstGeom prst="rect">
              <a:avLst/>
            </a:prstGeom>
          </p:spPr>
        </p:pic>
        <p:sp>
          <p:nvSpPr>
            <p:cNvPr id="45" name="ZoneTexte 44">
              <a:extLst>
                <a:ext uri="{FF2B5EF4-FFF2-40B4-BE49-F238E27FC236}">
                  <a16:creationId xmlns:a16="http://schemas.microsoft.com/office/drawing/2014/main" id="{119EC247-8276-4ABF-87DD-89B86D4BCA6B}"/>
                </a:ext>
              </a:extLst>
            </p:cNvPr>
            <p:cNvSpPr txBox="1"/>
            <p:nvPr/>
          </p:nvSpPr>
          <p:spPr>
            <a:xfrm>
              <a:off x="6634852" y="1977023"/>
              <a:ext cx="3358409" cy="14773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i="1" dirty="0">
                  <a:solidFill>
                    <a:srgbClr val="6C747F"/>
                  </a:solidFill>
                </a:rPr>
                <a:t>Writing (in French..) a Scientific review in an IEEE Format</a:t>
              </a:r>
            </a:p>
            <a:p>
              <a:endParaRPr lang="en-US" b="1" i="1" dirty="0">
                <a:solidFill>
                  <a:srgbClr val="6C747F"/>
                </a:solidFill>
              </a:endParaRPr>
            </a:p>
            <a:p>
              <a:r>
                <a:rPr lang="en-US" b="1" i="1" dirty="0">
                  <a:solidFill>
                    <a:srgbClr val="6C747F"/>
                  </a:solidFill>
                </a:rPr>
                <a:t>Decided to write on Neuromorphic Processors </a:t>
              </a:r>
              <a:endParaRPr lang="fr-FR" b="1" i="1" dirty="0">
                <a:solidFill>
                  <a:srgbClr val="6C747F"/>
                </a:solidFill>
              </a:endParaRPr>
            </a:p>
          </p:txBody>
        </p:sp>
      </p:grpSp>
      <p:pic>
        <p:nvPicPr>
          <p:cNvPr id="1032" name="Picture 8" descr="MQTT System Architecture">
            <a:extLst>
              <a:ext uri="{FF2B5EF4-FFF2-40B4-BE49-F238E27FC236}">
                <a16:creationId xmlns:a16="http://schemas.microsoft.com/office/drawing/2014/main" id="{E0457401-84E4-4DB2-9EDC-F2C1C1389C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4874" y="4529357"/>
            <a:ext cx="2405126" cy="1310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617F9116-BB24-4C11-A5CF-AAC7C33D169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134" y="6048392"/>
            <a:ext cx="1074131" cy="490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69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EE966B21-08AC-4FCC-AF59-47456EB049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9229" y="3815862"/>
            <a:ext cx="1648558" cy="2198077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9E959982-C697-44CD-BDDC-908CF1E713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6976" y="3815861"/>
            <a:ext cx="1648558" cy="2198078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20932283-D876-4776-A558-36FA09759F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8824" y="1617777"/>
            <a:ext cx="1648559" cy="2198079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E1176F32-4087-4682-832F-E0C75B42A09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8460" y="3815861"/>
            <a:ext cx="2930772" cy="2198079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587E5AF1-39EE-4ACC-A930-E2A22F82622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4762" y="1617776"/>
            <a:ext cx="2930772" cy="2198079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3DF64FC2-340A-4A47-85E9-CD055A4FFB3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7386" y="1617778"/>
            <a:ext cx="2930771" cy="2198078"/>
          </a:xfrm>
          <a:prstGeom prst="rect">
            <a:avLst/>
          </a:prstGeom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860BD389-3355-43CA-A4CC-93A54EB8ED4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6042" y="2502511"/>
            <a:ext cx="1751132" cy="1313349"/>
          </a:xfrm>
          <a:prstGeom prst="rect">
            <a:avLst/>
          </a:prstGeom>
        </p:spPr>
      </p:pic>
      <p:pic>
        <p:nvPicPr>
          <p:cNvPr id="24" name="Image 23">
            <a:extLst>
              <a:ext uri="{FF2B5EF4-FFF2-40B4-BE49-F238E27FC236}">
                <a16:creationId xmlns:a16="http://schemas.microsoft.com/office/drawing/2014/main" id="{097CD6B9-F1A2-4A65-B8D8-F1FF2D0E9E5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7789" y="3815860"/>
            <a:ext cx="2930772" cy="2198079"/>
          </a:xfrm>
          <a:prstGeom prst="rect">
            <a:avLst/>
          </a:prstGeom>
        </p:spPr>
      </p:pic>
      <p:pic>
        <p:nvPicPr>
          <p:cNvPr id="28" name="Image 27">
            <a:extLst>
              <a:ext uri="{FF2B5EF4-FFF2-40B4-BE49-F238E27FC236}">
                <a16:creationId xmlns:a16="http://schemas.microsoft.com/office/drawing/2014/main" id="{180EB667-43A1-4CBF-BEE3-FBBB55BB030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5039" y="1617772"/>
            <a:ext cx="1236423" cy="2198084"/>
          </a:xfrm>
          <a:prstGeom prst="rect">
            <a:avLst/>
          </a:prstGeom>
        </p:spPr>
      </p:pic>
      <p:pic>
        <p:nvPicPr>
          <p:cNvPr id="30" name="Image 29">
            <a:extLst>
              <a:ext uri="{FF2B5EF4-FFF2-40B4-BE49-F238E27FC236}">
                <a16:creationId xmlns:a16="http://schemas.microsoft.com/office/drawing/2014/main" id="{C0D82670-9FB5-4E65-AFD7-454BD64CA1B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004" y="3815855"/>
            <a:ext cx="2322455" cy="1741841"/>
          </a:xfrm>
          <a:prstGeom prst="rect">
            <a:avLst/>
          </a:prstGeom>
        </p:spPr>
      </p:pic>
      <p:sp>
        <p:nvSpPr>
          <p:cNvPr id="31" name="Forme libre : forme 30">
            <a:extLst>
              <a:ext uri="{FF2B5EF4-FFF2-40B4-BE49-F238E27FC236}">
                <a16:creationId xmlns:a16="http://schemas.microsoft.com/office/drawing/2014/main" id="{67844668-143B-46AE-B359-A7F59280CB09}"/>
              </a:ext>
            </a:extLst>
          </p:cNvPr>
          <p:cNvSpPr/>
          <p:nvPr/>
        </p:nvSpPr>
        <p:spPr>
          <a:xfrm>
            <a:off x="889430" y="1089211"/>
            <a:ext cx="11738213" cy="5932662"/>
          </a:xfrm>
          <a:custGeom>
            <a:avLst/>
            <a:gdLst>
              <a:gd name="connsiteX0" fmla="*/ 3782 w 11095453"/>
              <a:gd name="connsiteY0" fmla="*/ 4774651 h 5818181"/>
              <a:gd name="connsiteX1" fmla="*/ 856636 w 11095453"/>
              <a:gd name="connsiteY1" fmla="*/ 4493297 h 5818181"/>
              <a:gd name="connsiteX2" fmla="*/ 2201859 w 11095453"/>
              <a:gd name="connsiteY2" fmla="*/ 5187889 h 5818181"/>
              <a:gd name="connsiteX3" fmla="*/ 4162543 w 11095453"/>
              <a:gd name="connsiteY3" fmla="*/ 5047212 h 5818181"/>
              <a:gd name="connsiteX4" fmla="*/ 6624389 w 11095453"/>
              <a:gd name="connsiteY4" fmla="*/ 4607597 h 5818181"/>
              <a:gd name="connsiteX5" fmla="*/ 8980728 w 11095453"/>
              <a:gd name="connsiteY5" fmla="*/ 4818612 h 5818181"/>
              <a:gd name="connsiteX6" fmla="*/ 10185274 w 11095453"/>
              <a:gd name="connsiteY6" fmla="*/ 4572428 h 5818181"/>
              <a:gd name="connsiteX7" fmla="*/ 10484212 w 11095453"/>
              <a:gd name="connsiteY7" fmla="*/ 3482182 h 5818181"/>
              <a:gd name="connsiteX8" fmla="*/ 10141312 w 11095453"/>
              <a:gd name="connsiteY8" fmla="*/ 853282 h 5818181"/>
              <a:gd name="connsiteX9" fmla="*/ 9508266 w 11095453"/>
              <a:gd name="connsiteY9" fmla="*/ 404874 h 5818181"/>
              <a:gd name="connsiteX10" fmla="*/ 9763243 w 11095453"/>
              <a:gd name="connsiteY10" fmla="*/ 61974 h 5818181"/>
              <a:gd name="connsiteX11" fmla="*/ 10862282 w 11095453"/>
              <a:gd name="connsiteY11" fmla="*/ 1732512 h 5818181"/>
              <a:gd name="connsiteX12" fmla="*/ 10783151 w 11095453"/>
              <a:gd name="connsiteY12" fmla="*/ 4809820 h 5818181"/>
              <a:gd name="connsiteX13" fmla="*/ 7609128 w 11095453"/>
              <a:gd name="connsiteY13" fmla="*/ 5724220 h 5818181"/>
              <a:gd name="connsiteX14" fmla="*/ 1181951 w 11095453"/>
              <a:gd name="connsiteY14" fmla="*/ 5680259 h 5818181"/>
              <a:gd name="connsiteX15" fmla="*/ 3782 w 11095453"/>
              <a:gd name="connsiteY15" fmla="*/ 4774651 h 5818181"/>
              <a:gd name="connsiteX0" fmla="*/ 3782 w 11095453"/>
              <a:gd name="connsiteY0" fmla="*/ 4774651 h 5818181"/>
              <a:gd name="connsiteX1" fmla="*/ 856636 w 11095453"/>
              <a:gd name="connsiteY1" fmla="*/ 4493297 h 5818181"/>
              <a:gd name="connsiteX2" fmla="*/ 2201859 w 11095453"/>
              <a:gd name="connsiteY2" fmla="*/ 5187889 h 5818181"/>
              <a:gd name="connsiteX3" fmla="*/ 4162543 w 11095453"/>
              <a:gd name="connsiteY3" fmla="*/ 5047212 h 5818181"/>
              <a:gd name="connsiteX4" fmla="*/ 6624389 w 11095453"/>
              <a:gd name="connsiteY4" fmla="*/ 4607597 h 5818181"/>
              <a:gd name="connsiteX5" fmla="*/ 9130197 w 11095453"/>
              <a:gd name="connsiteY5" fmla="*/ 4897743 h 5818181"/>
              <a:gd name="connsiteX6" fmla="*/ 10185274 w 11095453"/>
              <a:gd name="connsiteY6" fmla="*/ 4572428 h 5818181"/>
              <a:gd name="connsiteX7" fmla="*/ 10484212 w 11095453"/>
              <a:gd name="connsiteY7" fmla="*/ 3482182 h 5818181"/>
              <a:gd name="connsiteX8" fmla="*/ 10141312 w 11095453"/>
              <a:gd name="connsiteY8" fmla="*/ 853282 h 5818181"/>
              <a:gd name="connsiteX9" fmla="*/ 9508266 w 11095453"/>
              <a:gd name="connsiteY9" fmla="*/ 404874 h 5818181"/>
              <a:gd name="connsiteX10" fmla="*/ 9763243 w 11095453"/>
              <a:gd name="connsiteY10" fmla="*/ 61974 h 5818181"/>
              <a:gd name="connsiteX11" fmla="*/ 10862282 w 11095453"/>
              <a:gd name="connsiteY11" fmla="*/ 1732512 h 5818181"/>
              <a:gd name="connsiteX12" fmla="*/ 10783151 w 11095453"/>
              <a:gd name="connsiteY12" fmla="*/ 4809820 h 5818181"/>
              <a:gd name="connsiteX13" fmla="*/ 7609128 w 11095453"/>
              <a:gd name="connsiteY13" fmla="*/ 5724220 h 5818181"/>
              <a:gd name="connsiteX14" fmla="*/ 1181951 w 11095453"/>
              <a:gd name="connsiteY14" fmla="*/ 5680259 h 5818181"/>
              <a:gd name="connsiteX15" fmla="*/ 3782 w 11095453"/>
              <a:gd name="connsiteY15" fmla="*/ 4774651 h 5818181"/>
              <a:gd name="connsiteX0" fmla="*/ 3782 w 11095453"/>
              <a:gd name="connsiteY0" fmla="*/ 4774651 h 5818181"/>
              <a:gd name="connsiteX1" fmla="*/ 856636 w 11095453"/>
              <a:gd name="connsiteY1" fmla="*/ 4493297 h 5818181"/>
              <a:gd name="connsiteX2" fmla="*/ 2201859 w 11095453"/>
              <a:gd name="connsiteY2" fmla="*/ 5187889 h 5818181"/>
              <a:gd name="connsiteX3" fmla="*/ 4162543 w 11095453"/>
              <a:gd name="connsiteY3" fmla="*/ 5047212 h 5818181"/>
              <a:gd name="connsiteX4" fmla="*/ 5208828 w 11095453"/>
              <a:gd name="connsiteY4" fmla="*/ 4757067 h 5818181"/>
              <a:gd name="connsiteX5" fmla="*/ 9130197 w 11095453"/>
              <a:gd name="connsiteY5" fmla="*/ 4897743 h 5818181"/>
              <a:gd name="connsiteX6" fmla="*/ 10185274 w 11095453"/>
              <a:gd name="connsiteY6" fmla="*/ 4572428 h 5818181"/>
              <a:gd name="connsiteX7" fmla="*/ 10484212 w 11095453"/>
              <a:gd name="connsiteY7" fmla="*/ 3482182 h 5818181"/>
              <a:gd name="connsiteX8" fmla="*/ 10141312 w 11095453"/>
              <a:gd name="connsiteY8" fmla="*/ 853282 h 5818181"/>
              <a:gd name="connsiteX9" fmla="*/ 9508266 w 11095453"/>
              <a:gd name="connsiteY9" fmla="*/ 404874 h 5818181"/>
              <a:gd name="connsiteX10" fmla="*/ 9763243 w 11095453"/>
              <a:gd name="connsiteY10" fmla="*/ 61974 h 5818181"/>
              <a:gd name="connsiteX11" fmla="*/ 10862282 w 11095453"/>
              <a:gd name="connsiteY11" fmla="*/ 1732512 h 5818181"/>
              <a:gd name="connsiteX12" fmla="*/ 10783151 w 11095453"/>
              <a:gd name="connsiteY12" fmla="*/ 4809820 h 5818181"/>
              <a:gd name="connsiteX13" fmla="*/ 7609128 w 11095453"/>
              <a:gd name="connsiteY13" fmla="*/ 5724220 h 5818181"/>
              <a:gd name="connsiteX14" fmla="*/ 1181951 w 11095453"/>
              <a:gd name="connsiteY14" fmla="*/ 5680259 h 5818181"/>
              <a:gd name="connsiteX15" fmla="*/ 3782 w 11095453"/>
              <a:gd name="connsiteY15" fmla="*/ 4774651 h 5818181"/>
              <a:gd name="connsiteX0" fmla="*/ 3782 w 11095453"/>
              <a:gd name="connsiteY0" fmla="*/ 4774651 h 5818181"/>
              <a:gd name="connsiteX1" fmla="*/ 856636 w 11095453"/>
              <a:gd name="connsiteY1" fmla="*/ 4493297 h 5818181"/>
              <a:gd name="connsiteX2" fmla="*/ 2201859 w 11095453"/>
              <a:gd name="connsiteY2" fmla="*/ 5187889 h 5818181"/>
              <a:gd name="connsiteX3" fmla="*/ 3538289 w 11095453"/>
              <a:gd name="connsiteY3" fmla="*/ 4792235 h 5818181"/>
              <a:gd name="connsiteX4" fmla="*/ 5208828 w 11095453"/>
              <a:gd name="connsiteY4" fmla="*/ 4757067 h 5818181"/>
              <a:gd name="connsiteX5" fmla="*/ 9130197 w 11095453"/>
              <a:gd name="connsiteY5" fmla="*/ 4897743 h 5818181"/>
              <a:gd name="connsiteX6" fmla="*/ 10185274 w 11095453"/>
              <a:gd name="connsiteY6" fmla="*/ 4572428 h 5818181"/>
              <a:gd name="connsiteX7" fmla="*/ 10484212 w 11095453"/>
              <a:gd name="connsiteY7" fmla="*/ 3482182 h 5818181"/>
              <a:gd name="connsiteX8" fmla="*/ 10141312 w 11095453"/>
              <a:gd name="connsiteY8" fmla="*/ 853282 h 5818181"/>
              <a:gd name="connsiteX9" fmla="*/ 9508266 w 11095453"/>
              <a:gd name="connsiteY9" fmla="*/ 404874 h 5818181"/>
              <a:gd name="connsiteX10" fmla="*/ 9763243 w 11095453"/>
              <a:gd name="connsiteY10" fmla="*/ 61974 h 5818181"/>
              <a:gd name="connsiteX11" fmla="*/ 10862282 w 11095453"/>
              <a:gd name="connsiteY11" fmla="*/ 1732512 h 5818181"/>
              <a:gd name="connsiteX12" fmla="*/ 10783151 w 11095453"/>
              <a:gd name="connsiteY12" fmla="*/ 4809820 h 5818181"/>
              <a:gd name="connsiteX13" fmla="*/ 7609128 w 11095453"/>
              <a:gd name="connsiteY13" fmla="*/ 5724220 h 5818181"/>
              <a:gd name="connsiteX14" fmla="*/ 1181951 w 11095453"/>
              <a:gd name="connsiteY14" fmla="*/ 5680259 h 5818181"/>
              <a:gd name="connsiteX15" fmla="*/ 3782 w 11095453"/>
              <a:gd name="connsiteY15" fmla="*/ 4774651 h 5818181"/>
              <a:gd name="connsiteX0" fmla="*/ 3248 w 11094919"/>
              <a:gd name="connsiteY0" fmla="*/ 4774651 h 5818181"/>
              <a:gd name="connsiteX1" fmla="*/ 856102 w 11094919"/>
              <a:gd name="connsiteY1" fmla="*/ 4493297 h 5818181"/>
              <a:gd name="connsiteX2" fmla="*/ 1612240 w 11094919"/>
              <a:gd name="connsiteY2" fmla="*/ 4774650 h 5818181"/>
              <a:gd name="connsiteX3" fmla="*/ 3537755 w 11094919"/>
              <a:gd name="connsiteY3" fmla="*/ 4792235 h 5818181"/>
              <a:gd name="connsiteX4" fmla="*/ 5208294 w 11094919"/>
              <a:gd name="connsiteY4" fmla="*/ 4757067 h 5818181"/>
              <a:gd name="connsiteX5" fmla="*/ 9129663 w 11094919"/>
              <a:gd name="connsiteY5" fmla="*/ 4897743 h 5818181"/>
              <a:gd name="connsiteX6" fmla="*/ 10184740 w 11094919"/>
              <a:gd name="connsiteY6" fmla="*/ 4572428 h 5818181"/>
              <a:gd name="connsiteX7" fmla="*/ 10483678 w 11094919"/>
              <a:gd name="connsiteY7" fmla="*/ 3482182 h 5818181"/>
              <a:gd name="connsiteX8" fmla="*/ 10140778 w 11094919"/>
              <a:gd name="connsiteY8" fmla="*/ 853282 h 5818181"/>
              <a:gd name="connsiteX9" fmla="*/ 9507732 w 11094919"/>
              <a:gd name="connsiteY9" fmla="*/ 404874 h 5818181"/>
              <a:gd name="connsiteX10" fmla="*/ 9762709 w 11094919"/>
              <a:gd name="connsiteY10" fmla="*/ 61974 h 5818181"/>
              <a:gd name="connsiteX11" fmla="*/ 10861748 w 11094919"/>
              <a:gd name="connsiteY11" fmla="*/ 1732512 h 5818181"/>
              <a:gd name="connsiteX12" fmla="*/ 10782617 w 11094919"/>
              <a:gd name="connsiteY12" fmla="*/ 4809820 h 5818181"/>
              <a:gd name="connsiteX13" fmla="*/ 7608594 w 11094919"/>
              <a:gd name="connsiteY13" fmla="*/ 5724220 h 5818181"/>
              <a:gd name="connsiteX14" fmla="*/ 1181417 w 11094919"/>
              <a:gd name="connsiteY14" fmla="*/ 5680259 h 5818181"/>
              <a:gd name="connsiteX15" fmla="*/ 3248 w 11094919"/>
              <a:gd name="connsiteY15" fmla="*/ 4774651 h 5818181"/>
              <a:gd name="connsiteX0" fmla="*/ 3675 w 11095346"/>
              <a:gd name="connsiteY0" fmla="*/ 4774651 h 5818181"/>
              <a:gd name="connsiteX1" fmla="*/ 838945 w 11095346"/>
              <a:gd name="connsiteY1" fmla="*/ 3974550 h 5818181"/>
              <a:gd name="connsiteX2" fmla="*/ 1612667 w 11095346"/>
              <a:gd name="connsiteY2" fmla="*/ 4774650 h 5818181"/>
              <a:gd name="connsiteX3" fmla="*/ 3538182 w 11095346"/>
              <a:gd name="connsiteY3" fmla="*/ 4792235 h 5818181"/>
              <a:gd name="connsiteX4" fmla="*/ 5208721 w 11095346"/>
              <a:gd name="connsiteY4" fmla="*/ 4757067 h 5818181"/>
              <a:gd name="connsiteX5" fmla="*/ 9130090 w 11095346"/>
              <a:gd name="connsiteY5" fmla="*/ 4897743 h 5818181"/>
              <a:gd name="connsiteX6" fmla="*/ 10185167 w 11095346"/>
              <a:gd name="connsiteY6" fmla="*/ 4572428 h 5818181"/>
              <a:gd name="connsiteX7" fmla="*/ 10484105 w 11095346"/>
              <a:gd name="connsiteY7" fmla="*/ 3482182 h 5818181"/>
              <a:gd name="connsiteX8" fmla="*/ 10141205 w 11095346"/>
              <a:gd name="connsiteY8" fmla="*/ 853282 h 5818181"/>
              <a:gd name="connsiteX9" fmla="*/ 9508159 w 11095346"/>
              <a:gd name="connsiteY9" fmla="*/ 404874 h 5818181"/>
              <a:gd name="connsiteX10" fmla="*/ 9763136 w 11095346"/>
              <a:gd name="connsiteY10" fmla="*/ 61974 h 5818181"/>
              <a:gd name="connsiteX11" fmla="*/ 10862175 w 11095346"/>
              <a:gd name="connsiteY11" fmla="*/ 1732512 h 5818181"/>
              <a:gd name="connsiteX12" fmla="*/ 10783044 w 11095346"/>
              <a:gd name="connsiteY12" fmla="*/ 4809820 h 5818181"/>
              <a:gd name="connsiteX13" fmla="*/ 7609021 w 11095346"/>
              <a:gd name="connsiteY13" fmla="*/ 5724220 h 5818181"/>
              <a:gd name="connsiteX14" fmla="*/ 1181844 w 11095346"/>
              <a:gd name="connsiteY14" fmla="*/ 5680259 h 5818181"/>
              <a:gd name="connsiteX15" fmla="*/ 3675 w 11095346"/>
              <a:gd name="connsiteY15" fmla="*/ 4774651 h 5818181"/>
              <a:gd name="connsiteX0" fmla="*/ 3983 w 11095654"/>
              <a:gd name="connsiteY0" fmla="*/ 4774651 h 5818181"/>
              <a:gd name="connsiteX1" fmla="*/ 839253 w 11095654"/>
              <a:gd name="connsiteY1" fmla="*/ 3974550 h 5818181"/>
              <a:gd name="connsiteX2" fmla="*/ 1612975 w 11095654"/>
              <a:gd name="connsiteY2" fmla="*/ 4774650 h 5818181"/>
              <a:gd name="connsiteX3" fmla="*/ 3538490 w 11095654"/>
              <a:gd name="connsiteY3" fmla="*/ 4792235 h 5818181"/>
              <a:gd name="connsiteX4" fmla="*/ 5209029 w 11095654"/>
              <a:gd name="connsiteY4" fmla="*/ 4757067 h 5818181"/>
              <a:gd name="connsiteX5" fmla="*/ 9130398 w 11095654"/>
              <a:gd name="connsiteY5" fmla="*/ 4897743 h 5818181"/>
              <a:gd name="connsiteX6" fmla="*/ 10185475 w 11095654"/>
              <a:gd name="connsiteY6" fmla="*/ 4572428 h 5818181"/>
              <a:gd name="connsiteX7" fmla="*/ 10484413 w 11095654"/>
              <a:gd name="connsiteY7" fmla="*/ 3482182 h 5818181"/>
              <a:gd name="connsiteX8" fmla="*/ 10141513 w 11095654"/>
              <a:gd name="connsiteY8" fmla="*/ 853282 h 5818181"/>
              <a:gd name="connsiteX9" fmla="*/ 9508467 w 11095654"/>
              <a:gd name="connsiteY9" fmla="*/ 404874 h 5818181"/>
              <a:gd name="connsiteX10" fmla="*/ 9763444 w 11095654"/>
              <a:gd name="connsiteY10" fmla="*/ 61974 h 5818181"/>
              <a:gd name="connsiteX11" fmla="*/ 10862483 w 11095654"/>
              <a:gd name="connsiteY11" fmla="*/ 1732512 h 5818181"/>
              <a:gd name="connsiteX12" fmla="*/ 10783352 w 11095654"/>
              <a:gd name="connsiteY12" fmla="*/ 4809820 h 5818181"/>
              <a:gd name="connsiteX13" fmla="*/ 7609329 w 11095654"/>
              <a:gd name="connsiteY13" fmla="*/ 5724220 h 5818181"/>
              <a:gd name="connsiteX14" fmla="*/ 1182152 w 11095654"/>
              <a:gd name="connsiteY14" fmla="*/ 5680259 h 5818181"/>
              <a:gd name="connsiteX15" fmla="*/ 3983 w 11095654"/>
              <a:gd name="connsiteY15" fmla="*/ 4774651 h 5818181"/>
              <a:gd name="connsiteX0" fmla="*/ 4039 w 11095710"/>
              <a:gd name="connsiteY0" fmla="*/ 4774651 h 5818181"/>
              <a:gd name="connsiteX1" fmla="*/ 839309 w 11095710"/>
              <a:gd name="connsiteY1" fmla="*/ 3974550 h 5818181"/>
              <a:gd name="connsiteX2" fmla="*/ 1982308 w 11095710"/>
              <a:gd name="connsiteY2" fmla="*/ 4801027 h 5818181"/>
              <a:gd name="connsiteX3" fmla="*/ 3538546 w 11095710"/>
              <a:gd name="connsiteY3" fmla="*/ 4792235 h 5818181"/>
              <a:gd name="connsiteX4" fmla="*/ 5209085 w 11095710"/>
              <a:gd name="connsiteY4" fmla="*/ 4757067 h 5818181"/>
              <a:gd name="connsiteX5" fmla="*/ 9130454 w 11095710"/>
              <a:gd name="connsiteY5" fmla="*/ 4897743 h 5818181"/>
              <a:gd name="connsiteX6" fmla="*/ 10185531 w 11095710"/>
              <a:gd name="connsiteY6" fmla="*/ 4572428 h 5818181"/>
              <a:gd name="connsiteX7" fmla="*/ 10484469 w 11095710"/>
              <a:gd name="connsiteY7" fmla="*/ 3482182 h 5818181"/>
              <a:gd name="connsiteX8" fmla="*/ 10141569 w 11095710"/>
              <a:gd name="connsiteY8" fmla="*/ 853282 h 5818181"/>
              <a:gd name="connsiteX9" fmla="*/ 9508523 w 11095710"/>
              <a:gd name="connsiteY9" fmla="*/ 404874 h 5818181"/>
              <a:gd name="connsiteX10" fmla="*/ 9763500 w 11095710"/>
              <a:gd name="connsiteY10" fmla="*/ 61974 h 5818181"/>
              <a:gd name="connsiteX11" fmla="*/ 10862539 w 11095710"/>
              <a:gd name="connsiteY11" fmla="*/ 1732512 h 5818181"/>
              <a:gd name="connsiteX12" fmla="*/ 10783408 w 11095710"/>
              <a:gd name="connsiteY12" fmla="*/ 4809820 h 5818181"/>
              <a:gd name="connsiteX13" fmla="*/ 7609385 w 11095710"/>
              <a:gd name="connsiteY13" fmla="*/ 5724220 h 5818181"/>
              <a:gd name="connsiteX14" fmla="*/ 1182208 w 11095710"/>
              <a:gd name="connsiteY14" fmla="*/ 5680259 h 5818181"/>
              <a:gd name="connsiteX15" fmla="*/ 4039 w 11095710"/>
              <a:gd name="connsiteY15" fmla="*/ 4774651 h 5818181"/>
              <a:gd name="connsiteX0" fmla="*/ 4039 w 11095710"/>
              <a:gd name="connsiteY0" fmla="*/ 4774651 h 5818181"/>
              <a:gd name="connsiteX1" fmla="*/ 839309 w 11095710"/>
              <a:gd name="connsiteY1" fmla="*/ 3974550 h 5818181"/>
              <a:gd name="connsiteX2" fmla="*/ 1982308 w 11095710"/>
              <a:gd name="connsiteY2" fmla="*/ 4801027 h 5818181"/>
              <a:gd name="connsiteX3" fmla="*/ 3538546 w 11095710"/>
              <a:gd name="connsiteY3" fmla="*/ 4792235 h 5818181"/>
              <a:gd name="connsiteX4" fmla="*/ 5209085 w 11095710"/>
              <a:gd name="connsiteY4" fmla="*/ 4757067 h 5818181"/>
              <a:gd name="connsiteX5" fmla="*/ 9130454 w 11095710"/>
              <a:gd name="connsiteY5" fmla="*/ 4897743 h 5818181"/>
              <a:gd name="connsiteX6" fmla="*/ 10185531 w 11095710"/>
              <a:gd name="connsiteY6" fmla="*/ 4572428 h 5818181"/>
              <a:gd name="connsiteX7" fmla="*/ 10484469 w 11095710"/>
              <a:gd name="connsiteY7" fmla="*/ 3482182 h 5818181"/>
              <a:gd name="connsiteX8" fmla="*/ 10141569 w 11095710"/>
              <a:gd name="connsiteY8" fmla="*/ 853282 h 5818181"/>
              <a:gd name="connsiteX9" fmla="*/ 9508523 w 11095710"/>
              <a:gd name="connsiteY9" fmla="*/ 404874 h 5818181"/>
              <a:gd name="connsiteX10" fmla="*/ 9763500 w 11095710"/>
              <a:gd name="connsiteY10" fmla="*/ 61974 h 5818181"/>
              <a:gd name="connsiteX11" fmla="*/ 10862539 w 11095710"/>
              <a:gd name="connsiteY11" fmla="*/ 1732512 h 5818181"/>
              <a:gd name="connsiteX12" fmla="*/ 10783408 w 11095710"/>
              <a:gd name="connsiteY12" fmla="*/ 4809820 h 5818181"/>
              <a:gd name="connsiteX13" fmla="*/ 7609385 w 11095710"/>
              <a:gd name="connsiteY13" fmla="*/ 5724220 h 5818181"/>
              <a:gd name="connsiteX14" fmla="*/ 1182208 w 11095710"/>
              <a:gd name="connsiteY14" fmla="*/ 5680259 h 5818181"/>
              <a:gd name="connsiteX15" fmla="*/ 4039 w 11095710"/>
              <a:gd name="connsiteY15" fmla="*/ 4774651 h 5818181"/>
              <a:gd name="connsiteX0" fmla="*/ 72785 w 11164456"/>
              <a:gd name="connsiteY0" fmla="*/ 4774651 h 5818181"/>
              <a:gd name="connsiteX1" fmla="*/ 336555 w 11164456"/>
              <a:gd name="connsiteY1" fmla="*/ 4009719 h 5818181"/>
              <a:gd name="connsiteX2" fmla="*/ 2051054 w 11164456"/>
              <a:gd name="connsiteY2" fmla="*/ 4801027 h 5818181"/>
              <a:gd name="connsiteX3" fmla="*/ 3607292 w 11164456"/>
              <a:gd name="connsiteY3" fmla="*/ 4792235 h 5818181"/>
              <a:gd name="connsiteX4" fmla="*/ 5277831 w 11164456"/>
              <a:gd name="connsiteY4" fmla="*/ 4757067 h 5818181"/>
              <a:gd name="connsiteX5" fmla="*/ 9199200 w 11164456"/>
              <a:gd name="connsiteY5" fmla="*/ 4897743 h 5818181"/>
              <a:gd name="connsiteX6" fmla="*/ 10254277 w 11164456"/>
              <a:gd name="connsiteY6" fmla="*/ 4572428 h 5818181"/>
              <a:gd name="connsiteX7" fmla="*/ 10553215 w 11164456"/>
              <a:gd name="connsiteY7" fmla="*/ 3482182 h 5818181"/>
              <a:gd name="connsiteX8" fmla="*/ 10210315 w 11164456"/>
              <a:gd name="connsiteY8" fmla="*/ 853282 h 5818181"/>
              <a:gd name="connsiteX9" fmla="*/ 9577269 w 11164456"/>
              <a:gd name="connsiteY9" fmla="*/ 404874 h 5818181"/>
              <a:gd name="connsiteX10" fmla="*/ 9832246 w 11164456"/>
              <a:gd name="connsiteY10" fmla="*/ 61974 h 5818181"/>
              <a:gd name="connsiteX11" fmla="*/ 10931285 w 11164456"/>
              <a:gd name="connsiteY11" fmla="*/ 1732512 h 5818181"/>
              <a:gd name="connsiteX12" fmla="*/ 10852154 w 11164456"/>
              <a:gd name="connsiteY12" fmla="*/ 4809820 h 5818181"/>
              <a:gd name="connsiteX13" fmla="*/ 7678131 w 11164456"/>
              <a:gd name="connsiteY13" fmla="*/ 5724220 h 5818181"/>
              <a:gd name="connsiteX14" fmla="*/ 1250954 w 11164456"/>
              <a:gd name="connsiteY14" fmla="*/ 5680259 h 5818181"/>
              <a:gd name="connsiteX15" fmla="*/ 72785 w 11164456"/>
              <a:gd name="connsiteY15" fmla="*/ 4774651 h 5818181"/>
              <a:gd name="connsiteX0" fmla="*/ 23990 w 11739915"/>
              <a:gd name="connsiteY0" fmla="*/ 4616390 h 5826547"/>
              <a:gd name="connsiteX1" fmla="*/ 912014 w 11739915"/>
              <a:gd name="connsiteY1" fmla="*/ 4009719 h 5826547"/>
              <a:gd name="connsiteX2" fmla="*/ 2626513 w 11739915"/>
              <a:gd name="connsiteY2" fmla="*/ 4801027 h 5826547"/>
              <a:gd name="connsiteX3" fmla="*/ 4182751 w 11739915"/>
              <a:gd name="connsiteY3" fmla="*/ 4792235 h 5826547"/>
              <a:gd name="connsiteX4" fmla="*/ 5853290 w 11739915"/>
              <a:gd name="connsiteY4" fmla="*/ 4757067 h 5826547"/>
              <a:gd name="connsiteX5" fmla="*/ 9774659 w 11739915"/>
              <a:gd name="connsiteY5" fmla="*/ 4897743 h 5826547"/>
              <a:gd name="connsiteX6" fmla="*/ 10829736 w 11739915"/>
              <a:gd name="connsiteY6" fmla="*/ 4572428 h 5826547"/>
              <a:gd name="connsiteX7" fmla="*/ 11128674 w 11739915"/>
              <a:gd name="connsiteY7" fmla="*/ 3482182 h 5826547"/>
              <a:gd name="connsiteX8" fmla="*/ 10785774 w 11739915"/>
              <a:gd name="connsiteY8" fmla="*/ 853282 h 5826547"/>
              <a:gd name="connsiteX9" fmla="*/ 10152728 w 11739915"/>
              <a:gd name="connsiteY9" fmla="*/ 404874 h 5826547"/>
              <a:gd name="connsiteX10" fmla="*/ 10407705 w 11739915"/>
              <a:gd name="connsiteY10" fmla="*/ 61974 h 5826547"/>
              <a:gd name="connsiteX11" fmla="*/ 11506744 w 11739915"/>
              <a:gd name="connsiteY11" fmla="*/ 1732512 h 5826547"/>
              <a:gd name="connsiteX12" fmla="*/ 11427613 w 11739915"/>
              <a:gd name="connsiteY12" fmla="*/ 4809820 h 5826547"/>
              <a:gd name="connsiteX13" fmla="*/ 8253590 w 11739915"/>
              <a:gd name="connsiteY13" fmla="*/ 5724220 h 5826547"/>
              <a:gd name="connsiteX14" fmla="*/ 1826413 w 11739915"/>
              <a:gd name="connsiteY14" fmla="*/ 5680259 h 5826547"/>
              <a:gd name="connsiteX15" fmla="*/ 23990 w 11739915"/>
              <a:gd name="connsiteY15" fmla="*/ 4616390 h 5826547"/>
              <a:gd name="connsiteX0" fmla="*/ 23990 w 11739915"/>
              <a:gd name="connsiteY0" fmla="*/ 4636655 h 5846812"/>
              <a:gd name="connsiteX1" fmla="*/ 912014 w 11739915"/>
              <a:gd name="connsiteY1" fmla="*/ 4029984 h 5846812"/>
              <a:gd name="connsiteX2" fmla="*/ 2626513 w 11739915"/>
              <a:gd name="connsiteY2" fmla="*/ 4821292 h 5846812"/>
              <a:gd name="connsiteX3" fmla="*/ 4182751 w 11739915"/>
              <a:gd name="connsiteY3" fmla="*/ 4812500 h 5846812"/>
              <a:gd name="connsiteX4" fmla="*/ 5853290 w 11739915"/>
              <a:gd name="connsiteY4" fmla="*/ 4777332 h 5846812"/>
              <a:gd name="connsiteX5" fmla="*/ 9774659 w 11739915"/>
              <a:gd name="connsiteY5" fmla="*/ 4918008 h 5846812"/>
              <a:gd name="connsiteX6" fmla="*/ 10829736 w 11739915"/>
              <a:gd name="connsiteY6" fmla="*/ 4592693 h 5846812"/>
              <a:gd name="connsiteX7" fmla="*/ 11128674 w 11739915"/>
              <a:gd name="connsiteY7" fmla="*/ 3502447 h 5846812"/>
              <a:gd name="connsiteX8" fmla="*/ 10785774 w 11739915"/>
              <a:gd name="connsiteY8" fmla="*/ 873547 h 5846812"/>
              <a:gd name="connsiteX9" fmla="*/ 9809828 w 11739915"/>
              <a:gd name="connsiteY9" fmla="*/ 319631 h 5846812"/>
              <a:gd name="connsiteX10" fmla="*/ 10407705 w 11739915"/>
              <a:gd name="connsiteY10" fmla="*/ 82239 h 5846812"/>
              <a:gd name="connsiteX11" fmla="*/ 11506744 w 11739915"/>
              <a:gd name="connsiteY11" fmla="*/ 1752777 h 5846812"/>
              <a:gd name="connsiteX12" fmla="*/ 11427613 w 11739915"/>
              <a:gd name="connsiteY12" fmla="*/ 4830085 h 5846812"/>
              <a:gd name="connsiteX13" fmla="*/ 8253590 w 11739915"/>
              <a:gd name="connsiteY13" fmla="*/ 5744485 h 5846812"/>
              <a:gd name="connsiteX14" fmla="*/ 1826413 w 11739915"/>
              <a:gd name="connsiteY14" fmla="*/ 5700524 h 5846812"/>
              <a:gd name="connsiteX15" fmla="*/ 23990 w 11739915"/>
              <a:gd name="connsiteY15" fmla="*/ 4636655 h 5846812"/>
              <a:gd name="connsiteX0" fmla="*/ 23990 w 11730308"/>
              <a:gd name="connsiteY0" fmla="*/ 4722505 h 5932662"/>
              <a:gd name="connsiteX1" fmla="*/ 912014 w 11730308"/>
              <a:gd name="connsiteY1" fmla="*/ 4115834 h 5932662"/>
              <a:gd name="connsiteX2" fmla="*/ 2626513 w 11730308"/>
              <a:gd name="connsiteY2" fmla="*/ 4907142 h 5932662"/>
              <a:gd name="connsiteX3" fmla="*/ 4182751 w 11730308"/>
              <a:gd name="connsiteY3" fmla="*/ 4898350 h 5932662"/>
              <a:gd name="connsiteX4" fmla="*/ 5853290 w 11730308"/>
              <a:gd name="connsiteY4" fmla="*/ 4863182 h 5932662"/>
              <a:gd name="connsiteX5" fmla="*/ 9774659 w 11730308"/>
              <a:gd name="connsiteY5" fmla="*/ 5003858 h 5932662"/>
              <a:gd name="connsiteX6" fmla="*/ 10829736 w 11730308"/>
              <a:gd name="connsiteY6" fmla="*/ 4678543 h 5932662"/>
              <a:gd name="connsiteX7" fmla="*/ 11128674 w 11730308"/>
              <a:gd name="connsiteY7" fmla="*/ 3588297 h 5932662"/>
              <a:gd name="connsiteX8" fmla="*/ 10785774 w 11730308"/>
              <a:gd name="connsiteY8" fmla="*/ 959397 h 5932662"/>
              <a:gd name="connsiteX9" fmla="*/ 9809828 w 11730308"/>
              <a:gd name="connsiteY9" fmla="*/ 405481 h 5932662"/>
              <a:gd name="connsiteX10" fmla="*/ 10592343 w 11730308"/>
              <a:gd name="connsiteY10" fmla="*/ 71373 h 5932662"/>
              <a:gd name="connsiteX11" fmla="*/ 11506744 w 11730308"/>
              <a:gd name="connsiteY11" fmla="*/ 1838627 h 5932662"/>
              <a:gd name="connsiteX12" fmla="*/ 11427613 w 11730308"/>
              <a:gd name="connsiteY12" fmla="*/ 4915935 h 5932662"/>
              <a:gd name="connsiteX13" fmla="*/ 8253590 w 11730308"/>
              <a:gd name="connsiteY13" fmla="*/ 5830335 h 5932662"/>
              <a:gd name="connsiteX14" fmla="*/ 1826413 w 11730308"/>
              <a:gd name="connsiteY14" fmla="*/ 5786374 h 5932662"/>
              <a:gd name="connsiteX15" fmla="*/ 23990 w 11730308"/>
              <a:gd name="connsiteY15" fmla="*/ 4722505 h 5932662"/>
              <a:gd name="connsiteX0" fmla="*/ 38682 w 11745000"/>
              <a:gd name="connsiteY0" fmla="*/ 4722505 h 5932662"/>
              <a:gd name="connsiteX1" fmla="*/ 768444 w 11745000"/>
              <a:gd name="connsiteY1" fmla="*/ 4335642 h 5932662"/>
              <a:gd name="connsiteX2" fmla="*/ 2641205 w 11745000"/>
              <a:gd name="connsiteY2" fmla="*/ 4907142 h 5932662"/>
              <a:gd name="connsiteX3" fmla="*/ 4197443 w 11745000"/>
              <a:gd name="connsiteY3" fmla="*/ 4898350 h 5932662"/>
              <a:gd name="connsiteX4" fmla="*/ 5867982 w 11745000"/>
              <a:gd name="connsiteY4" fmla="*/ 4863182 h 5932662"/>
              <a:gd name="connsiteX5" fmla="*/ 9789351 w 11745000"/>
              <a:gd name="connsiteY5" fmla="*/ 5003858 h 5932662"/>
              <a:gd name="connsiteX6" fmla="*/ 10844428 w 11745000"/>
              <a:gd name="connsiteY6" fmla="*/ 4678543 h 5932662"/>
              <a:gd name="connsiteX7" fmla="*/ 11143366 w 11745000"/>
              <a:gd name="connsiteY7" fmla="*/ 3588297 h 5932662"/>
              <a:gd name="connsiteX8" fmla="*/ 10800466 w 11745000"/>
              <a:gd name="connsiteY8" fmla="*/ 959397 h 5932662"/>
              <a:gd name="connsiteX9" fmla="*/ 9824520 w 11745000"/>
              <a:gd name="connsiteY9" fmla="*/ 405481 h 5932662"/>
              <a:gd name="connsiteX10" fmla="*/ 10607035 w 11745000"/>
              <a:gd name="connsiteY10" fmla="*/ 71373 h 5932662"/>
              <a:gd name="connsiteX11" fmla="*/ 11521436 w 11745000"/>
              <a:gd name="connsiteY11" fmla="*/ 1838627 h 5932662"/>
              <a:gd name="connsiteX12" fmla="*/ 11442305 w 11745000"/>
              <a:gd name="connsiteY12" fmla="*/ 4915935 h 5932662"/>
              <a:gd name="connsiteX13" fmla="*/ 8268282 w 11745000"/>
              <a:gd name="connsiteY13" fmla="*/ 5830335 h 5932662"/>
              <a:gd name="connsiteX14" fmla="*/ 1841105 w 11745000"/>
              <a:gd name="connsiteY14" fmla="*/ 5786374 h 5932662"/>
              <a:gd name="connsiteX15" fmla="*/ 38682 w 11745000"/>
              <a:gd name="connsiteY15" fmla="*/ 4722505 h 5932662"/>
              <a:gd name="connsiteX0" fmla="*/ 32011 w 11738329"/>
              <a:gd name="connsiteY0" fmla="*/ 4722505 h 5932662"/>
              <a:gd name="connsiteX1" fmla="*/ 761773 w 11738329"/>
              <a:gd name="connsiteY1" fmla="*/ 4335642 h 5932662"/>
              <a:gd name="connsiteX2" fmla="*/ 1792340 w 11738329"/>
              <a:gd name="connsiteY2" fmla="*/ 4502697 h 5932662"/>
              <a:gd name="connsiteX3" fmla="*/ 2634534 w 11738329"/>
              <a:gd name="connsiteY3" fmla="*/ 4907142 h 5932662"/>
              <a:gd name="connsiteX4" fmla="*/ 4190772 w 11738329"/>
              <a:gd name="connsiteY4" fmla="*/ 4898350 h 5932662"/>
              <a:gd name="connsiteX5" fmla="*/ 5861311 w 11738329"/>
              <a:gd name="connsiteY5" fmla="*/ 4863182 h 5932662"/>
              <a:gd name="connsiteX6" fmla="*/ 9782680 w 11738329"/>
              <a:gd name="connsiteY6" fmla="*/ 5003858 h 5932662"/>
              <a:gd name="connsiteX7" fmla="*/ 10837757 w 11738329"/>
              <a:gd name="connsiteY7" fmla="*/ 4678543 h 5932662"/>
              <a:gd name="connsiteX8" fmla="*/ 11136695 w 11738329"/>
              <a:gd name="connsiteY8" fmla="*/ 3588297 h 5932662"/>
              <a:gd name="connsiteX9" fmla="*/ 10793795 w 11738329"/>
              <a:gd name="connsiteY9" fmla="*/ 959397 h 5932662"/>
              <a:gd name="connsiteX10" fmla="*/ 9817849 w 11738329"/>
              <a:gd name="connsiteY10" fmla="*/ 405481 h 5932662"/>
              <a:gd name="connsiteX11" fmla="*/ 10600364 w 11738329"/>
              <a:gd name="connsiteY11" fmla="*/ 71373 h 5932662"/>
              <a:gd name="connsiteX12" fmla="*/ 11514765 w 11738329"/>
              <a:gd name="connsiteY12" fmla="*/ 1838627 h 5932662"/>
              <a:gd name="connsiteX13" fmla="*/ 11435634 w 11738329"/>
              <a:gd name="connsiteY13" fmla="*/ 4915935 h 5932662"/>
              <a:gd name="connsiteX14" fmla="*/ 8261611 w 11738329"/>
              <a:gd name="connsiteY14" fmla="*/ 5830335 h 5932662"/>
              <a:gd name="connsiteX15" fmla="*/ 1834434 w 11738329"/>
              <a:gd name="connsiteY15" fmla="*/ 5786374 h 5932662"/>
              <a:gd name="connsiteX16" fmla="*/ 32011 w 11738329"/>
              <a:gd name="connsiteY16" fmla="*/ 4722505 h 5932662"/>
              <a:gd name="connsiteX0" fmla="*/ 32306 w 11738624"/>
              <a:gd name="connsiteY0" fmla="*/ 4722505 h 5932662"/>
              <a:gd name="connsiteX1" fmla="*/ 762068 w 11738624"/>
              <a:gd name="connsiteY1" fmla="*/ 4335642 h 5932662"/>
              <a:gd name="connsiteX2" fmla="*/ 1836597 w 11738624"/>
              <a:gd name="connsiteY2" fmla="*/ 4555451 h 5932662"/>
              <a:gd name="connsiteX3" fmla="*/ 2634829 w 11738624"/>
              <a:gd name="connsiteY3" fmla="*/ 4907142 h 5932662"/>
              <a:gd name="connsiteX4" fmla="*/ 4191067 w 11738624"/>
              <a:gd name="connsiteY4" fmla="*/ 4898350 h 5932662"/>
              <a:gd name="connsiteX5" fmla="*/ 5861606 w 11738624"/>
              <a:gd name="connsiteY5" fmla="*/ 4863182 h 5932662"/>
              <a:gd name="connsiteX6" fmla="*/ 9782975 w 11738624"/>
              <a:gd name="connsiteY6" fmla="*/ 5003858 h 5932662"/>
              <a:gd name="connsiteX7" fmla="*/ 10838052 w 11738624"/>
              <a:gd name="connsiteY7" fmla="*/ 4678543 h 5932662"/>
              <a:gd name="connsiteX8" fmla="*/ 11136990 w 11738624"/>
              <a:gd name="connsiteY8" fmla="*/ 3588297 h 5932662"/>
              <a:gd name="connsiteX9" fmla="*/ 10794090 w 11738624"/>
              <a:gd name="connsiteY9" fmla="*/ 959397 h 5932662"/>
              <a:gd name="connsiteX10" fmla="*/ 9818144 w 11738624"/>
              <a:gd name="connsiteY10" fmla="*/ 405481 h 5932662"/>
              <a:gd name="connsiteX11" fmla="*/ 10600659 w 11738624"/>
              <a:gd name="connsiteY11" fmla="*/ 71373 h 5932662"/>
              <a:gd name="connsiteX12" fmla="*/ 11515060 w 11738624"/>
              <a:gd name="connsiteY12" fmla="*/ 1838627 h 5932662"/>
              <a:gd name="connsiteX13" fmla="*/ 11435929 w 11738624"/>
              <a:gd name="connsiteY13" fmla="*/ 4915935 h 5932662"/>
              <a:gd name="connsiteX14" fmla="*/ 8261906 w 11738624"/>
              <a:gd name="connsiteY14" fmla="*/ 5830335 h 5932662"/>
              <a:gd name="connsiteX15" fmla="*/ 1834729 w 11738624"/>
              <a:gd name="connsiteY15" fmla="*/ 5786374 h 5932662"/>
              <a:gd name="connsiteX16" fmla="*/ 32306 w 11738624"/>
              <a:gd name="connsiteY16" fmla="*/ 4722505 h 5932662"/>
              <a:gd name="connsiteX0" fmla="*/ 32306 w 11738624"/>
              <a:gd name="connsiteY0" fmla="*/ 4722505 h 5932662"/>
              <a:gd name="connsiteX1" fmla="*/ 762068 w 11738624"/>
              <a:gd name="connsiteY1" fmla="*/ 4335642 h 5932662"/>
              <a:gd name="connsiteX2" fmla="*/ 1836597 w 11738624"/>
              <a:gd name="connsiteY2" fmla="*/ 4555451 h 5932662"/>
              <a:gd name="connsiteX3" fmla="*/ 2634829 w 11738624"/>
              <a:gd name="connsiteY3" fmla="*/ 4907142 h 5932662"/>
              <a:gd name="connsiteX4" fmla="*/ 4191067 w 11738624"/>
              <a:gd name="connsiteY4" fmla="*/ 4898350 h 5932662"/>
              <a:gd name="connsiteX5" fmla="*/ 5861606 w 11738624"/>
              <a:gd name="connsiteY5" fmla="*/ 4863182 h 5932662"/>
              <a:gd name="connsiteX6" fmla="*/ 9782975 w 11738624"/>
              <a:gd name="connsiteY6" fmla="*/ 5003858 h 5932662"/>
              <a:gd name="connsiteX7" fmla="*/ 10838052 w 11738624"/>
              <a:gd name="connsiteY7" fmla="*/ 4678543 h 5932662"/>
              <a:gd name="connsiteX8" fmla="*/ 11136990 w 11738624"/>
              <a:gd name="connsiteY8" fmla="*/ 3588297 h 5932662"/>
              <a:gd name="connsiteX9" fmla="*/ 10794090 w 11738624"/>
              <a:gd name="connsiteY9" fmla="*/ 959397 h 5932662"/>
              <a:gd name="connsiteX10" fmla="*/ 9818144 w 11738624"/>
              <a:gd name="connsiteY10" fmla="*/ 405481 h 5932662"/>
              <a:gd name="connsiteX11" fmla="*/ 10600659 w 11738624"/>
              <a:gd name="connsiteY11" fmla="*/ 71373 h 5932662"/>
              <a:gd name="connsiteX12" fmla="*/ 11515060 w 11738624"/>
              <a:gd name="connsiteY12" fmla="*/ 1838627 h 5932662"/>
              <a:gd name="connsiteX13" fmla="*/ 11435929 w 11738624"/>
              <a:gd name="connsiteY13" fmla="*/ 4915935 h 5932662"/>
              <a:gd name="connsiteX14" fmla="*/ 8261906 w 11738624"/>
              <a:gd name="connsiteY14" fmla="*/ 5830335 h 5932662"/>
              <a:gd name="connsiteX15" fmla="*/ 1834729 w 11738624"/>
              <a:gd name="connsiteY15" fmla="*/ 5786374 h 5932662"/>
              <a:gd name="connsiteX16" fmla="*/ 32306 w 11738624"/>
              <a:gd name="connsiteY16" fmla="*/ 4722505 h 5932662"/>
              <a:gd name="connsiteX0" fmla="*/ 31953 w 11738271"/>
              <a:gd name="connsiteY0" fmla="*/ 4722505 h 5932662"/>
              <a:gd name="connsiteX1" fmla="*/ 761715 w 11738271"/>
              <a:gd name="connsiteY1" fmla="*/ 4335642 h 5932662"/>
              <a:gd name="connsiteX2" fmla="*/ 1783490 w 11738271"/>
              <a:gd name="connsiteY2" fmla="*/ 4485112 h 5932662"/>
              <a:gd name="connsiteX3" fmla="*/ 2634476 w 11738271"/>
              <a:gd name="connsiteY3" fmla="*/ 4907142 h 5932662"/>
              <a:gd name="connsiteX4" fmla="*/ 4190714 w 11738271"/>
              <a:gd name="connsiteY4" fmla="*/ 4898350 h 5932662"/>
              <a:gd name="connsiteX5" fmla="*/ 5861253 w 11738271"/>
              <a:gd name="connsiteY5" fmla="*/ 4863182 h 5932662"/>
              <a:gd name="connsiteX6" fmla="*/ 9782622 w 11738271"/>
              <a:gd name="connsiteY6" fmla="*/ 5003858 h 5932662"/>
              <a:gd name="connsiteX7" fmla="*/ 10837699 w 11738271"/>
              <a:gd name="connsiteY7" fmla="*/ 4678543 h 5932662"/>
              <a:gd name="connsiteX8" fmla="*/ 11136637 w 11738271"/>
              <a:gd name="connsiteY8" fmla="*/ 3588297 h 5932662"/>
              <a:gd name="connsiteX9" fmla="*/ 10793737 w 11738271"/>
              <a:gd name="connsiteY9" fmla="*/ 959397 h 5932662"/>
              <a:gd name="connsiteX10" fmla="*/ 9817791 w 11738271"/>
              <a:gd name="connsiteY10" fmla="*/ 405481 h 5932662"/>
              <a:gd name="connsiteX11" fmla="*/ 10600306 w 11738271"/>
              <a:gd name="connsiteY11" fmla="*/ 71373 h 5932662"/>
              <a:gd name="connsiteX12" fmla="*/ 11514707 w 11738271"/>
              <a:gd name="connsiteY12" fmla="*/ 1838627 h 5932662"/>
              <a:gd name="connsiteX13" fmla="*/ 11435576 w 11738271"/>
              <a:gd name="connsiteY13" fmla="*/ 4915935 h 5932662"/>
              <a:gd name="connsiteX14" fmla="*/ 8261553 w 11738271"/>
              <a:gd name="connsiteY14" fmla="*/ 5830335 h 5932662"/>
              <a:gd name="connsiteX15" fmla="*/ 1834376 w 11738271"/>
              <a:gd name="connsiteY15" fmla="*/ 5786374 h 5932662"/>
              <a:gd name="connsiteX16" fmla="*/ 31953 w 11738271"/>
              <a:gd name="connsiteY16" fmla="*/ 4722505 h 5932662"/>
              <a:gd name="connsiteX0" fmla="*/ 31953 w 11738271"/>
              <a:gd name="connsiteY0" fmla="*/ 4722505 h 5932662"/>
              <a:gd name="connsiteX1" fmla="*/ 761715 w 11738271"/>
              <a:gd name="connsiteY1" fmla="*/ 4335642 h 5932662"/>
              <a:gd name="connsiteX2" fmla="*/ 1783490 w 11738271"/>
              <a:gd name="connsiteY2" fmla="*/ 4485112 h 5932662"/>
              <a:gd name="connsiteX3" fmla="*/ 2634476 w 11738271"/>
              <a:gd name="connsiteY3" fmla="*/ 4907142 h 5932662"/>
              <a:gd name="connsiteX4" fmla="*/ 4190714 w 11738271"/>
              <a:gd name="connsiteY4" fmla="*/ 4898350 h 5932662"/>
              <a:gd name="connsiteX5" fmla="*/ 5861253 w 11738271"/>
              <a:gd name="connsiteY5" fmla="*/ 4863182 h 5932662"/>
              <a:gd name="connsiteX6" fmla="*/ 9782622 w 11738271"/>
              <a:gd name="connsiteY6" fmla="*/ 5003858 h 5932662"/>
              <a:gd name="connsiteX7" fmla="*/ 10837699 w 11738271"/>
              <a:gd name="connsiteY7" fmla="*/ 4678543 h 5932662"/>
              <a:gd name="connsiteX8" fmla="*/ 11136637 w 11738271"/>
              <a:gd name="connsiteY8" fmla="*/ 3588297 h 5932662"/>
              <a:gd name="connsiteX9" fmla="*/ 10793737 w 11738271"/>
              <a:gd name="connsiteY9" fmla="*/ 959397 h 5932662"/>
              <a:gd name="connsiteX10" fmla="*/ 9817791 w 11738271"/>
              <a:gd name="connsiteY10" fmla="*/ 405481 h 5932662"/>
              <a:gd name="connsiteX11" fmla="*/ 10600306 w 11738271"/>
              <a:gd name="connsiteY11" fmla="*/ 71373 h 5932662"/>
              <a:gd name="connsiteX12" fmla="*/ 11514707 w 11738271"/>
              <a:gd name="connsiteY12" fmla="*/ 1838627 h 5932662"/>
              <a:gd name="connsiteX13" fmla="*/ 11435576 w 11738271"/>
              <a:gd name="connsiteY13" fmla="*/ 4915935 h 5932662"/>
              <a:gd name="connsiteX14" fmla="*/ 8261553 w 11738271"/>
              <a:gd name="connsiteY14" fmla="*/ 5830335 h 5932662"/>
              <a:gd name="connsiteX15" fmla="*/ 1834376 w 11738271"/>
              <a:gd name="connsiteY15" fmla="*/ 5786374 h 5932662"/>
              <a:gd name="connsiteX16" fmla="*/ 31953 w 11738271"/>
              <a:gd name="connsiteY16" fmla="*/ 4722505 h 5932662"/>
              <a:gd name="connsiteX0" fmla="*/ 31953 w 11738271"/>
              <a:gd name="connsiteY0" fmla="*/ 4722505 h 5932662"/>
              <a:gd name="connsiteX1" fmla="*/ 761715 w 11738271"/>
              <a:gd name="connsiteY1" fmla="*/ 4335642 h 5932662"/>
              <a:gd name="connsiteX2" fmla="*/ 1783490 w 11738271"/>
              <a:gd name="connsiteY2" fmla="*/ 4485112 h 5932662"/>
              <a:gd name="connsiteX3" fmla="*/ 2863076 w 11738271"/>
              <a:gd name="connsiteY3" fmla="*/ 4907142 h 5932662"/>
              <a:gd name="connsiteX4" fmla="*/ 4190714 w 11738271"/>
              <a:gd name="connsiteY4" fmla="*/ 4898350 h 5932662"/>
              <a:gd name="connsiteX5" fmla="*/ 5861253 w 11738271"/>
              <a:gd name="connsiteY5" fmla="*/ 4863182 h 5932662"/>
              <a:gd name="connsiteX6" fmla="*/ 9782622 w 11738271"/>
              <a:gd name="connsiteY6" fmla="*/ 5003858 h 5932662"/>
              <a:gd name="connsiteX7" fmla="*/ 10837699 w 11738271"/>
              <a:gd name="connsiteY7" fmla="*/ 4678543 h 5932662"/>
              <a:gd name="connsiteX8" fmla="*/ 11136637 w 11738271"/>
              <a:gd name="connsiteY8" fmla="*/ 3588297 h 5932662"/>
              <a:gd name="connsiteX9" fmla="*/ 10793737 w 11738271"/>
              <a:gd name="connsiteY9" fmla="*/ 959397 h 5932662"/>
              <a:gd name="connsiteX10" fmla="*/ 9817791 w 11738271"/>
              <a:gd name="connsiteY10" fmla="*/ 405481 h 5932662"/>
              <a:gd name="connsiteX11" fmla="*/ 10600306 w 11738271"/>
              <a:gd name="connsiteY11" fmla="*/ 71373 h 5932662"/>
              <a:gd name="connsiteX12" fmla="*/ 11514707 w 11738271"/>
              <a:gd name="connsiteY12" fmla="*/ 1838627 h 5932662"/>
              <a:gd name="connsiteX13" fmla="*/ 11435576 w 11738271"/>
              <a:gd name="connsiteY13" fmla="*/ 4915935 h 5932662"/>
              <a:gd name="connsiteX14" fmla="*/ 8261553 w 11738271"/>
              <a:gd name="connsiteY14" fmla="*/ 5830335 h 5932662"/>
              <a:gd name="connsiteX15" fmla="*/ 1834376 w 11738271"/>
              <a:gd name="connsiteY15" fmla="*/ 5786374 h 5932662"/>
              <a:gd name="connsiteX16" fmla="*/ 31953 w 11738271"/>
              <a:gd name="connsiteY16" fmla="*/ 4722505 h 5932662"/>
              <a:gd name="connsiteX0" fmla="*/ 31895 w 11738213"/>
              <a:gd name="connsiteY0" fmla="*/ 4722505 h 5932662"/>
              <a:gd name="connsiteX1" fmla="*/ 761657 w 11738213"/>
              <a:gd name="connsiteY1" fmla="*/ 4335642 h 5932662"/>
              <a:gd name="connsiteX2" fmla="*/ 1774640 w 11738213"/>
              <a:gd name="connsiteY2" fmla="*/ 4476319 h 5932662"/>
              <a:gd name="connsiteX3" fmla="*/ 2863018 w 11738213"/>
              <a:gd name="connsiteY3" fmla="*/ 4907142 h 5932662"/>
              <a:gd name="connsiteX4" fmla="*/ 4190656 w 11738213"/>
              <a:gd name="connsiteY4" fmla="*/ 4898350 h 5932662"/>
              <a:gd name="connsiteX5" fmla="*/ 5861195 w 11738213"/>
              <a:gd name="connsiteY5" fmla="*/ 4863182 h 5932662"/>
              <a:gd name="connsiteX6" fmla="*/ 9782564 w 11738213"/>
              <a:gd name="connsiteY6" fmla="*/ 5003858 h 5932662"/>
              <a:gd name="connsiteX7" fmla="*/ 10837641 w 11738213"/>
              <a:gd name="connsiteY7" fmla="*/ 4678543 h 5932662"/>
              <a:gd name="connsiteX8" fmla="*/ 11136579 w 11738213"/>
              <a:gd name="connsiteY8" fmla="*/ 3588297 h 5932662"/>
              <a:gd name="connsiteX9" fmla="*/ 10793679 w 11738213"/>
              <a:gd name="connsiteY9" fmla="*/ 959397 h 5932662"/>
              <a:gd name="connsiteX10" fmla="*/ 9817733 w 11738213"/>
              <a:gd name="connsiteY10" fmla="*/ 405481 h 5932662"/>
              <a:gd name="connsiteX11" fmla="*/ 10600248 w 11738213"/>
              <a:gd name="connsiteY11" fmla="*/ 71373 h 5932662"/>
              <a:gd name="connsiteX12" fmla="*/ 11514649 w 11738213"/>
              <a:gd name="connsiteY12" fmla="*/ 1838627 h 5932662"/>
              <a:gd name="connsiteX13" fmla="*/ 11435518 w 11738213"/>
              <a:gd name="connsiteY13" fmla="*/ 4915935 h 5932662"/>
              <a:gd name="connsiteX14" fmla="*/ 8261495 w 11738213"/>
              <a:gd name="connsiteY14" fmla="*/ 5830335 h 5932662"/>
              <a:gd name="connsiteX15" fmla="*/ 1834318 w 11738213"/>
              <a:gd name="connsiteY15" fmla="*/ 5786374 h 5932662"/>
              <a:gd name="connsiteX16" fmla="*/ 31895 w 11738213"/>
              <a:gd name="connsiteY16" fmla="*/ 4722505 h 5932662"/>
              <a:gd name="connsiteX0" fmla="*/ 31895 w 11738213"/>
              <a:gd name="connsiteY0" fmla="*/ 4722505 h 5932662"/>
              <a:gd name="connsiteX1" fmla="*/ 761657 w 11738213"/>
              <a:gd name="connsiteY1" fmla="*/ 4335642 h 5932662"/>
              <a:gd name="connsiteX2" fmla="*/ 1774640 w 11738213"/>
              <a:gd name="connsiteY2" fmla="*/ 4476319 h 5932662"/>
              <a:gd name="connsiteX3" fmla="*/ 2863018 w 11738213"/>
              <a:gd name="connsiteY3" fmla="*/ 4907142 h 5932662"/>
              <a:gd name="connsiteX4" fmla="*/ 4190656 w 11738213"/>
              <a:gd name="connsiteY4" fmla="*/ 4898350 h 5932662"/>
              <a:gd name="connsiteX5" fmla="*/ 5861195 w 11738213"/>
              <a:gd name="connsiteY5" fmla="*/ 4863182 h 5932662"/>
              <a:gd name="connsiteX6" fmla="*/ 9782564 w 11738213"/>
              <a:gd name="connsiteY6" fmla="*/ 5003858 h 5932662"/>
              <a:gd name="connsiteX7" fmla="*/ 10837641 w 11738213"/>
              <a:gd name="connsiteY7" fmla="*/ 4678543 h 5932662"/>
              <a:gd name="connsiteX8" fmla="*/ 11136579 w 11738213"/>
              <a:gd name="connsiteY8" fmla="*/ 3588297 h 5932662"/>
              <a:gd name="connsiteX9" fmla="*/ 10793679 w 11738213"/>
              <a:gd name="connsiteY9" fmla="*/ 959397 h 5932662"/>
              <a:gd name="connsiteX10" fmla="*/ 9817733 w 11738213"/>
              <a:gd name="connsiteY10" fmla="*/ 405481 h 5932662"/>
              <a:gd name="connsiteX11" fmla="*/ 10600248 w 11738213"/>
              <a:gd name="connsiteY11" fmla="*/ 71373 h 5932662"/>
              <a:gd name="connsiteX12" fmla="*/ 11514649 w 11738213"/>
              <a:gd name="connsiteY12" fmla="*/ 1838627 h 5932662"/>
              <a:gd name="connsiteX13" fmla="*/ 11435518 w 11738213"/>
              <a:gd name="connsiteY13" fmla="*/ 4915935 h 5932662"/>
              <a:gd name="connsiteX14" fmla="*/ 8261495 w 11738213"/>
              <a:gd name="connsiteY14" fmla="*/ 5830335 h 5932662"/>
              <a:gd name="connsiteX15" fmla="*/ 1834318 w 11738213"/>
              <a:gd name="connsiteY15" fmla="*/ 5786374 h 5932662"/>
              <a:gd name="connsiteX16" fmla="*/ 31895 w 11738213"/>
              <a:gd name="connsiteY16" fmla="*/ 4722505 h 5932662"/>
              <a:gd name="connsiteX0" fmla="*/ 31895 w 11738213"/>
              <a:gd name="connsiteY0" fmla="*/ 4722505 h 5932662"/>
              <a:gd name="connsiteX1" fmla="*/ 761657 w 11738213"/>
              <a:gd name="connsiteY1" fmla="*/ 4335642 h 5932662"/>
              <a:gd name="connsiteX2" fmla="*/ 1774640 w 11738213"/>
              <a:gd name="connsiteY2" fmla="*/ 4476319 h 5932662"/>
              <a:gd name="connsiteX3" fmla="*/ 2863018 w 11738213"/>
              <a:gd name="connsiteY3" fmla="*/ 4907142 h 5932662"/>
              <a:gd name="connsiteX4" fmla="*/ 4190656 w 11738213"/>
              <a:gd name="connsiteY4" fmla="*/ 4898350 h 5932662"/>
              <a:gd name="connsiteX5" fmla="*/ 5861195 w 11738213"/>
              <a:gd name="connsiteY5" fmla="*/ 4863182 h 5932662"/>
              <a:gd name="connsiteX6" fmla="*/ 9782564 w 11738213"/>
              <a:gd name="connsiteY6" fmla="*/ 5003858 h 5932662"/>
              <a:gd name="connsiteX7" fmla="*/ 10837641 w 11738213"/>
              <a:gd name="connsiteY7" fmla="*/ 4678543 h 5932662"/>
              <a:gd name="connsiteX8" fmla="*/ 11136579 w 11738213"/>
              <a:gd name="connsiteY8" fmla="*/ 3588297 h 5932662"/>
              <a:gd name="connsiteX9" fmla="*/ 10793679 w 11738213"/>
              <a:gd name="connsiteY9" fmla="*/ 959397 h 5932662"/>
              <a:gd name="connsiteX10" fmla="*/ 9817733 w 11738213"/>
              <a:gd name="connsiteY10" fmla="*/ 405481 h 5932662"/>
              <a:gd name="connsiteX11" fmla="*/ 10600248 w 11738213"/>
              <a:gd name="connsiteY11" fmla="*/ 71373 h 5932662"/>
              <a:gd name="connsiteX12" fmla="*/ 11514649 w 11738213"/>
              <a:gd name="connsiteY12" fmla="*/ 1838627 h 5932662"/>
              <a:gd name="connsiteX13" fmla="*/ 11435518 w 11738213"/>
              <a:gd name="connsiteY13" fmla="*/ 4915935 h 5932662"/>
              <a:gd name="connsiteX14" fmla="*/ 8261495 w 11738213"/>
              <a:gd name="connsiteY14" fmla="*/ 5830335 h 5932662"/>
              <a:gd name="connsiteX15" fmla="*/ 1834318 w 11738213"/>
              <a:gd name="connsiteY15" fmla="*/ 5786374 h 5932662"/>
              <a:gd name="connsiteX16" fmla="*/ 31895 w 11738213"/>
              <a:gd name="connsiteY16" fmla="*/ 4722505 h 5932662"/>
              <a:gd name="connsiteX0" fmla="*/ 31895 w 11738213"/>
              <a:gd name="connsiteY0" fmla="*/ 4722505 h 5932662"/>
              <a:gd name="connsiteX1" fmla="*/ 761657 w 11738213"/>
              <a:gd name="connsiteY1" fmla="*/ 4335642 h 5932662"/>
              <a:gd name="connsiteX2" fmla="*/ 1774640 w 11738213"/>
              <a:gd name="connsiteY2" fmla="*/ 4476319 h 5932662"/>
              <a:gd name="connsiteX3" fmla="*/ 2863018 w 11738213"/>
              <a:gd name="connsiteY3" fmla="*/ 4907142 h 5932662"/>
              <a:gd name="connsiteX4" fmla="*/ 4190656 w 11738213"/>
              <a:gd name="connsiteY4" fmla="*/ 4898350 h 5932662"/>
              <a:gd name="connsiteX5" fmla="*/ 5861195 w 11738213"/>
              <a:gd name="connsiteY5" fmla="*/ 4863182 h 5932662"/>
              <a:gd name="connsiteX6" fmla="*/ 9782564 w 11738213"/>
              <a:gd name="connsiteY6" fmla="*/ 5003858 h 5932662"/>
              <a:gd name="connsiteX7" fmla="*/ 10837641 w 11738213"/>
              <a:gd name="connsiteY7" fmla="*/ 4678543 h 5932662"/>
              <a:gd name="connsiteX8" fmla="*/ 11136579 w 11738213"/>
              <a:gd name="connsiteY8" fmla="*/ 3588297 h 5932662"/>
              <a:gd name="connsiteX9" fmla="*/ 10793679 w 11738213"/>
              <a:gd name="connsiteY9" fmla="*/ 959397 h 5932662"/>
              <a:gd name="connsiteX10" fmla="*/ 9817733 w 11738213"/>
              <a:gd name="connsiteY10" fmla="*/ 405481 h 5932662"/>
              <a:gd name="connsiteX11" fmla="*/ 10600248 w 11738213"/>
              <a:gd name="connsiteY11" fmla="*/ 71373 h 5932662"/>
              <a:gd name="connsiteX12" fmla="*/ 11514649 w 11738213"/>
              <a:gd name="connsiteY12" fmla="*/ 1838627 h 5932662"/>
              <a:gd name="connsiteX13" fmla="*/ 11435518 w 11738213"/>
              <a:gd name="connsiteY13" fmla="*/ 4915935 h 5932662"/>
              <a:gd name="connsiteX14" fmla="*/ 8261495 w 11738213"/>
              <a:gd name="connsiteY14" fmla="*/ 5830335 h 5932662"/>
              <a:gd name="connsiteX15" fmla="*/ 1834318 w 11738213"/>
              <a:gd name="connsiteY15" fmla="*/ 5786374 h 5932662"/>
              <a:gd name="connsiteX16" fmla="*/ 31895 w 11738213"/>
              <a:gd name="connsiteY16" fmla="*/ 4722505 h 5932662"/>
              <a:gd name="connsiteX0" fmla="*/ 31895 w 11738213"/>
              <a:gd name="connsiteY0" fmla="*/ 4722505 h 5932662"/>
              <a:gd name="connsiteX1" fmla="*/ 761657 w 11738213"/>
              <a:gd name="connsiteY1" fmla="*/ 4335642 h 5932662"/>
              <a:gd name="connsiteX2" fmla="*/ 1774640 w 11738213"/>
              <a:gd name="connsiteY2" fmla="*/ 4476319 h 5932662"/>
              <a:gd name="connsiteX3" fmla="*/ 2863018 w 11738213"/>
              <a:gd name="connsiteY3" fmla="*/ 4907142 h 5932662"/>
              <a:gd name="connsiteX4" fmla="*/ 4190656 w 11738213"/>
              <a:gd name="connsiteY4" fmla="*/ 4898350 h 5932662"/>
              <a:gd name="connsiteX5" fmla="*/ 5861195 w 11738213"/>
              <a:gd name="connsiteY5" fmla="*/ 4863182 h 5932662"/>
              <a:gd name="connsiteX6" fmla="*/ 9782564 w 11738213"/>
              <a:gd name="connsiteY6" fmla="*/ 5003858 h 5932662"/>
              <a:gd name="connsiteX7" fmla="*/ 10837641 w 11738213"/>
              <a:gd name="connsiteY7" fmla="*/ 4678543 h 5932662"/>
              <a:gd name="connsiteX8" fmla="*/ 11136579 w 11738213"/>
              <a:gd name="connsiteY8" fmla="*/ 3588297 h 5932662"/>
              <a:gd name="connsiteX9" fmla="*/ 10793679 w 11738213"/>
              <a:gd name="connsiteY9" fmla="*/ 959397 h 5932662"/>
              <a:gd name="connsiteX10" fmla="*/ 9817733 w 11738213"/>
              <a:gd name="connsiteY10" fmla="*/ 405481 h 5932662"/>
              <a:gd name="connsiteX11" fmla="*/ 10600248 w 11738213"/>
              <a:gd name="connsiteY11" fmla="*/ 71373 h 5932662"/>
              <a:gd name="connsiteX12" fmla="*/ 11514649 w 11738213"/>
              <a:gd name="connsiteY12" fmla="*/ 1838627 h 5932662"/>
              <a:gd name="connsiteX13" fmla="*/ 11435518 w 11738213"/>
              <a:gd name="connsiteY13" fmla="*/ 4915935 h 5932662"/>
              <a:gd name="connsiteX14" fmla="*/ 8261495 w 11738213"/>
              <a:gd name="connsiteY14" fmla="*/ 5830335 h 5932662"/>
              <a:gd name="connsiteX15" fmla="*/ 1834318 w 11738213"/>
              <a:gd name="connsiteY15" fmla="*/ 5786374 h 5932662"/>
              <a:gd name="connsiteX16" fmla="*/ 31895 w 11738213"/>
              <a:gd name="connsiteY16" fmla="*/ 4722505 h 5932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1738213" h="5932662">
                <a:moveTo>
                  <a:pt x="31895" y="4722505"/>
                </a:moveTo>
                <a:cubicBezTo>
                  <a:pt x="-146882" y="4480716"/>
                  <a:pt x="471199" y="4376673"/>
                  <a:pt x="761657" y="4335642"/>
                </a:cubicBezTo>
                <a:cubicBezTo>
                  <a:pt x="1052115" y="4294611"/>
                  <a:pt x="1699906" y="4337109"/>
                  <a:pt x="1774640" y="4476319"/>
                </a:cubicBezTo>
                <a:cubicBezTo>
                  <a:pt x="2042805" y="4641908"/>
                  <a:pt x="2460349" y="4836804"/>
                  <a:pt x="2863018" y="4907142"/>
                </a:cubicBezTo>
                <a:cubicBezTo>
                  <a:pt x="3265687" y="4977480"/>
                  <a:pt x="3690960" y="4905677"/>
                  <a:pt x="4190656" y="4898350"/>
                </a:cubicBezTo>
                <a:cubicBezTo>
                  <a:pt x="4690352" y="4891023"/>
                  <a:pt x="4929210" y="4845597"/>
                  <a:pt x="5861195" y="4863182"/>
                </a:cubicBezTo>
                <a:cubicBezTo>
                  <a:pt x="6793180" y="4880767"/>
                  <a:pt x="8953156" y="5034631"/>
                  <a:pt x="9782564" y="5003858"/>
                </a:cubicBezTo>
                <a:cubicBezTo>
                  <a:pt x="10611972" y="4973085"/>
                  <a:pt x="10611972" y="4914470"/>
                  <a:pt x="10837641" y="4678543"/>
                </a:cubicBezTo>
                <a:cubicBezTo>
                  <a:pt x="11063310" y="4442616"/>
                  <a:pt x="11143906" y="4208155"/>
                  <a:pt x="11136579" y="3588297"/>
                </a:cubicBezTo>
                <a:cubicBezTo>
                  <a:pt x="11129252" y="2968439"/>
                  <a:pt x="11013487" y="1489866"/>
                  <a:pt x="10793679" y="959397"/>
                </a:cubicBezTo>
                <a:cubicBezTo>
                  <a:pt x="10573871" y="428928"/>
                  <a:pt x="9849972" y="553485"/>
                  <a:pt x="9817733" y="405481"/>
                </a:cubicBezTo>
                <a:cubicBezTo>
                  <a:pt x="9785495" y="257477"/>
                  <a:pt x="10317429" y="-167485"/>
                  <a:pt x="10600248" y="71373"/>
                </a:cubicBezTo>
                <a:cubicBezTo>
                  <a:pt x="10883067" y="310231"/>
                  <a:pt x="11375437" y="1031200"/>
                  <a:pt x="11514649" y="1838627"/>
                </a:cubicBezTo>
                <a:cubicBezTo>
                  <a:pt x="11653861" y="2646054"/>
                  <a:pt x="11977710" y="4250650"/>
                  <a:pt x="11435518" y="4915935"/>
                </a:cubicBezTo>
                <a:cubicBezTo>
                  <a:pt x="10893326" y="5581220"/>
                  <a:pt x="9861695" y="5685262"/>
                  <a:pt x="8261495" y="5830335"/>
                </a:cubicBezTo>
                <a:cubicBezTo>
                  <a:pt x="6661295" y="5975408"/>
                  <a:pt x="3205918" y="5971012"/>
                  <a:pt x="1834318" y="5786374"/>
                </a:cubicBezTo>
                <a:cubicBezTo>
                  <a:pt x="462718" y="5601736"/>
                  <a:pt x="210672" y="4964294"/>
                  <a:pt x="31895" y="472250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6BECD824-1D9D-483B-A764-0DE0C53B7D79}"/>
              </a:ext>
            </a:extLst>
          </p:cNvPr>
          <p:cNvSpPr txBox="1"/>
          <p:nvPr/>
        </p:nvSpPr>
        <p:spPr>
          <a:xfrm>
            <a:off x="501162" y="378662"/>
            <a:ext cx="50980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i="1" dirty="0">
                <a:solidFill>
                  <a:srgbClr val="6C747F"/>
                </a:solidFill>
              </a:rPr>
              <a:t>But </a:t>
            </a:r>
            <a:r>
              <a:rPr lang="fr-FR" sz="2400" b="1" i="1" dirty="0" err="1">
                <a:solidFill>
                  <a:srgbClr val="6C747F"/>
                </a:solidFill>
              </a:rPr>
              <a:t>also</a:t>
            </a:r>
            <a:r>
              <a:rPr lang="fr-FR" sz="2400" b="1" i="1" dirty="0">
                <a:solidFill>
                  <a:srgbClr val="6C747F"/>
                </a:solidFill>
              </a:rPr>
              <a:t> a </a:t>
            </a:r>
            <a:r>
              <a:rPr lang="fr-FR" sz="2400" b="1" i="1" dirty="0" err="1">
                <a:solidFill>
                  <a:srgbClr val="6C747F"/>
                </a:solidFill>
              </a:rPr>
              <a:t>creative</a:t>
            </a:r>
            <a:r>
              <a:rPr lang="fr-FR" sz="2400" b="1" i="1" dirty="0">
                <a:solidFill>
                  <a:srgbClr val="6C747F"/>
                </a:solidFill>
              </a:rPr>
              <a:t> </a:t>
            </a:r>
            <a:r>
              <a:rPr lang="fr-FR" sz="2400" b="1" i="1" dirty="0" err="1">
                <a:solidFill>
                  <a:srgbClr val="6C747F"/>
                </a:solidFill>
              </a:rPr>
              <a:t>person</a:t>
            </a:r>
            <a:r>
              <a:rPr lang="fr-FR" sz="2400" b="1" i="1" dirty="0">
                <a:solidFill>
                  <a:srgbClr val="6C747F"/>
                </a:solidFill>
              </a:rPr>
              <a:t>…</a:t>
            </a:r>
          </a:p>
        </p:txBody>
      </p:sp>
      <p:sp>
        <p:nvSpPr>
          <p:cNvPr id="33" name="Espace réservé du numéro de diapositive 32">
            <a:extLst>
              <a:ext uri="{FF2B5EF4-FFF2-40B4-BE49-F238E27FC236}">
                <a16:creationId xmlns:a16="http://schemas.microsoft.com/office/drawing/2014/main" id="{1A919475-FFB9-4AEE-98AF-40F5FC948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3E120-D10E-4965-94AF-FE28403C3DAC}" type="slidenum">
              <a:rPr lang="fr-FR" b="1" smtClean="0">
                <a:solidFill>
                  <a:schemeClr val="accent1"/>
                </a:solidFill>
              </a:rPr>
              <a:t>9</a:t>
            </a:fld>
            <a:endParaRPr lang="fr-FR" b="1" dirty="0">
              <a:solidFill>
                <a:schemeClr val="accent1"/>
              </a:solidFill>
            </a:endParaRPr>
          </a:p>
        </p:txBody>
      </p:sp>
      <p:grpSp>
        <p:nvGrpSpPr>
          <p:cNvPr id="49" name="Groupe 48">
            <a:extLst>
              <a:ext uri="{FF2B5EF4-FFF2-40B4-BE49-F238E27FC236}">
                <a16:creationId xmlns:a16="http://schemas.microsoft.com/office/drawing/2014/main" id="{C7BD1B71-2191-43BB-95D9-DF6961BCC99A}"/>
              </a:ext>
            </a:extLst>
          </p:cNvPr>
          <p:cNvGrpSpPr/>
          <p:nvPr/>
        </p:nvGrpSpPr>
        <p:grpSpPr>
          <a:xfrm>
            <a:off x="-677008" y="988705"/>
            <a:ext cx="5058508" cy="2074657"/>
            <a:chOff x="-677008" y="988705"/>
            <a:chExt cx="5058508" cy="2074657"/>
          </a:xfrm>
        </p:grpSpPr>
        <p:cxnSp>
          <p:nvCxnSpPr>
            <p:cNvPr id="50" name="Connecteur droit 49">
              <a:extLst>
                <a:ext uri="{FF2B5EF4-FFF2-40B4-BE49-F238E27FC236}">
                  <a16:creationId xmlns:a16="http://schemas.microsoft.com/office/drawing/2014/main" id="{E17660AD-4E3A-4A17-9996-A5C3A1655843}"/>
                </a:ext>
              </a:extLst>
            </p:cNvPr>
            <p:cNvCxnSpPr>
              <a:cxnSpLocks/>
            </p:cNvCxnSpPr>
            <p:nvPr/>
          </p:nvCxnSpPr>
          <p:spPr>
            <a:xfrm>
              <a:off x="-677008" y="1009219"/>
              <a:ext cx="5058508" cy="0"/>
            </a:xfrm>
            <a:prstGeom prst="line">
              <a:avLst/>
            </a:prstGeom>
            <a:ln w="38100">
              <a:solidFill>
                <a:schemeClr val="accent1">
                  <a:lumMod val="50000"/>
                </a:schemeClr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Forme libre : forme 50">
              <a:extLst>
                <a:ext uri="{FF2B5EF4-FFF2-40B4-BE49-F238E27FC236}">
                  <a16:creationId xmlns:a16="http://schemas.microsoft.com/office/drawing/2014/main" id="{9151F0D7-61DE-4018-A19A-E170B62E2CA6}"/>
                </a:ext>
              </a:extLst>
            </p:cNvPr>
            <p:cNvSpPr/>
            <p:nvPr/>
          </p:nvSpPr>
          <p:spPr>
            <a:xfrm>
              <a:off x="-155329" y="1014023"/>
              <a:ext cx="3501536" cy="2049339"/>
            </a:xfrm>
            <a:custGeom>
              <a:avLst/>
              <a:gdLst>
                <a:gd name="connsiteX0" fmla="*/ 19071 w 3043625"/>
                <a:gd name="connsiteY0" fmla="*/ 1972264 h 1972264"/>
                <a:gd name="connsiteX1" fmla="*/ 449894 w 3043625"/>
                <a:gd name="connsiteY1" fmla="*/ 292934 h 1972264"/>
                <a:gd name="connsiteX2" fmla="*/ 3043625 w 3043625"/>
                <a:gd name="connsiteY2" fmla="*/ 11580 h 1972264"/>
                <a:gd name="connsiteX0" fmla="*/ 5294 w 3214486"/>
                <a:gd name="connsiteY0" fmla="*/ 2033810 h 2033810"/>
                <a:gd name="connsiteX1" fmla="*/ 620755 w 3214486"/>
                <a:gd name="connsiteY1" fmla="*/ 292934 h 2033810"/>
                <a:gd name="connsiteX2" fmla="*/ 3214486 w 3214486"/>
                <a:gd name="connsiteY2" fmla="*/ 11580 h 2033810"/>
                <a:gd name="connsiteX0" fmla="*/ 0 w 3209192"/>
                <a:gd name="connsiteY0" fmla="*/ 2033810 h 2033810"/>
                <a:gd name="connsiteX1" fmla="*/ 615461 w 3209192"/>
                <a:gd name="connsiteY1" fmla="*/ 292934 h 2033810"/>
                <a:gd name="connsiteX2" fmla="*/ 3209192 w 3209192"/>
                <a:gd name="connsiteY2" fmla="*/ 11580 h 2033810"/>
                <a:gd name="connsiteX0" fmla="*/ 0 w 3209192"/>
                <a:gd name="connsiteY0" fmla="*/ 2037048 h 2037048"/>
                <a:gd name="connsiteX1" fmla="*/ 624253 w 3209192"/>
                <a:gd name="connsiteY1" fmla="*/ 278588 h 2037048"/>
                <a:gd name="connsiteX2" fmla="*/ 3209192 w 3209192"/>
                <a:gd name="connsiteY2" fmla="*/ 14818 h 2037048"/>
                <a:gd name="connsiteX0" fmla="*/ 0 w 3472961"/>
                <a:gd name="connsiteY0" fmla="*/ 2051394 h 2051394"/>
                <a:gd name="connsiteX1" fmla="*/ 624253 w 3472961"/>
                <a:gd name="connsiteY1" fmla="*/ 292934 h 2051394"/>
                <a:gd name="connsiteX2" fmla="*/ 3472961 w 3472961"/>
                <a:gd name="connsiteY2" fmla="*/ 11580 h 2051394"/>
                <a:gd name="connsiteX0" fmla="*/ 0 w 3472961"/>
                <a:gd name="connsiteY0" fmla="*/ 2047904 h 2047904"/>
                <a:gd name="connsiteX1" fmla="*/ 615461 w 3472961"/>
                <a:gd name="connsiteY1" fmla="*/ 315821 h 2047904"/>
                <a:gd name="connsiteX2" fmla="*/ 3472961 w 3472961"/>
                <a:gd name="connsiteY2" fmla="*/ 8090 h 2047904"/>
                <a:gd name="connsiteX0" fmla="*/ 0 w 3501536"/>
                <a:gd name="connsiteY0" fmla="*/ 2056500 h 2056500"/>
                <a:gd name="connsiteX1" fmla="*/ 615461 w 3501536"/>
                <a:gd name="connsiteY1" fmla="*/ 324417 h 2056500"/>
                <a:gd name="connsiteX2" fmla="*/ 3501536 w 3501536"/>
                <a:gd name="connsiteY2" fmla="*/ 7161 h 2056500"/>
                <a:gd name="connsiteX0" fmla="*/ 0 w 3501536"/>
                <a:gd name="connsiteY0" fmla="*/ 2049339 h 2049339"/>
                <a:gd name="connsiteX1" fmla="*/ 615461 w 3501536"/>
                <a:gd name="connsiteY1" fmla="*/ 317256 h 2049339"/>
                <a:gd name="connsiteX2" fmla="*/ 3501536 w 3501536"/>
                <a:gd name="connsiteY2" fmla="*/ 0 h 2049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01536" h="2049339">
                  <a:moveTo>
                    <a:pt x="0" y="2049339"/>
                  </a:moveTo>
                  <a:cubicBezTo>
                    <a:pt x="42496" y="1311517"/>
                    <a:pt x="111369" y="644037"/>
                    <a:pt x="615461" y="317256"/>
                  </a:cubicBezTo>
                  <a:cubicBezTo>
                    <a:pt x="1119553" y="-9525"/>
                    <a:pt x="2447191" y="15386"/>
                    <a:pt x="3501536" y="0"/>
                  </a:cubicBezTo>
                </a:path>
              </a:pathLst>
            </a:custGeom>
            <a:noFill/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52" name="Forme libre : forme 51">
              <a:extLst>
                <a:ext uri="{FF2B5EF4-FFF2-40B4-BE49-F238E27FC236}">
                  <a16:creationId xmlns:a16="http://schemas.microsoft.com/office/drawing/2014/main" id="{31F156F2-F781-4D8B-89E7-86F84D19B77A}"/>
                </a:ext>
              </a:extLst>
            </p:cNvPr>
            <p:cNvSpPr/>
            <p:nvPr/>
          </p:nvSpPr>
          <p:spPr>
            <a:xfrm>
              <a:off x="-193429" y="994973"/>
              <a:ext cx="3501536" cy="2049339"/>
            </a:xfrm>
            <a:custGeom>
              <a:avLst/>
              <a:gdLst>
                <a:gd name="connsiteX0" fmla="*/ 19071 w 3043625"/>
                <a:gd name="connsiteY0" fmla="*/ 1972264 h 1972264"/>
                <a:gd name="connsiteX1" fmla="*/ 449894 w 3043625"/>
                <a:gd name="connsiteY1" fmla="*/ 292934 h 1972264"/>
                <a:gd name="connsiteX2" fmla="*/ 3043625 w 3043625"/>
                <a:gd name="connsiteY2" fmla="*/ 11580 h 1972264"/>
                <a:gd name="connsiteX0" fmla="*/ 5294 w 3214486"/>
                <a:gd name="connsiteY0" fmla="*/ 2033810 h 2033810"/>
                <a:gd name="connsiteX1" fmla="*/ 620755 w 3214486"/>
                <a:gd name="connsiteY1" fmla="*/ 292934 h 2033810"/>
                <a:gd name="connsiteX2" fmla="*/ 3214486 w 3214486"/>
                <a:gd name="connsiteY2" fmla="*/ 11580 h 2033810"/>
                <a:gd name="connsiteX0" fmla="*/ 0 w 3209192"/>
                <a:gd name="connsiteY0" fmla="*/ 2033810 h 2033810"/>
                <a:gd name="connsiteX1" fmla="*/ 615461 w 3209192"/>
                <a:gd name="connsiteY1" fmla="*/ 292934 h 2033810"/>
                <a:gd name="connsiteX2" fmla="*/ 3209192 w 3209192"/>
                <a:gd name="connsiteY2" fmla="*/ 11580 h 2033810"/>
                <a:gd name="connsiteX0" fmla="*/ 0 w 3209192"/>
                <a:gd name="connsiteY0" fmla="*/ 2037048 h 2037048"/>
                <a:gd name="connsiteX1" fmla="*/ 624253 w 3209192"/>
                <a:gd name="connsiteY1" fmla="*/ 278588 h 2037048"/>
                <a:gd name="connsiteX2" fmla="*/ 3209192 w 3209192"/>
                <a:gd name="connsiteY2" fmla="*/ 14818 h 2037048"/>
                <a:gd name="connsiteX0" fmla="*/ 0 w 3472961"/>
                <a:gd name="connsiteY0" fmla="*/ 2051394 h 2051394"/>
                <a:gd name="connsiteX1" fmla="*/ 624253 w 3472961"/>
                <a:gd name="connsiteY1" fmla="*/ 292934 h 2051394"/>
                <a:gd name="connsiteX2" fmla="*/ 3472961 w 3472961"/>
                <a:gd name="connsiteY2" fmla="*/ 11580 h 2051394"/>
                <a:gd name="connsiteX0" fmla="*/ 0 w 3472961"/>
                <a:gd name="connsiteY0" fmla="*/ 2047904 h 2047904"/>
                <a:gd name="connsiteX1" fmla="*/ 615461 w 3472961"/>
                <a:gd name="connsiteY1" fmla="*/ 315821 h 2047904"/>
                <a:gd name="connsiteX2" fmla="*/ 3472961 w 3472961"/>
                <a:gd name="connsiteY2" fmla="*/ 8090 h 2047904"/>
                <a:gd name="connsiteX0" fmla="*/ 0 w 3501536"/>
                <a:gd name="connsiteY0" fmla="*/ 2056500 h 2056500"/>
                <a:gd name="connsiteX1" fmla="*/ 615461 w 3501536"/>
                <a:gd name="connsiteY1" fmla="*/ 324417 h 2056500"/>
                <a:gd name="connsiteX2" fmla="*/ 3501536 w 3501536"/>
                <a:gd name="connsiteY2" fmla="*/ 7161 h 2056500"/>
                <a:gd name="connsiteX0" fmla="*/ 0 w 3501536"/>
                <a:gd name="connsiteY0" fmla="*/ 2049339 h 2049339"/>
                <a:gd name="connsiteX1" fmla="*/ 615461 w 3501536"/>
                <a:gd name="connsiteY1" fmla="*/ 317256 h 2049339"/>
                <a:gd name="connsiteX2" fmla="*/ 3501536 w 3501536"/>
                <a:gd name="connsiteY2" fmla="*/ 0 h 2049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01536" h="2049339">
                  <a:moveTo>
                    <a:pt x="0" y="2049339"/>
                  </a:moveTo>
                  <a:cubicBezTo>
                    <a:pt x="42496" y="1311517"/>
                    <a:pt x="111369" y="644037"/>
                    <a:pt x="615461" y="317256"/>
                  </a:cubicBezTo>
                  <a:cubicBezTo>
                    <a:pt x="1119553" y="-9525"/>
                    <a:pt x="2447191" y="15386"/>
                    <a:pt x="3501536" y="0"/>
                  </a:cubicBezTo>
                </a:path>
              </a:pathLst>
            </a:custGeom>
            <a:noFill/>
            <a:ln w="38100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53" name="Connecteur droit 52">
              <a:extLst>
                <a:ext uri="{FF2B5EF4-FFF2-40B4-BE49-F238E27FC236}">
                  <a16:creationId xmlns:a16="http://schemas.microsoft.com/office/drawing/2014/main" id="{121C1D92-A0DF-4F59-AC6E-A67C5C160F78}"/>
                </a:ext>
              </a:extLst>
            </p:cNvPr>
            <p:cNvCxnSpPr>
              <a:cxnSpLocks/>
            </p:cNvCxnSpPr>
            <p:nvPr/>
          </p:nvCxnSpPr>
          <p:spPr>
            <a:xfrm>
              <a:off x="-163595" y="988705"/>
              <a:ext cx="4545095" cy="0"/>
            </a:xfrm>
            <a:prstGeom prst="line">
              <a:avLst/>
            </a:prstGeom>
            <a:ln w="38100">
              <a:solidFill>
                <a:schemeClr val="accent1">
                  <a:lumMod val="40000"/>
                  <a:lumOff val="60000"/>
                </a:schemeClr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93075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Espace réservé du numéro de diapositive 32">
            <a:extLst>
              <a:ext uri="{FF2B5EF4-FFF2-40B4-BE49-F238E27FC236}">
                <a16:creationId xmlns:a16="http://schemas.microsoft.com/office/drawing/2014/main" id="{1A919475-FFB9-4AEE-98AF-40F5FC948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3E120-D10E-4965-94AF-FE28403C3DAC}" type="slidenum">
              <a:rPr lang="fr-FR" b="1" smtClean="0">
                <a:solidFill>
                  <a:schemeClr val="accent1"/>
                </a:solidFill>
              </a:rPr>
              <a:t>10</a:t>
            </a:fld>
            <a:endParaRPr lang="fr-FR" b="1" dirty="0">
              <a:solidFill>
                <a:schemeClr val="accent1"/>
              </a:solidFill>
            </a:endParaRP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89D5C17B-CFFA-4464-8B88-57DBCB1E8AB3}"/>
              </a:ext>
            </a:extLst>
          </p:cNvPr>
          <p:cNvSpPr txBox="1"/>
          <p:nvPr/>
        </p:nvSpPr>
        <p:spPr>
          <a:xfrm>
            <a:off x="3048000" y="440400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0" i="0" dirty="0">
                <a:solidFill>
                  <a:srgbClr val="334155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</a:p>
        </p:txBody>
      </p: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32A134A4-1382-444B-B863-2B855DFFD451}"/>
              </a:ext>
            </a:extLst>
          </p:cNvPr>
          <p:cNvCxnSpPr/>
          <p:nvPr/>
        </p:nvCxnSpPr>
        <p:spPr>
          <a:xfrm>
            <a:off x="2933700" y="3129737"/>
            <a:ext cx="6629400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7FFB50F6-3E49-4843-BA17-CE0027F2803A}"/>
              </a:ext>
            </a:extLst>
          </p:cNvPr>
          <p:cNvCxnSpPr/>
          <p:nvPr/>
        </p:nvCxnSpPr>
        <p:spPr>
          <a:xfrm>
            <a:off x="2921977" y="3109223"/>
            <a:ext cx="6629400" cy="0"/>
          </a:xfrm>
          <a:prstGeom prst="line">
            <a:avLst/>
          </a:prstGeom>
          <a:ln w="38100">
            <a:solidFill>
              <a:schemeClr val="accent1">
                <a:lumMod val="40000"/>
                <a:lumOff val="60000"/>
              </a:schemeClr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ZoneTexte 24">
            <a:extLst>
              <a:ext uri="{FF2B5EF4-FFF2-40B4-BE49-F238E27FC236}">
                <a16:creationId xmlns:a16="http://schemas.microsoft.com/office/drawing/2014/main" id="{45FEB878-DF72-4D66-878E-5BD6F6EFAEC3}"/>
              </a:ext>
            </a:extLst>
          </p:cNvPr>
          <p:cNvSpPr txBox="1"/>
          <p:nvPr/>
        </p:nvSpPr>
        <p:spPr>
          <a:xfrm>
            <a:off x="3462795" y="3179534"/>
            <a:ext cx="557120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solidFill>
                  <a:srgbClr val="6C747F"/>
                </a:solidFill>
                <a:effectLst/>
                <a:latin typeface="DM Sans"/>
              </a:rPr>
              <a:t>My profile combines the rigor of cryogenic physics with the creativity of system architecture. </a:t>
            </a:r>
            <a:endParaRPr lang="fr-FR" b="1" dirty="0">
              <a:solidFill>
                <a:srgbClr val="6C747F"/>
              </a:solidFill>
              <a:latin typeface="DM Sans"/>
            </a:endParaRPr>
          </a:p>
          <a:p>
            <a:pPr algn="ctr"/>
            <a:endParaRPr lang="fr-FR" sz="1800" b="1" dirty="0">
              <a:solidFill>
                <a:srgbClr val="6C747F"/>
              </a:solidFill>
              <a:effectLst/>
              <a:latin typeface="DM Sans"/>
            </a:endParaRPr>
          </a:p>
          <a:p>
            <a:pPr algn="ctr"/>
            <a:endParaRPr lang="fr-FR" sz="1800" b="1" dirty="0">
              <a:solidFill>
                <a:srgbClr val="6C747F"/>
              </a:solidFill>
              <a:effectLst/>
              <a:latin typeface="DM Sans"/>
            </a:endParaRPr>
          </a:p>
          <a:p>
            <a:pPr algn="ctr"/>
            <a:r>
              <a:rPr lang="fr-FR" sz="1800" b="1" dirty="0">
                <a:solidFill>
                  <a:srgbClr val="6C747F"/>
                </a:solidFill>
                <a:effectLst/>
                <a:latin typeface="DM Sans"/>
              </a:rPr>
              <a:t>vincent.cauquil@cpe.fr/cea.fr</a:t>
            </a:r>
          </a:p>
          <a:p>
            <a:pPr algn="ctr"/>
            <a:r>
              <a:rPr lang="fr-FR" sz="1800" b="1" dirty="0">
                <a:solidFill>
                  <a:srgbClr val="6C747F"/>
                </a:solidFill>
                <a:effectLst/>
                <a:latin typeface="DM Sans"/>
              </a:rPr>
              <a:t>   /in/vincent-cauquil-6048b3241</a:t>
            </a:r>
          </a:p>
          <a:p>
            <a:pPr algn="ctr"/>
            <a:r>
              <a:rPr lang="fr-FR" sz="1800" b="1" dirty="0">
                <a:solidFill>
                  <a:srgbClr val="6C747F"/>
                </a:solidFill>
                <a:effectLst/>
                <a:latin typeface="DM Sans"/>
              </a:rPr>
              <a:t>/?</a:t>
            </a:r>
            <a:r>
              <a:rPr lang="fr-FR" sz="1800" b="1" dirty="0" err="1">
                <a:solidFill>
                  <a:srgbClr val="6C747F"/>
                </a:solidFill>
                <a:effectLst/>
                <a:latin typeface="DM Sans"/>
              </a:rPr>
              <a:t>originalSubdomain</a:t>
            </a:r>
            <a:r>
              <a:rPr lang="fr-FR" sz="1800" b="1" dirty="0">
                <a:solidFill>
                  <a:srgbClr val="6C747F"/>
                </a:solidFill>
                <a:effectLst/>
                <a:latin typeface="DM Sans"/>
              </a:rPr>
              <a:t>=</a:t>
            </a:r>
            <a:r>
              <a:rPr lang="fr-FR" sz="1800" b="1" dirty="0" err="1">
                <a:solidFill>
                  <a:srgbClr val="6C747F"/>
                </a:solidFill>
                <a:effectLst/>
                <a:latin typeface="DM Sans"/>
              </a:rPr>
              <a:t>fr</a:t>
            </a:r>
            <a:endParaRPr lang="fr-FR" sz="1800" b="1" dirty="0">
              <a:solidFill>
                <a:srgbClr val="6C747F"/>
              </a:solidFill>
              <a:effectLst/>
              <a:latin typeface="DM Sans"/>
            </a:endParaRPr>
          </a:p>
          <a:p>
            <a:pPr algn="ctr"/>
            <a:endParaRPr lang="fr-FR" dirty="0">
              <a:solidFill>
                <a:srgbClr val="6C747F"/>
              </a:solidFill>
            </a:endParaRP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0631E4D2-1EC5-450E-A29A-FB04EBCC1E0B}"/>
              </a:ext>
            </a:extLst>
          </p:cNvPr>
          <p:cNvSpPr txBox="1"/>
          <p:nvPr/>
        </p:nvSpPr>
        <p:spPr>
          <a:xfrm>
            <a:off x="3105150" y="238263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accent1"/>
                </a:solidFill>
              </a:rPr>
              <a:t>Thank you for your attention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259BA32E-5D22-498B-98AB-F87A78BD5D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7700" y="4645643"/>
            <a:ext cx="200025" cy="200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Free Mail SVG, PNG Icon, Symbol. Download Image.">
            <a:extLst>
              <a:ext uri="{FF2B5EF4-FFF2-40B4-BE49-F238E27FC236}">
                <a16:creationId xmlns:a16="http://schemas.microsoft.com/office/drawing/2014/main" id="{DA28EED0-EB8B-4E6A-AB00-E2A8FD66A0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4438647" y="4365341"/>
            <a:ext cx="238126" cy="238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078674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417</TotalTime>
  <Words>484</Words>
  <Application>Microsoft Office PowerPoint</Application>
  <PresentationFormat>Grand écran</PresentationFormat>
  <Paragraphs>102</Paragraphs>
  <Slides>10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DM Sans</vt:lpstr>
      <vt:lpstr>Tenorite 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CAUQUIL Vincent</dc:creator>
  <cp:lastModifiedBy>CAUQUIL Vincent</cp:lastModifiedBy>
  <cp:revision>64</cp:revision>
  <dcterms:created xsi:type="dcterms:W3CDTF">2026-02-10T07:36:44Z</dcterms:created>
  <dcterms:modified xsi:type="dcterms:W3CDTF">2026-05-06T12:12:37Z</dcterms:modified>
</cp:coreProperties>
</file>